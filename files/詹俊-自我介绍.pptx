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wav" ContentType="audio/x-wav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69"/>
  </p:handoutMasterIdLst>
  <p:sldIdLst>
    <p:sldId id="4085" r:id="rId3"/>
    <p:sldId id="13710" r:id="rId5"/>
    <p:sldId id="13755" r:id="rId6"/>
    <p:sldId id="13717" r:id="rId7"/>
    <p:sldId id="13644" r:id="rId8"/>
    <p:sldId id="13645" r:id="rId9"/>
    <p:sldId id="13665" r:id="rId10"/>
    <p:sldId id="13666" r:id="rId11"/>
    <p:sldId id="13681" r:id="rId12"/>
    <p:sldId id="13648" r:id="rId13"/>
    <p:sldId id="13680" r:id="rId14"/>
    <p:sldId id="13650" r:id="rId15"/>
    <p:sldId id="13628" r:id="rId16"/>
    <p:sldId id="13653" r:id="rId17"/>
    <p:sldId id="13652" r:id="rId18"/>
    <p:sldId id="13631" r:id="rId19"/>
    <p:sldId id="13635" r:id="rId20"/>
    <p:sldId id="13636" r:id="rId21"/>
    <p:sldId id="13637" r:id="rId22"/>
    <p:sldId id="13634" r:id="rId23"/>
    <p:sldId id="13682" r:id="rId24"/>
    <p:sldId id="13667" r:id="rId25"/>
    <p:sldId id="13662" r:id="rId26"/>
    <p:sldId id="13663" r:id="rId27"/>
    <p:sldId id="13661" r:id="rId28"/>
    <p:sldId id="13670" r:id="rId29"/>
    <p:sldId id="13671" r:id="rId30"/>
    <p:sldId id="13672" r:id="rId31"/>
    <p:sldId id="13673" r:id="rId32"/>
    <p:sldId id="13674" r:id="rId33"/>
    <p:sldId id="13675" r:id="rId34"/>
    <p:sldId id="13676" r:id="rId35"/>
    <p:sldId id="13711" r:id="rId36"/>
    <p:sldId id="13724" r:id="rId37"/>
    <p:sldId id="13723" r:id="rId38"/>
    <p:sldId id="13713" r:id="rId39"/>
    <p:sldId id="13725" r:id="rId40"/>
    <p:sldId id="13726" r:id="rId41"/>
    <p:sldId id="13736" r:id="rId42"/>
    <p:sldId id="13737" r:id="rId43"/>
    <p:sldId id="13720" r:id="rId44"/>
    <p:sldId id="13718" r:id="rId45"/>
    <p:sldId id="13719" r:id="rId46"/>
    <p:sldId id="13741" r:id="rId47"/>
    <p:sldId id="13733" r:id="rId48"/>
    <p:sldId id="13751" r:id="rId49"/>
    <p:sldId id="13752" r:id="rId50"/>
    <p:sldId id="13753" r:id="rId51"/>
    <p:sldId id="13754" r:id="rId52"/>
    <p:sldId id="13756" r:id="rId53"/>
    <p:sldId id="13742" r:id="rId54"/>
    <p:sldId id="13743" r:id="rId55"/>
    <p:sldId id="13732" r:id="rId56"/>
    <p:sldId id="13744" r:id="rId57"/>
    <p:sldId id="13745" r:id="rId58"/>
    <p:sldId id="13746" r:id="rId59"/>
    <p:sldId id="13747" r:id="rId60"/>
    <p:sldId id="13748" r:id="rId61"/>
    <p:sldId id="13750" r:id="rId62"/>
    <p:sldId id="13749" r:id="rId63"/>
    <p:sldId id="13734" r:id="rId64"/>
    <p:sldId id="13735" r:id="rId65"/>
    <p:sldId id="13678" r:id="rId66"/>
    <p:sldId id="13716" r:id="rId67"/>
    <p:sldId id="13608" r:id="rId6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engyanjun" initials="z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3C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14" autoAdjust="0"/>
    <p:restoredTop sz="78212" autoAdjust="0"/>
  </p:normalViewPr>
  <p:slideViewPr>
    <p:cSldViewPr snapToGrid="0">
      <p:cViewPr varScale="1">
        <p:scale>
          <a:sx n="72" d="100"/>
          <a:sy n="72" d="100"/>
        </p:scale>
        <p:origin x="33" y="3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3" Type="http://schemas.openxmlformats.org/officeDocument/2006/relationships/commentAuthors" Target="commentAuthors.xml"/><Relationship Id="rId72" Type="http://schemas.openxmlformats.org/officeDocument/2006/relationships/tableStyles" Target="tableStyles.xml"/><Relationship Id="rId71" Type="http://schemas.openxmlformats.org/officeDocument/2006/relationships/viewProps" Target="viewProps.xml"/><Relationship Id="rId70" Type="http://schemas.openxmlformats.org/officeDocument/2006/relationships/presProps" Target="presProps.xml"/><Relationship Id="rId7" Type="http://schemas.openxmlformats.org/officeDocument/2006/relationships/slide" Target="slides/slide4.xml"/><Relationship Id="rId69" Type="http://schemas.openxmlformats.org/officeDocument/2006/relationships/handoutMaster" Target="handoutMasters/handoutMaster1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ours</c:v>
                </c:pt>
              </c:strCache>
            </c:strRef>
          </c:tx>
          <c:spPr>
            <a:solidFill>
              <a:srgbClr val="3D7068"/>
            </a:solidFill>
            <a:ln>
              <a:noFill/>
            </a:ln>
          </c:spPr>
          <c:invertIfNegative val="0"/>
          <c:dLbls>
            <c:numFmt formatCode=".0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50" b="0" i="0" u="none" strike="noStrike" kern="1200" baseline="0">
                    <a:solidFill>
                      <a:srgbClr val="222222"/>
                    </a:solidFill>
                    <a:latin typeface="Calibri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Guo evaluator</c:v>
                </c:pt>
                <c:pt idx="1">
                  <c:v>MS evaluator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0.471</c:v>
                </c:pt>
                <c:pt idx="1">
                  <c:v>0.649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 motion (GT)</c:v>
                </c:pt>
              </c:strCache>
            </c:strRef>
          </c:tx>
          <c:spPr>
            <a:solidFill>
              <a:srgbClr val="8C8C8C"/>
            </a:solidFill>
            <a:ln>
              <a:noFill/>
            </a:ln>
          </c:spPr>
          <c:invertIfNegative val="0"/>
          <c:dLbls>
            <c:numFmt formatCode=".0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50" b="0" i="0" u="none" strike="noStrike" kern="1200" baseline="0">
                    <a:solidFill>
                      <a:srgbClr val="222222"/>
                    </a:solidFill>
                    <a:latin typeface="Calibri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Guo evaluator</c:v>
                </c:pt>
                <c:pt idx="1">
                  <c:v>MS evaluator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0.493</c:v>
                </c:pt>
                <c:pt idx="1">
                  <c:v>0.708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 cap="flat" cmpd="sng" algn="ctr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50" b="0" i="0" u="none" strike="noStrike" kern="1200" baseline="0">
                <a:solidFill>
                  <a:srgbClr val="222222"/>
                </a:solidFill>
                <a:latin typeface="Calibri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8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50" b="0" i="0" u="none" strike="noStrike" kern="1200" baseline="0">
                <a:solidFill>
                  <a:srgbClr val="222222"/>
                </a:solidFill>
                <a:latin typeface="Calibri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  <c:majorUnit val="0.2"/>
      </c:valAx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50" b="0" i="0" u="none" strike="noStrike" kern="1200" baseline="0">
              <a:solidFill>
                <a:srgbClr val="222222"/>
              </a:solidFill>
              <a:latin typeface="Calibri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f2c125d7-f1b6-4958-b1d8-b6b259c009c1}"/>
      </c:ext>
    </c:extLst>
  </c:chart>
  <c:txPr>
    <a:bodyPr/>
    <a:lstStyle/>
    <a:p>
      <a:pPr>
        <a:defRPr lang="zh-CN" sz="950">
          <a:solidFill>
            <a:srgbClr val="222222"/>
          </a:solidFill>
          <a:latin typeface="Calibri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FGD</c:v>
                </c:pt>
              </c:strCache>
            </c:strRef>
          </c:tx>
          <c:spPr>
            <a:solidFill>
              <a:srgbClr val="3D7068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8C8C8C"/>
              </a:solidFill>
              <a:ln>
                <a:noFill/>
              </a:ln>
            </c:spPr>
          </c:dPt>
          <c:dPt>
            <c:idx val="1"/>
            <c:invertIfNegative val="0"/>
            <c:bubble3D val="0"/>
            <c:spPr>
              <a:solidFill>
                <a:srgbClr val="3E7A6D"/>
              </a:solidFill>
              <a:ln>
                <a:noFill/>
              </a:ln>
            </c:spPr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222222"/>
                    </a:solidFill>
                    <a:latin typeface="Calibri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5 k steps</c:v>
                </c:pt>
                <c:pt idx="1">
                  <c:v>10 k ★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19.3</c:v>
                </c:pt>
                <c:pt idx="1">
                  <c:v>16.1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 cap="flat" cmpd="sng" algn="ctr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222222"/>
                </a:solidFill>
                <a:latin typeface="Calibri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5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22222"/>
                </a:solidFill>
                <a:latin typeface="Calibri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8c9cfdf8-3f7b-4a7c-95c2-0927c9636245}"/>
      </c:ext>
    </c:extLst>
  </c:chart>
  <c:txPr>
    <a:bodyPr/>
    <a:lstStyle/>
    <a:p>
      <a:pPr>
        <a:defRPr lang="zh-CN" sz="1000">
          <a:solidFill>
            <a:srgbClr val="222222"/>
          </a:solidFill>
          <a:latin typeface="Calibri"/>
        </a:defRPr>
      </a:pPr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7BE28F-34F5-4ECD-959C-E164DA85977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79A6FD-A347-4589-9885-DD4D937DB14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BF4439-5B4C-41DE-A89B-0F885191D2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我们提出了</a:t>
            </a:r>
            <a:r>
              <a:rPr lang="en-US" altLang="zh-CN" dirty="0"/>
              <a:t>AnyGPT</a:t>
            </a:r>
            <a:r>
              <a:rPr lang="zh-CN" altLang="en-US" dirty="0"/>
              <a:t>，一种基于自回归离散序列建模的多模态融合方案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BF4439-5B4C-41DE-A89B-0F885191D2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基于上面的想法，我们首先实现了</a:t>
            </a:r>
            <a:r>
              <a:rPr lang="en-US" altLang="zh-CN" dirty="0"/>
              <a:t>SpeechGPT</a:t>
            </a:r>
            <a:r>
              <a:rPr lang="zh-CN" altLang="en-US" dirty="0"/>
              <a:t>。</a:t>
            </a:r>
            <a:r>
              <a:rPr lang="en-US" altLang="zh-CN" dirty="0">
                <a:sym typeface="+mn-ea"/>
              </a:rPr>
              <a:t>SpeechGPT</a:t>
            </a:r>
            <a:r>
              <a:rPr lang="zh-CN" altLang="en-US" dirty="0">
                <a:sym typeface="+mn-ea"/>
              </a:rPr>
              <a:t>借助语音离散化技术把连续的语音信号表示为离散的</a:t>
            </a:r>
            <a:r>
              <a:rPr lang="en-US" altLang="zh-CN" dirty="0">
                <a:sym typeface="+mn-ea"/>
              </a:rPr>
              <a:t>token</a:t>
            </a:r>
            <a:r>
              <a:rPr lang="zh-CN" altLang="en-US" dirty="0">
                <a:sym typeface="+mn-ea"/>
              </a:rPr>
              <a:t>，从而通过扩充词表的方式结合到</a:t>
            </a:r>
            <a:r>
              <a:rPr lang="en-US" altLang="zh-CN" dirty="0">
                <a:sym typeface="+mn-ea"/>
              </a:rPr>
              <a:t>LLM</a:t>
            </a:r>
            <a:r>
              <a:rPr lang="zh-CN" altLang="en-US" dirty="0">
                <a:sym typeface="+mn-ea"/>
              </a:rPr>
              <a:t>之中，从而使得</a:t>
            </a:r>
            <a:r>
              <a:rPr lang="en-US" altLang="zh-CN" dirty="0">
                <a:sym typeface="+mn-ea"/>
              </a:rPr>
              <a:t>LLM</a:t>
            </a:r>
            <a:r>
              <a:rPr lang="zh-CN" altLang="en-US" dirty="0">
                <a:sym typeface="+mn-ea"/>
              </a:rPr>
              <a:t>可以进行语音模态的理解和生成。</a:t>
            </a:r>
            <a:endParaRPr lang="zh-CN" altLang="en-US" dirty="0">
              <a:sym typeface="+mn-ea"/>
            </a:endParaRPr>
          </a:p>
          <a:p>
            <a:endParaRPr lang="zh-CN" altLang="en-US" dirty="0">
              <a:sym typeface="+mn-ea"/>
            </a:endParaRPr>
          </a:p>
          <a:p>
            <a:r>
              <a:rPr lang="zh-CN" altLang="en-US" dirty="0"/>
              <a:t>首先介绍一下我们</a:t>
            </a:r>
            <a:r>
              <a:rPr lang="en-US" altLang="zh-CN" dirty="0"/>
              <a:t>SpeechGPT</a:t>
            </a:r>
            <a:r>
              <a:rPr lang="zh-CN" altLang="en-US" dirty="0"/>
              <a:t>的模型结构，由语音离散表示提取器，</a:t>
            </a:r>
            <a:r>
              <a:rPr lang="en-US" altLang="zh-CN" dirty="0"/>
              <a:t>LLM</a:t>
            </a:r>
            <a:r>
              <a:rPr lang="zh-CN" altLang="en-US" dirty="0"/>
              <a:t>和离散单元声码器组成，其中离散表示提取器我们直接用了</a:t>
            </a:r>
            <a:r>
              <a:rPr lang="en-US" altLang="zh-CN" dirty="0"/>
              <a:t>HuBERT</a:t>
            </a:r>
            <a:r>
              <a:rPr lang="zh-CN" altLang="en-US" dirty="0"/>
              <a:t>，它把语音转换成离散的</a:t>
            </a:r>
            <a:r>
              <a:rPr lang="en-US" altLang="zh-CN" dirty="0"/>
              <a:t>token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大语言模型即可以接收和产生文本，也可以</a:t>
            </a:r>
            <a:r>
              <a:rPr lang="zh-CN" altLang="en-US" dirty="0">
                <a:sym typeface="+mn-ea"/>
              </a:rPr>
              <a:t>接收和产生</a:t>
            </a:r>
            <a:r>
              <a:rPr lang="zh-CN" altLang="en-US" dirty="0"/>
              <a:t>语音的离散表示。离散表示声码器把语音</a:t>
            </a:r>
            <a:r>
              <a:rPr lang="en-US" altLang="zh-CN" dirty="0"/>
              <a:t>token</a:t>
            </a:r>
            <a:r>
              <a:rPr lang="zh-CN" altLang="en-US" dirty="0"/>
              <a:t>转换成语音信号。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77146-D768-48E5-983D-414D5F6CA6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我们首先在语音模态上进行了</a:t>
            </a:r>
            <a:r>
              <a:rPr lang="zh-CN" altLang="en-US" dirty="0">
                <a:sym typeface="+mn-ea"/>
              </a:rPr>
              <a:t>尝试</a:t>
            </a:r>
            <a:endParaRPr lang="zh-CN" altLang="en-US" dirty="0">
              <a:sym typeface="+mn-ea"/>
            </a:endParaRPr>
          </a:p>
          <a:p>
            <a:endParaRPr lang="zh-CN" altLang="en-US" dirty="0">
              <a:sym typeface="+mn-ea"/>
            </a:endParaRPr>
          </a:p>
          <a:p>
            <a:r>
              <a:rPr lang="zh-CN" altLang="en-US" dirty="0">
                <a:sym typeface="+mn-ea"/>
              </a:rPr>
              <a:t>这里要先介绍一下</a:t>
            </a:r>
            <a:r>
              <a:rPr lang="en-US" altLang="zh-CN" dirty="0">
                <a:sym typeface="+mn-ea"/>
              </a:rPr>
              <a:t>HuBERT，</a:t>
            </a:r>
            <a:r>
              <a:rPr lang="zh-CN" altLang="en-US" dirty="0">
                <a:sym typeface="+mn-ea"/>
              </a:rPr>
              <a:t>它是一个语音自监督表示学习模型。</a:t>
            </a:r>
            <a:endParaRPr lang="zh-CN" altLang="en-US" dirty="0">
              <a:sym typeface="+mn-ea"/>
            </a:endParaRPr>
          </a:p>
          <a:p>
            <a:r>
              <a:rPr lang="zh-CN" altLang="en-US" dirty="0">
                <a:sym typeface="+mn-ea"/>
              </a:rPr>
              <a:t>它常常被用做为语音离散表示提取器，通过在它获得的连续表示上做</a:t>
            </a:r>
            <a:r>
              <a:rPr lang="en-US" altLang="zh-CN" dirty="0">
                <a:sym typeface="+mn-ea"/>
              </a:rPr>
              <a:t>kmeans</a:t>
            </a:r>
            <a:r>
              <a:rPr lang="zh-CN" altLang="en-US" dirty="0">
                <a:sym typeface="+mn-ea"/>
              </a:rPr>
              <a:t>来得到语音的离散符号。</a:t>
            </a:r>
            <a:endParaRPr lang="zh-CN" altLang="en-US" dirty="0">
              <a:sym typeface="+mn-ea"/>
            </a:endParaRPr>
          </a:p>
          <a:p>
            <a:r>
              <a:rPr lang="zh-CN" altLang="en-US" dirty="0">
                <a:sym typeface="+mn-ea"/>
              </a:rPr>
              <a:t>这样我们就可以用这种离散符号来代表语音。</a:t>
            </a:r>
            <a:r>
              <a:rPr lang="en-US" altLang="zh-CN" dirty="0">
                <a:sym typeface="+mn-ea"/>
              </a:rPr>
              <a:t> </a:t>
            </a:r>
            <a:endParaRPr lang="en-US" altLang="zh-CN" dirty="0">
              <a:sym typeface="+mn-ea"/>
            </a:endParaRPr>
          </a:p>
          <a:p>
            <a:r>
              <a:rPr lang="zh-CN" altLang="en-US" dirty="0">
                <a:sym typeface="+mn-ea"/>
              </a:rPr>
              <a:t>对于</a:t>
            </a:r>
            <a:r>
              <a:rPr lang="en-US" altLang="zh-CN" dirty="0">
                <a:sym typeface="+mn-ea"/>
              </a:rPr>
              <a:t>LLM</a:t>
            </a:r>
            <a:r>
              <a:rPr lang="zh-CN" altLang="en-US" dirty="0">
                <a:sym typeface="+mn-ea"/>
              </a:rPr>
              <a:t>来说，就可以把语音看作是一种从未见过的</a:t>
            </a:r>
            <a:r>
              <a:rPr lang="en-US" altLang="zh-CN" dirty="0">
                <a:sym typeface="+mn-ea"/>
              </a:rPr>
              <a:t>foreign language</a:t>
            </a:r>
            <a:r>
              <a:rPr lang="zh-CN" altLang="en-US" dirty="0">
                <a:sym typeface="+mn-ea"/>
              </a:rPr>
              <a:t>来处理。</a:t>
            </a:r>
            <a:endParaRPr lang="zh-CN" altLang="en-US" dirty="0"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77146-D768-48E5-983D-414D5F6CA6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SpeechGPT</a:t>
            </a:r>
            <a:r>
              <a:rPr lang="zh-CN" altLang="en-US" dirty="0"/>
              <a:t>训练前首先会扩充词表，把语音的</a:t>
            </a:r>
            <a:r>
              <a:rPr lang="en-US" altLang="zh-CN" dirty="0"/>
              <a:t>token</a:t>
            </a:r>
            <a:r>
              <a:rPr lang="zh-CN" altLang="en-US" dirty="0"/>
              <a:t>添加到</a:t>
            </a:r>
            <a:r>
              <a:rPr lang="en-US" altLang="zh-CN" dirty="0"/>
              <a:t>LLM</a:t>
            </a:r>
            <a:r>
              <a:rPr lang="zh-CN" altLang="en-US" dirty="0"/>
              <a:t>的词表之中。它的训练分为三阶段，第一阶段是模态适应预训练，在纯语音数据上做</a:t>
            </a:r>
            <a:r>
              <a:rPr lang="en-US" altLang="zh-CN" dirty="0"/>
              <a:t>next-token-prediction</a:t>
            </a:r>
            <a:r>
              <a:rPr lang="zh-CN" altLang="en-US" dirty="0"/>
              <a:t>的任务；第二阶段为跨模态指令微调，在配对的语音文本数据上进行训练；第三阶段是模态链指令微调，在我们构造的</a:t>
            </a:r>
            <a:r>
              <a:rPr lang="en-US" altLang="zh-CN" dirty="0"/>
              <a:t>chain-of-modality</a:t>
            </a:r>
            <a:r>
              <a:rPr lang="zh-CN" altLang="en-US" dirty="0"/>
              <a:t>语音对话数据上进行</a:t>
            </a:r>
            <a:r>
              <a:rPr lang="en-US" altLang="zh-CN" dirty="0"/>
              <a:t>lora fientune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77146-D768-48E5-983D-414D5F6CA6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77146-D768-48E5-983D-414D5F6CA6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我们提出了</a:t>
            </a:r>
            <a:r>
              <a:rPr lang="en-US" altLang="zh-CN" dirty="0"/>
              <a:t>AnyGPT</a:t>
            </a:r>
            <a:r>
              <a:rPr lang="zh-CN" altLang="en-US" dirty="0"/>
              <a:t>，一种基于自回归离散序列建模的多模态融合方案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BF4439-5B4C-41DE-A89B-0F885191D2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我们继续进行了尝试，提出了能进行</a:t>
            </a:r>
            <a:r>
              <a:rPr lang="en-US" altLang="zh-CN" dirty="0"/>
              <a:t> </a:t>
            </a:r>
            <a:r>
              <a:rPr lang="zh-CN" altLang="en-US" dirty="0"/>
              <a:t>任意模态到任意模态转换的</a:t>
            </a:r>
            <a:r>
              <a:rPr lang="en-US" altLang="zh-CN" dirty="0"/>
              <a:t>AnyGPT</a:t>
            </a:r>
            <a:endParaRPr lang="en-US" altLang="zh-CN" dirty="0"/>
          </a:p>
          <a:p>
            <a:r>
              <a:rPr lang="en-US" altLang="zh-CN" dirty="0"/>
              <a:t>AnyGPT</a:t>
            </a:r>
            <a:r>
              <a:rPr lang="zh-CN" altLang="en-US" dirty="0"/>
              <a:t>的整体结构，总共有文本、语音、图像、音乐四种模态。</a:t>
            </a:r>
            <a:endParaRPr lang="zh-CN" altLang="en-US" dirty="0"/>
          </a:p>
          <a:p>
            <a:r>
              <a:rPr lang="zh-CN" altLang="en-US" dirty="0"/>
              <a:t>模型包含三部分，第一部分是每个模态的</a:t>
            </a:r>
            <a:r>
              <a:rPr lang="en-US" altLang="zh-CN" dirty="0"/>
              <a:t>Tokenizer，</a:t>
            </a:r>
            <a:r>
              <a:rPr lang="zh-CN" altLang="en-US" dirty="0"/>
              <a:t>将连续信号转换为离散的</a:t>
            </a:r>
            <a:r>
              <a:rPr lang="en-US" altLang="zh-CN" dirty="0"/>
              <a:t>token</a:t>
            </a:r>
            <a:r>
              <a:rPr lang="zh-CN" altLang="en-US" dirty="0"/>
              <a:t>，第二部分是自回归的</a:t>
            </a:r>
            <a:r>
              <a:rPr lang="en-US" altLang="zh-CN" dirty="0"/>
              <a:t>LLM</a:t>
            </a:r>
            <a:r>
              <a:rPr lang="zh-CN" altLang="en-US" dirty="0"/>
              <a:t>，用于预测</a:t>
            </a:r>
            <a:r>
              <a:rPr lang="en-US" altLang="zh-CN" dirty="0"/>
              <a:t>token</a:t>
            </a:r>
            <a:r>
              <a:rPr lang="zh-CN" altLang="en-US" dirty="0"/>
              <a:t>序列，第三部分是每个模态的</a:t>
            </a:r>
            <a:r>
              <a:rPr lang="en-US" altLang="zh-CN" dirty="0"/>
              <a:t>de-tokenizer，</a:t>
            </a:r>
            <a:r>
              <a:rPr lang="zh-CN" altLang="en-US" dirty="0"/>
              <a:t>用于生成原始的模态内容，如图像和</a:t>
            </a:r>
            <a:r>
              <a:rPr lang="zh-CN" altLang="en-US" dirty="0"/>
              <a:t>音频。</a:t>
            </a:r>
            <a:endParaRPr lang="zh-CN" altLang="en-US" dirty="0">
              <a:sym typeface="+mn-ea"/>
            </a:endParaRPr>
          </a:p>
          <a:p>
            <a:endParaRPr lang="zh-CN" altLang="en-US" dirty="0">
              <a:sym typeface="+mn-ea"/>
            </a:endParaRPr>
          </a:p>
          <a:p>
            <a:endParaRPr lang="zh-CN" altLang="en-US" dirty="0">
              <a:sym typeface="+mn-ea"/>
            </a:endParaRPr>
          </a:p>
          <a:p>
            <a:r>
              <a:rPr lang="zh-CN" altLang="en-US" dirty="0">
                <a:sym typeface="+mn-ea"/>
              </a:rPr>
              <a:t>AnyGPT 提出了一种生成式训练多模态数据的途径：将所有模态的数据转换为统一的离散表示，采用 Next Token Prediction 任务在LLM上统一训练。</a:t>
            </a:r>
            <a:endParaRPr lang="zh-CN" altLang="en-US" dirty="0">
              <a:sym typeface="+mn-ea"/>
            </a:endParaRPr>
          </a:p>
          <a:p>
            <a:r>
              <a:rPr lang="zh-CN" altLang="en-US" dirty="0">
                <a:sym typeface="+mn-ea"/>
              </a:rPr>
              <a:t>从压缩即智能的角度出发，当LLM的困惑度（PPL）足够低，就有可能将互联网的海量多模态数据压缩在同一个模型中。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77146-D768-48E5-983D-414D5F6CA6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我们继续进行了尝试，提出了能进行</a:t>
            </a:r>
            <a:r>
              <a:rPr lang="en-US" altLang="zh-CN" dirty="0"/>
              <a:t> </a:t>
            </a:r>
            <a:r>
              <a:rPr lang="zh-CN" altLang="en-US" dirty="0"/>
              <a:t>任意模态到任意模态转换的</a:t>
            </a:r>
            <a:r>
              <a:rPr lang="en-US" altLang="zh-CN" dirty="0"/>
              <a:t>AnyGPT</a:t>
            </a:r>
            <a:endParaRPr lang="en-US" altLang="zh-CN" dirty="0"/>
          </a:p>
          <a:p>
            <a:r>
              <a:rPr lang="en-US" altLang="zh-CN" dirty="0"/>
              <a:t>AnyGPT</a:t>
            </a:r>
            <a:r>
              <a:rPr lang="zh-CN" altLang="en-US" dirty="0"/>
              <a:t>的整体结构，总共有文本、语音、图像、音乐四种模态。</a:t>
            </a:r>
            <a:endParaRPr lang="zh-CN" altLang="en-US" dirty="0"/>
          </a:p>
          <a:p>
            <a:r>
              <a:rPr lang="zh-CN" altLang="en-US" dirty="0"/>
              <a:t>模型包含三部分，第一部分是每个模态的</a:t>
            </a:r>
            <a:r>
              <a:rPr lang="en-US" altLang="zh-CN" dirty="0"/>
              <a:t>Tokenizer，</a:t>
            </a:r>
            <a:r>
              <a:rPr lang="zh-CN" altLang="en-US" dirty="0"/>
              <a:t>将连续信号转换为离散的</a:t>
            </a:r>
            <a:r>
              <a:rPr lang="en-US" altLang="zh-CN" dirty="0"/>
              <a:t>token</a:t>
            </a:r>
            <a:r>
              <a:rPr lang="zh-CN" altLang="en-US" dirty="0"/>
              <a:t>，第二部分是自回归的</a:t>
            </a:r>
            <a:r>
              <a:rPr lang="en-US" altLang="zh-CN" dirty="0"/>
              <a:t>LLM</a:t>
            </a:r>
            <a:r>
              <a:rPr lang="zh-CN" altLang="en-US" dirty="0"/>
              <a:t>，用于预测</a:t>
            </a:r>
            <a:r>
              <a:rPr lang="en-US" altLang="zh-CN" dirty="0"/>
              <a:t>token</a:t>
            </a:r>
            <a:r>
              <a:rPr lang="zh-CN" altLang="en-US" dirty="0"/>
              <a:t>序列，第三部分是每个模态的</a:t>
            </a:r>
            <a:r>
              <a:rPr lang="en-US" altLang="zh-CN" dirty="0"/>
              <a:t>de-tokenizer，</a:t>
            </a:r>
            <a:r>
              <a:rPr lang="zh-CN" altLang="en-US" dirty="0"/>
              <a:t>用于生成原始的模态内容，如图像和</a:t>
            </a:r>
            <a:r>
              <a:rPr lang="zh-CN" altLang="en-US" dirty="0"/>
              <a:t>音频。</a:t>
            </a:r>
            <a:endParaRPr lang="zh-CN" altLang="en-US" dirty="0">
              <a:sym typeface="+mn-ea"/>
            </a:endParaRPr>
          </a:p>
          <a:p>
            <a:endParaRPr lang="zh-CN" altLang="en-US" dirty="0">
              <a:sym typeface="+mn-ea"/>
            </a:endParaRPr>
          </a:p>
          <a:p>
            <a:endParaRPr lang="zh-CN" altLang="en-US" dirty="0">
              <a:sym typeface="+mn-ea"/>
            </a:endParaRPr>
          </a:p>
          <a:p>
            <a:r>
              <a:rPr lang="zh-CN" altLang="en-US" dirty="0">
                <a:sym typeface="+mn-ea"/>
              </a:rPr>
              <a:t>AnyGPT 提出了一种生成式训练多模态数据的途径：将所有模态的数据转换为统一的离散表示，采用 Next Token Prediction 任务在LLM上统一训练。</a:t>
            </a:r>
            <a:endParaRPr lang="zh-CN" altLang="en-US" dirty="0">
              <a:sym typeface="+mn-ea"/>
            </a:endParaRPr>
          </a:p>
          <a:p>
            <a:r>
              <a:rPr lang="zh-CN" altLang="en-US" dirty="0">
                <a:sym typeface="+mn-ea"/>
              </a:rPr>
              <a:t>从压缩即智能的角度出发，当LLM的困惑度（PPL）足够低，就有可能将互联网的海量多模态数据压缩在同一个模型中。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77146-D768-48E5-983D-414D5F6CA6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要训练这样的模型，在数据层面存在着很大的挑战，</a:t>
            </a:r>
            <a:r>
              <a:rPr lang="zh-CN" altLang="en-US" dirty="0">
                <a:sym typeface="+mn-ea"/>
              </a:rPr>
              <a:t>现有的多模态对齐数据通常只包含两个模态，很少有三模态甚至四模态同时对齐的数据</a:t>
            </a:r>
            <a:endParaRPr lang="zh-CN" altLang="en-US" dirty="0">
              <a:sym typeface="+mn-ea"/>
            </a:endParaRPr>
          </a:p>
          <a:p>
            <a:endParaRPr lang="zh-CN" altLang="en-US" dirty="0">
              <a:sym typeface="+mn-ea"/>
            </a:endParaRPr>
          </a:p>
          <a:p>
            <a:r>
              <a:rPr lang="zh-CN" altLang="en-US" dirty="0">
                <a:sym typeface="+mn-ea"/>
              </a:rPr>
              <a:t>因此，我们构建以文本为中心的多模态对齐数据集，使文本成为连接不同模态的桥梁。</a:t>
            </a:r>
            <a:endParaRPr lang="zh-CN" altLang="en-US" dirty="0">
              <a:sym typeface="+mn-ea"/>
            </a:endParaRPr>
          </a:p>
          <a:p>
            <a:endParaRPr lang="zh-CN" altLang="en-US" dirty="0">
              <a:sym typeface="+mn-ea"/>
            </a:endParaRPr>
          </a:p>
          <a:p>
            <a:r>
              <a:rPr lang="zh-CN" altLang="en-US" dirty="0">
                <a:sym typeface="+mn-ea"/>
              </a:rPr>
              <a:t>对于其他模态和文本的配对数据，我们随机选择</a:t>
            </a:r>
            <a:r>
              <a:rPr lang="en-US" altLang="zh-CN" dirty="0">
                <a:sym typeface="+mn-ea"/>
              </a:rPr>
              <a:t>caption</a:t>
            </a:r>
            <a:r>
              <a:rPr lang="zh-CN" altLang="en-US" dirty="0">
                <a:sym typeface="+mn-ea"/>
              </a:rPr>
              <a:t>或者</a:t>
            </a:r>
            <a:r>
              <a:rPr lang="en-US" altLang="zh-CN" dirty="0">
                <a:sym typeface="+mn-ea"/>
              </a:rPr>
              <a:t>generation</a:t>
            </a:r>
            <a:r>
              <a:rPr lang="zh-CN" altLang="en-US" dirty="0">
                <a:sym typeface="+mn-ea"/>
              </a:rPr>
              <a:t>作为生成方向，另外我们加入了图文自然交错的文档数据，基于这些数据训练多模态对齐</a:t>
            </a:r>
            <a:r>
              <a:rPr lang="zh-CN" altLang="en-US" dirty="0">
                <a:sym typeface="+mn-ea"/>
              </a:rPr>
              <a:t>模型</a:t>
            </a:r>
            <a:endParaRPr lang="zh-CN" altLang="en-US" dirty="0"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77146-D768-48E5-983D-414D5F6CA6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400" dirty="0"/>
              <a:t>在得到</a:t>
            </a:r>
            <a:r>
              <a:rPr lang="zh-CN" altLang="en-US" sz="1400" dirty="0"/>
              <a:t>多模态对齐的</a:t>
            </a:r>
            <a:r>
              <a:rPr lang="en-US" altLang="zh-CN" sz="1400" dirty="0"/>
              <a:t>base</a:t>
            </a:r>
            <a:r>
              <a:rPr lang="zh-CN" altLang="en-US" sz="1400" dirty="0"/>
              <a:t>模型后，我们对模型在每个模态上的性能进行了评估，包括看图说话，文生图、语音识别、零样本语音合成、音乐描述和音乐生成，共三个非文本模态和六个任务。</a:t>
            </a:r>
            <a:endParaRPr lang="zh-CN" altLang="en-US" sz="1400" dirty="0"/>
          </a:p>
          <a:p>
            <a:r>
              <a:rPr lang="zh-CN" altLang="en-US" sz="1400" dirty="0"/>
              <a:t>我们比较的</a:t>
            </a:r>
            <a:r>
              <a:rPr lang="en-US" altLang="zh-CN" sz="1400" dirty="0"/>
              <a:t>baseline</a:t>
            </a:r>
            <a:r>
              <a:rPr lang="zh-CN" altLang="en-US" sz="1400" dirty="0"/>
              <a:t>都是在对应模态或者任务上的专有模型，值得注意的是，为了评估</a:t>
            </a:r>
            <a:r>
              <a:rPr lang="en-US" altLang="zh-CN" sz="1400" dirty="0"/>
              <a:t>AnyGPT</a:t>
            </a:r>
            <a:r>
              <a:rPr lang="zh-CN" altLang="en-US" sz="1400" dirty="0"/>
              <a:t>的通用性能，我们在所有数据集上都是</a:t>
            </a:r>
            <a:r>
              <a:rPr lang="en-US" altLang="zh-CN" sz="1400" dirty="0"/>
              <a:t>zero-shot</a:t>
            </a:r>
            <a:r>
              <a:rPr lang="zh-CN" altLang="en-US" sz="1400" dirty="0"/>
              <a:t>设定，训练数据中不包含这些数据集的训练集，而很多</a:t>
            </a:r>
            <a:r>
              <a:rPr lang="en-US" altLang="zh-CN" sz="1400" dirty="0"/>
              <a:t>baseline</a:t>
            </a:r>
            <a:r>
              <a:rPr lang="zh-CN" altLang="en-US" sz="1400" dirty="0"/>
              <a:t>混合了相应的训练集数据或者直接在对应数据集上进行微调</a:t>
            </a:r>
            <a:endParaRPr lang="zh-CN" altLang="en-US" sz="1400" dirty="0"/>
          </a:p>
          <a:p>
            <a:r>
              <a:rPr lang="zh-CN" altLang="en-US" sz="1400" dirty="0"/>
              <a:t>但</a:t>
            </a:r>
            <a:r>
              <a:rPr lang="en-US" altLang="zh-CN" sz="1400" dirty="0"/>
              <a:t>AnyGPT</a:t>
            </a:r>
            <a:r>
              <a:rPr lang="zh-CN" altLang="en-US" sz="1400" dirty="0"/>
              <a:t>仍然可以在每个模态上均达到和专有模型接近的性能，证明多种模态可以通过离散化表示有效</a:t>
            </a:r>
            <a:r>
              <a:rPr lang="zh-CN" altLang="en-US" sz="1400" dirty="0"/>
              <a:t>地融入到一个模型中。</a:t>
            </a: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77146-D768-48E5-983D-414D5F6CA6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>
                <a:sym typeface="+mn-ea"/>
              </a:rPr>
              <a:t>在对齐模型的基础上，我们希望模型能实现任意模态组合的对话，既能理解用户给出的多模态元素与指令，也能根据需要生成相应模态组合的回复。</a:t>
            </a:r>
            <a:endParaRPr lang="zh-CN" dirty="0"/>
          </a:p>
          <a:p>
            <a:r>
              <a:rPr lang="zh-CN" dirty="0">
                <a:sym typeface="+mn-ea"/>
              </a:rPr>
              <a:t>由于现在并没有这样的指令数据集，因此我们设计并合成了</a:t>
            </a:r>
            <a:r>
              <a:rPr lang="en-US" altLang="zh-CN" dirty="0">
                <a:sym typeface="+mn-ea"/>
              </a:rPr>
              <a:t>AnyInstruct</a:t>
            </a:r>
            <a:r>
              <a:rPr lang="zh-CN" altLang="en-US" dirty="0">
                <a:sym typeface="+mn-ea"/>
              </a:rPr>
              <a:t>数据集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77146-D768-48E5-983D-414D5F6CA6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ym typeface="+mn-ea"/>
              </a:rPr>
              <a:t>指令数据集</a:t>
            </a:r>
            <a:r>
              <a:rPr lang="en-US" altLang="zh-CN" sz="1400" dirty="0">
                <a:sym typeface="+mn-ea"/>
              </a:rPr>
              <a:t>AnyInstruct</a:t>
            </a:r>
            <a:r>
              <a:rPr lang="zh-CN" altLang="en-US" sz="1400" dirty="0">
                <a:sym typeface="+mn-ea"/>
              </a:rPr>
              <a:t>的构造流程。</a:t>
            </a:r>
            <a:endParaRPr lang="zh-CN" altLang="en-US" sz="1400" dirty="0"/>
          </a:p>
          <a:p>
            <a:r>
              <a:rPr lang="zh-CN" altLang="en-US" sz="1400" dirty="0">
                <a:sym typeface="+mn-ea"/>
              </a:rPr>
              <a:t>分为两个阶段，第一阶段我们通过</a:t>
            </a:r>
            <a:r>
              <a:rPr lang="en-US" altLang="zh-CN" sz="1400" dirty="0">
                <a:sym typeface="+mn-ea"/>
              </a:rPr>
              <a:t>GPT-4</a:t>
            </a:r>
            <a:r>
              <a:rPr lang="zh-CN" altLang="en-US" sz="1400" dirty="0">
                <a:sym typeface="+mn-ea"/>
              </a:rPr>
              <a:t>生成依次生成对话的主题、场景和内容，在对话中所有的多模态元素通过</a:t>
            </a:r>
            <a:r>
              <a:rPr lang="en-US" altLang="zh-CN" sz="1400" dirty="0">
                <a:sym typeface="+mn-ea"/>
              </a:rPr>
              <a:t>caption</a:t>
            </a:r>
            <a:r>
              <a:rPr lang="zh-CN" altLang="en-US" sz="1400" dirty="0">
                <a:sym typeface="+mn-ea"/>
              </a:rPr>
              <a:t>的方式表现。</a:t>
            </a:r>
            <a:endParaRPr lang="zh-CN" altLang="en-US" sz="1400" dirty="0"/>
          </a:p>
          <a:p>
            <a:r>
              <a:rPr lang="zh-CN" altLang="en-US" sz="1400" dirty="0">
                <a:sym typeface="+mn-ea"/>
              </a:rPr>
              <a:t>为了保证生成数据中模态组合的多样性，我们会手写一些涵盖各种模态组合的对话样本，每次随机采样一部分作为</a:t>
            </a:r>
            <a:r>
              <a:rPr lang="en-US" altLang="zh-CN" sz="1400" dirty="0">
                <a:sym typeface="+mn-ea"/>
              </a:rPr>
              <a:t>GPT</a:t>
            </a:r>
            <a:r>
              <a:rPr lang="zh-CN" altLang="en-US" sz="1400" dirty="0">
                <a:sym typeface="+mn-ea"/>
              </a:rPr>
              <a:t>的示例。</a:t>
            </a:r>
            <a:endParaRPr lang="zh-CN" altLang="en-US" sz="1400" dirty="0"/>
          </a:p>
          <a:p>
            <a:r>
              <a:rPr lang="zh-CN" altLang="en-US" sz="1400" dirty="0">
                <a:sym typeface="+mn-ea"/>
              </a:rPr>
              <a:t>第二阶段我们会抽取出所有多模态元素的</a:t>
            </a:r>
            <a:r>
              <a:rPr lang="en-US" altLang="zh-CN" sz="1400" dirty="0">
                <a:sym typeface="+mn-ea"/>
              </a:rPr>
              <a:t>caption</a:t>
            </a:r>
            <a:r>
              <a:rPr lang="zh-CN" altLang="en-US" sz="1400" dirty="0">
                <a:sym typeface="+mn-ea"/>
              </a:rPr>
              <a:t>，通过多模态生成模型生成真实的多模态内容，图像使用的是</a:t>
            </a:r>
            <a:r>
              <a:rPr lang="en-US" altLang="zh-CN" sz="1400" dirty="0">
                <a:sym typeface="+mn-ea"/>
              </a:rPr>
              <a:t>DALLE-3</a:t>
            </a:r>
            <a:r>
              <a:rPr lang="zh-CN" altLang="en-US" sz="1400" dirty="0">
                <a:sym typeface="+mn-ea"/>
              </a:rPr>
              <a:t>，音乐使用的是</a:t>
            </a:r>
            <a:r>
              <a:rPr lang="en-US" altLang="zh-CN" sz="1400" dirty="0">
                <a:sym typeface="+mn-ea"/>
              </a:rPr>
              <a:t>MusicGen</a:t>
            </a:r>
            <a:r>
              <a:rPr lang="zh-CN" altLang="en-US" sz="1400" dirty="0">
                <a:sym typeface="+mn-ea"/>
              </a:rPr>
              <a:t>，语音使用的是</a:t>
            </a:r>
            <a:r>
              <a:rPr lang="en-US" altLang="zh-CN" sz="1400" dirty="0">
                <a:sym typeface="+mn-ea"/>
              </a:rPr>
              <a:t>Azure</a:t>
            </a:r>
            <a:r>
              <a:rPr lang="zh-CN" altLang="en-US" sz="1400" dirty="0">
                <a:sym typeface="+mn-ea"/>
              </a:rPr>
              <a:t>的</a:t>
            </a:r>
            <a:r>
              <a:rPr lang="en-US" altLang="zh-CN" sz="1400" dirty="0">
                <a:sym typeface="+mn-ea"/>
              </a:rPr>
              <a:t>TTS API</a:t>
            </a:r>
            <a:r>
              <a:rPr lang="zh-CN" altLang="en-US" sz="1400" dirty="0">
                <a:sym typeface="+mn-ea"/>
              </a:rPr>
              <a:t>。</a:t>
            </a:r>
            <a:endParaRPr lang="zh-CN" altLang="en-US" sz="1400" dirty="0"/>
          </a:p>
          <a:p>
            <a:r>
              <a:rPr lang="zh-CN" altLang="en-US" sz="1400" dirty="0">
                <a:sym typeface="+mn-ea"/>
              </a:rPr>
              <a:t>如图所示是一个游戏场景创作的例子，包含一个秘境的图片和适合这个场景的背景音乐。</a:t>
            </a: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77146-D768-48E5-983D-414D5F6CA6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AnyInstruct</a:t>
            </a:r>
            <a:r>
              <a:rPr lang="zh-CN" altLang="en-US" dirty="0"/>
              <a:t>数据集上微调后，</a:t>
            </a:r>
            <a:r>
              <a:rPr lang="en-US" altLang="zh-CN" dirty="0"/>
              <a:t>AnyGPT</a:t>
            </a:r>
            <a:r>
              <a:rPr lang="zh-CN" altLang="en-US" dirty="0"/>
              <a:t>能适应任意模态交错的对话，如语音对话、生成图像和</a:t>
            </a:r>
            <a:r>
              <a:rPr lang="zh-CN" altLang="en-US" dirty="0"/>
              <a:t>音乐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77146-D768-48E5-983D-414D5F6CA6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完成音乐和图像之间的</a:t>
            </a:r>
            <a:r>
              <a:rPr lang="zh-CN" altLang="en-US" dirty="0"/>
              <a:t>转换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77146-D768-48E5-983D-414D5F6CA6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甚至不需要文本作为中间过渡，直接将图片转换为音乐，尽管这种组合在预训练数据中是不存在的，只有指令数据集中少量存在。说明</a:t>
            </a:r>
            <a:r>
              <a:rPr lang="en-US" altLang="zh-CN" dirty="0"/>
              <a:t>AnyGPT</a:t>
            </a:r>
            <a:r>
              <a:rPr lang="zh-CN" altLang="en-US" dirty="0"/>
              <a:t>通过离散化表示和</a:t>
            </a:r>
            <a:r>
              <a:rPr lang="en-US" altLang="zh-CN" dirty="0"/>
              <a:t>text-centric</a:t>
            </a:r>
            <a:r>
              <a:rPr lang="zh-CN" altLang="en-US" dirty="0"/>
              <a:t>多模态数据，在一定程度上实现了各种模态之间的两</a:t>
            </a:r>
            <a:r>
              <a:rPr lang="zh-CN" altLang="en-US" dirty="0"/>
              <a:t>两对齐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77146-D768-48E5-983D-414D5F6CA6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一个声音克隆的例子，最后一句是被克隆的语音。</a:t>
            </a:r>
            <a:r>
              <a:rPr lang="en-US" altLang="zh-CN" dirty="0"/>
              <a:t>AnyGPT</a:t>
            </a:r>
            <a:r>
              <a:rPr lang="zh-CN" altLang="en-US" dirty="0"/>
              <a:t>对语音的内容和副语言学信息分别建模，通过在包含</a:t>
            </a:r>
            <a:r>
              <a:rPr lang="zh-CN" altLang="en-US" dirty="0"/>
              <a:t>数千说话人的语音数据上训练，给定一个几秒钟的语音</a:t>
            </a:r>
            <a:r>
              <a:rPr lang="en-US" altLang="zh-CN" dirty="0"/>
              <a:t>prompt</a:t>
            </a:r>
            <a:r>
              <a:rPr lang="zh-CN" altLang="en-US" dirty="0"/>
              <a:t>，</a:t>
            </a:r>
            <a:r>
              <a:rPr lang="en-US" altLang="zh-CN" dirty="0"/>
              <a:t>anygpt</a:t>
            </a:r>
            <a:r>
              <a:rPr lang="zh-CN" altLang="en-US" dirty="0"/>
              <a:t>可以直接克隆</a:t>
            </a:r>
            <a:r>
              <a:rPr lang="en-US" altLang="zh-CN" dirty="0"/>
              <a:t>prompt</a:t>
            </a:r>
            <a:r>
              <a:rPr lang="zh-CN" altLang="en-US" dirty="0"/>
              <a:t>的音色和情感。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77146-D768-48E5-983D-414D5F6CA6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（隐藏</a:t>
            </a:r>
            <a:r>
              <a:rPr lang="zh-CN" altLang="en-US" dirty="0"/>
              <a:t>幻灯片）完整</a:t>
            </a:r>
            <a:r>
              <a:rPr lang="en-US" altLang="zh-CN" dirty="0"/>
              <a:t>demo</a:t>
            </a:r>
            <a:r>
              <a:rPr lang="zh-CN" altLang="en-US" dirty="0"/>
              <a:t>，总共</a:t>
            </a:r>
            <a:r>
              <a:rPr lang="en-US" altLang="zh-CN" dirty="0"/>
              <a:t>3</a:t>
            </a:r>
            <a:r>
              <a:rPr lang="zh-CN" altLang="en-US" dirty="0"/>
              <a:t>分钟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77146-D768-48E5-983D-414D5F6CA6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我们提出了</a:t>
            </a:r>
            <a:r>
              <a:rPr lang="en-US" altLang="zh-CN" dirty="0"/>
              <a:t>AnyGPT</a:t>
            </a:r>
            <a:r>
              <a:rPr lang="zh-CN" altLang="en-US" dirty="0"/>
              <a:t>，一种基于自回归离散序列建模的多模态融合方案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BF4439-5B4C-41DE-A89B-0F885191D2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emotion, referring to unconstrained descriptions of affective states; style, allowing free-form specification of global speech style; and variation, which entails temporal variation between emotions and styles within a single utterance, thereby showcasing a model’s fine-grained controllability.</a:t>
            </a:r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>
                <a:sym typeface="+mn-ea"/>
              </a:rPr>
              <a:t>Reflects the incremental skill requirements for realistic speech models</a:t>
            </a:r>
            <a:endParaRPr lang="en-US" altLang="zh-CN"/>
          </a:p>
          <a:p>
            <a:r>
              <a:rPr lang="en-US" altLang="zh-CN">
                <a:sym typeface="+mn-ea"/>
              </a:rPr>
              <a:t>Combines perceptual understanding and reasoning of LALMs</a:t>
            </a:r>
            <a:endParaRPr lang="en-US" altLang="zh-CN"/>
          </a:p>
          <a:p>
            <a:r>
              <a:rPr lang="en-US" altLang="zh-CN">
                <a:sym typeface="+mn-ea"/>
              </a:rPr>
              <a:t>Produces consistent, stable, and interpretable evaluations</a:t>
            </a:r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>
                <a:sym typeface="+mn-ea"/>
              </a:rPr>
              <a:t>Metrics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Inter-Human Agreement: Correlation among human annotators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Model–Individual Human Agreement: Correlation between model and each human annotator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Model–Consensus Human Agreement: Correlation between model and the average human score</a:t>
            </a:r>
            <a:endParaRPr lang="en-US" altLang="zh-CN"/>
          </a:p>
          <a:p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Spearman’s correlation coefficient to measure consistency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Model-based evaluation provides efficient, scalable, and near human-level consistency</a:t>
            </a:r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我们提出了</a:t>
            </a:r>
            <a:r>
              <a:rPr lang="en-US" altLang="zh-CN" dirty="0"/>
              <a:t>AnyGPT</a:t>
            </a:r>
            <a:r>
              <a:rPr lang="zh-CN" altLang="en-US" dirty="0"/>
              <a:t>，一种基于自回归离散序列建模的多模态融合方案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BF4439-5B4C-41DE-A89B-0F885191D2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Building on this, we proposed AnyGPT, a model that performs any-to-any modality conversion.</a:t>
            </a:r>
          </a:p>
          <a:p>
            <a:r>
              <a:t>AnyGPT covers four modalities in total: text, speech, image, and music.</a:t>
            </a:r>
          </a:p>
          <a:p>
            <a:r>
              <a:t>The model has three parts: (1) a per-modality tokenizer that converts continuous signals into discrete tokens; (2) an autoregressive LLM that predicts the token sequence; and (3) a per-modality de-tokenizer that renders the tokens back into raw content such as images and audio.</a:t>
            </a:r>
          </a:p>
          <a:p/>
          <a:p>
            <a:r>
              <a:t>AnyGPT offers a generative recipe for training on multimodal data: convert every modality into a unified discrete representation and train the LLM with a single next-token-prediction objective.</a:t>
            </a:r>
          </a:p>
          <a:p>
            <a:r>
              <a:t>From the "compression is intelligence" perspective, once the LLM's perplexity is low enough, it becomes possible to compress the vast multimodal data of the internet into a single model.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77146-D768-48E5-983D-414D5F6CA6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Building on this, we proposed AnyGPT, a model that performs any-to-any modality conversion.</a:t>
            </a:r>
          </a:p>
          <a:p>
            <a:r>
              <a:t>AnyGPT covers four modalities in total: text, speech, image, and music.</a:t>
            </a:r>
          </a:p>
          <a:p>
            <a:r>
              <a:t>The model has three parts: (1) a per-modality tokenizer that converts continuous signals into discrete tokens; (2) an autoregressive LLM that predicts the token sequence; and (3) a per-modality de-tokenizer that renders the tokens back into raw content such as images and audio.</a:t>
            </a:r>
          </a:p>
          <a:p/>
          <a:p>
            <a:r>
              <a:t>AnyGPT offers a generative recipe for training on multimodal data: convert every modality into a unified discrete representation and train the LLM with a single next-token-prediction objective.</a:t>
            </a:r>
          </a:p>
          <a:p>
            <a:r>
              <a:t>From the "compression is intelligence" perspective, once the LLM's perplexity is low enough, it becomes possible to compress the vast multimodal data of the internet into a single model.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77146-D768-48E5-983D-414D5F6CA6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Building on this, we proposed AnyGPT, a model that performs any-to-any modality conversion.</a:t>
            </a:r>
          </a:p>
          <a:p>
            <a:r>
              <a:t>AnyGPT covers four modalities in total: text, speech, image, and music.</a:t>
            </a:r>
          </a:p>
          <a:p>
            <a:r>
              <a:t>The model has three parts: (1) a per-modality tokenizer that converts continuous signals into discrete tokens; (2) an autoregressive LLM that predicts the token sequence; and (3) a per-modality de-tokenizer that renders the tokens back into raw content such as images and audio.</a:t>
            </a:r>
          </a:p>
          <a:p/>
          <a:p>
            <a:r>
              <a:t>AnyGPT offers a generative recipe for training on multimodal data: convert every modality into a unified discrete representation and train the LLM with a single next-token-prediction objective.</a:t>
            </a:r>
          </a:p>
          <a:p>
            <a:r>
              <a:t>From the "compression is intelligence" perspective, once the LLM's perplexity is low enough, it becomes possible to compress the vast multimodal data of the internet into a single model.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77146-D768-48E5-983D-414D5F6CA6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Building on this, we proposed AnyGPT, a model that performs any-to-any modality conversion.</a:t>
            </a:r>
          </a:p>
          <a:p>
            <a:r>
              <a:t>AnyGPT covers four modalities in total: text, speech, image, and music.</a:t>
            </a:r>
          </a:p>
          <a:p>
            <a:r>
              <a:t>The model has three parts: (1) a per-modality tokenizer that converts continuous signals into discrete tokens; (2) an autoregressive LLM that predicts the token sequence; and (3) a per-modality de-tokenizer that renders the tokens back into raw content such as images and audio.</a:t>
            </a:r>
          </a:p>
          <a:p/>
          <a:p>
            <a:r>
              <a:t>AnyGPT offers a generative recipe for training on multimodal data: convert every modality into a unified discrete representation and train the LLM with a single next-token-prediction objective.</a:t>
            </a:r>
          </a:p>
          <a:p>
            <a:r>
              <a:t>From the "compression is intelligence" perspective, once the LLM's perplexity is low enough, it becomes possible to compress the vast multimodal data of the internet into a single model.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77146-D768-48E5-983D-414D5F6CA6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Building on this, we proposed AnyGPT, a model that performs any-to-any modality conversion.</a:t>
            </a:r>
          </a:p>
          <a:p>
            <a:r>
              <a:t>AnyGPT covers four modalities in total: text, speech, image, and music.</a:t>
            </a:r>
          </a:p>
          <a:p>
            <a:r>
              <a:t>The model has three parts: (1) a per-modality tokenizer that converts continuous signals into discrete tokens; (2) an autoregressive LLM that predicts the token sequence; and (3) a per-modality de-tokenizer that renders the tokens back into raw content such as images and audio.</a:t>
            </a:r>
          </a:p>
          <a:p/>
          <a:p>
            <a:r>
              <a:t>AnyGPT offers a generative recipe for training on multimodal data: convert every modality into a unified discrete representation and train the LLM with a single next-token-prediction objective.</a:t>
            </a:r>
          </a:p>
          <a:p>
            <a:r>
              <a:t>From the "compression is intelligence" perspective, once the LLM's perplexity is low enough, it becomes possible to compress the vast multimodal data of the internet into a single model.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77146-D768-48E5-983D-414D5F6CA6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Building on this, we proposed AnyGPT, a model that performs any-to-any modality conversion.</a:t>
            </a:r>
          </a:p>
          <a:p>
            <a:r>
              <a:t>AnyGPT covers four modalities in total: text, speech, image, and music.</a:t>
            </a:r>
          </a:p>
          <a:p>
            <a:r>
              <a:t>The model has three parts: (1) a per-modality tokenizer that converts continuous signals into discrete tokens; (2) an autoregressive LLM that predicts the token sequence; and (3) a per-modality de-tokenizer that renders the tokens back into raw content such as images and audio.</a:t>
            </a:r>
          </a:p>
          <a:p/>
          <a:p>
            <a:r>
              <a:t>AnyGPT offers a generative recipe for training on multimodal data: convert every modality into a unified discrete representation and train the LLM with a single next-token-prediction objective.</a:t>
            </a:r>
          </a:p>
          <a:p>
            <a:r>
              <a:t>From the "compression is intelligence" perspective, once the LLM's perplexity is low enough, it becomes possible to compress the vast multimodal data of the internet into a single model.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77146-D768-48E5-983D-414D5F6CA6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Building on this, we proposed AnyGPT, a model that performs any-to-any modality conversion.</a:t>
            </a:r>
          </a:p>
          <a:p>
            <a:r>
              <a:t>AnyGPT covers four modalities in total: text, speech, image, and music.</a:t>
            </a:r>
          </a:p>
          <a:p>
            <a:r>
              <a:t>The model has three parts: (1) a per-modality tokenizer that converts continuous signals into discrete tokens; (2) an autoregressive LLM that predicts the token sequence; and (3) a per-modality de-tokenizer that renders the tokens back into raw content such as images and audio.</a:t>
            </a:r>
          </a:p>
          <a:p/>
          <a:p>
            <a:r>
              <a:t>AnyGPT offers a generative recipe for training on multimodal data: convert every modality into a unified discrete representation and train the LLM with a single next-token-prediction objective.</a:t>
            </a:r>
          </a:p>
          <a:p>
            <a:r>
              <a:t>From the "compression is intelligence" perspective, once the LLM's perplexity is low enough, it becomes possible to compress the vast multimodal data of the internet into a single model.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77146-D768-48E5-983D-414D5F6CA6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Building on this, we proposed AnyGPT, a model that performs any-to-any modality conversion.</a:t>
            </a:r>
          </a:p>
          <a:p>
            <a:r>
              <a:t>AnyGPT covers four modalities in total: text, speech, image, and music.</a:t>
            </a:r>
          </a:p>
          <a:p>
            <a:r>
              <a:t>The model has three parts: (1) a per-modality tokenizer that converts continuous signals into discrete tokens; (2) an autoregressive LLM that predicts the token sequence; and (3) a per-modality de-tokenizer that renders the tokens back into raw content such as images and audio.</a:t>
            </a:r>
          </a:p>
          <a:p/>
          <a:p>
            <a:r>
              <a:t>AnyGPT offers a generative recipe for training on multimodal data: convert every modality into a unified discrete representation and train the LLM with a single next-token-prediction objective.</a:t>
            </a:r>
          </a:p>
          <a:p>
            <a:r>
              <a:t>From the "compression is intelligence" perspective, once the LLM's perplexity is low enough, it becomes possible to compress the vast multimodal data of the internet into a single model.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77146-D768-48E5-983D-414D5F6CA6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Building on this, we proposed AnyGPT, a model that performs any-to-any modality conversion.</a:t>
            </a:r>
          </a:p>
          <a:p>
            <a:r>
              <a:t>AnyGPT covers four modalities in total: text, speech, image, and music.</a:t>
            </a:r>
          </a:p>
          <a:p>
            <a:r>
              <a:t>The model has three parts: (1) a per-modality tokenizer that converts continuous signals into discrete tokens; (2) an autoregressive LLM that predicts the token sequence; and (3) a per-modality de-tokenizer that renders the tokens back into raw content such as images and audio.</a:t>
            </a:r>
          </a:p>
          <a:p/>
          <a:p>
            <a:r>
              <a:t>AnyGPT offers a generative recipe for training on multimodal data: convert every modality into a unified discrete representation and train the LLM with a single next-token-prediction objective.</a:t>
            </a:r>
          </a:p>
          <a:p>
            <a:r>
              <a:t>From the "compression is intelligence" perspective, once the LLM's perplexity is low enough, it becomes possible to compress the vast multimodal data of the internet into a single model.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77146-D768-48E5-983D-414D5F6CA6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Building on this, we proposed AnyGPT, a model that performs any-to-any modality conversion.</a:t>
            </a:r>
          </a:p>
          <a:p>
            <a:r>
              <a:t>AnyGPT covers four modalities in total: text, speech, image, and music.</a:t>
            </a:r>
          </a:p>
          <a:p>
            <a:r>
              <a:t>The model has three parts: (1) a per-modality tokenizer that converts continuous signals into discrete tokens; (2) an autoregressive LLM that predicts the token sequence; and (3) a per-modality de-tokenizer that renders the tokens back into raw content such as images and audio.</a:t>
            </a:r>
          </a:p>
          <a:p/>
          <a:p>
            <a:r>
              <a:t>AnyGPT offers a generative recipe for training on multimodal data: convert every modality into a unified discrete representation and train the LLM with a single next-token-prediction objective.</a:t>
            </a:r>
          </a:p>
          <a:p>
            <a:r>
              <a:t>From the "compression is intelligence" perspective, once the LLM's perplexity is low enough, it becomes possible to compress the vast multimodal data of the internet into a single model.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77146-D768-48E5-983D-414D5F6CA6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Building on this, we proposed AnyGPT, a model that performs any-to-any modality conversion.</a:t>
            </a:r>
          </a:p>
          <a:p>
            <a:r>
              <a:t>AnyGPT covers four modalities in total: text, speech, image, and music.</a:t>
            </a:r>
          </a:p>
          <a:p>
            <a:r>
              <a:t>The model has three parts: (1) a per-modality tokenizer that converts continuous signals into discrete tokens; (2) an autoregressive LLM that predicts the token sequence; and (3) a per-modality de-tokenizer that renders the tokens back into raw content such as images and audio.</a:t>
            </a:r>
          </a:p>
          <a:p/>
          <a:p>
            <a:r>
              <a:t>AnyGPT offers a generative recipe for training on multimodal data: convert every modality into a unified discrete representation and train the LLM with a single next-token-prediction objective.</a:t>
            </a:r>
          </a:p>
          <a:p>
            <a:r>
              <a:t>From the "compression is intelligence" perspective, once the LLM's perplexity is low enough, it becomes possible to compress the vast multimodal data of the internet into a single model.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77146-D768-48E5-983D-414D5F6CA6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Building on this, we proposed AnyGPT, a model that performs any-to-any modality conversion.</a:t>
            </a:r>
          </a:p>
          <a:p>
            <a:r>
              <a:t>AnyGPT covers four modalities in total: text, speech, image, and music.</a:t>
            </a:r>
          </a:p>
          <a:p>
            <a:r>
              <a:t>The model has three parts: (1) a per-modality tokenizer that converts continuous signals into discrete tokens; (2) an autoregressive LLM that predicts the token sequence; and (3) a per-modality de-tokenizer that renders the tokens back into raw content such as images and audio.</a:t>
            </a:r>
          </a:p>
          <a:p/>
          <a:p>
            <a:r>
              <a:t>AnyGPT offers a generative recipe for training on multimodal data: convert every modality into a unified discrete representation and train the LLM with a single next-token-prediction objective.</a:t>
            </a:r>
          </a:p>
          <a:p>
            <a:r>
              <a:t>From the "compression is intelligence" perspective, once the LLM's perplexity is low enough, it becomes possible to compress the vast multimodal data of the internet into a single model.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77146-D768-48E5-983D-414D5F6CA6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Building on this, we proposed AnyGPT, a model that performs any-to-any modality conversion.</a:t>
            </a:r>
          </a:p>
          <a:p>
            <a:r>
              <a:t>AnyGPT covers four modalities in total: text, speech, image, and music.</a:t>
            </a:r>
          </a:p>
          <a:p>
            <a:r>
              <a:t>The model has three parts: (1) a per-modality tokenizer that converts continuous signals into discrete tokens; (2) an autoregressive LLM that predicts the token sequence; and (3) a per-modality de-tokenizer that renders the tokens back into raw content such as images and audio.</a:t>
            </a:r>
          </a:p>
          <a:p/>
          <a:p>
            <a:r>
              <a:t>AnyGPT offers a generative recipe for training on multimodal data: convert every modality into a unified discrete representation and train the LLM with a single next-token-prediction objective.</a:t>
            </a:r>
          </a:p>
          <a:p>
            <a:r>
              <a:t>From the "compression is intelligence" perspective, once the LLM's perplexity is low enough, it becomes possible to compress the vast multimodal data of the internet into a single model.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77146-D768-48E5-983D-414D5F6CA6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Building on this, we proposed AnyGPT, a model that performs any-to-any modality conversion.</a:t>
            </a:r>
          </a:p>
          <a:p>
            <a:r>
              <a:t>AnyGPT covers four modalities in total: text, speech, image, and music.</a:t>
            </a:r>
          </a:p>
          <a:p>
            <a:r>
              <a:t>The model has three parts: (1) a per-modality tokenizer that converts continuous signals into discrete tokens; (2) an autoregressive LLM that predicts the token sequence; and (3) a per-modality de-tokenizer that renders the tokens back into raw content such as images and audio.</a:t>
            </a:r>
          </a:p>
          <a:p/>
          <a:p>
            <a:r>
              <a:t>AnyGPT offers a generative recipe for training on multimodal data: convert every modality into a unified discrete representation and train the LLM with a single next-token-prediction objective.</a:t>
            </a:r>
          </a:p>
          <a:p>
            <a:r>
              <a:t>From the "compression is intelligence" perspective, once the LLM's perplexity is low enough, it becomes possible to compress the vast multimodal data of the internet into a single model.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77146-D768-48E5-983D-414D5F6CA6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>
                <a:sym typeface="+mn-ea"/>
              </a:rPr>
              <a:t>Maybe we can use a share semantic space for all the modalities, and use a individual semantic and  perceptual space for individual modality</a:t>
            </a:r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>
                <a:sym typeface="+mn-ea"/>
              </a:rPr>
              <a:t>Maybe we can use a share semantic space for all the modalities, and use a individual semantic and  perceptual space for individual modality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524000" y="3308975"/>
            <a:ext cx="9144000" cy="1514475"/>
          </a:xfrm>
          <a:solidFill>
            <a:srgbClr val="0E419C">
              <a:alpha val="90000"/>
            </a:srgbClr>
          </a:solidFill>
        </p:spPr>
        <p:txBody>
          <a:bodyPr anchor="ctr"/>
          <a:lstStyle>
            <a:lvl1pPr algn="ctr">
              <a:defRPr sz="3200" b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4" t="9261" r="2169" b="25033"/>
          <a:stretch>
            <a:fillRect/>
          </a:stretch>
        </p:blipFill>
        <p:spPr>
          <a:xfrm>
            <a:off x="0" y="-1"/>
            <a:ext cx="12192000" cy="3304990"/>
          </a:xfrm>
          <a:prstGeom prst="rect">
            <a:avLst/>
          </a:prstGeom>
        </p:spPr>
      </p:pic>
      <p:sp>
        <p:nvSpPr>
          <p:cNvPr id="25" name="Text Placeholder 24"/>
          <p:cNvSpPr>
            <a:spLocks noGrp="1"/>
          </p:cNvSpPr>
          <p:nvPr>
            <p:ph type="body" sz="quarter" idx="10" hasCustomPrompt="1"/>
          </p:nvPr>
        </p:nvSpPr>
        <p:spPr>
          <a:xfrm>
            <a:off x="2727325" y="4936676"/>
            <a:ext cx="6737351" cy="1378324"/>
          </a:xfrm>
        </p:spPr>
        <p:txBody>
          <a:bodyPr/>
          <a:lstStyle>
            <a:lvl1pPr marL="0" indent="0" algn="ctr">
              <a:buNone/>
              <a:defRPr sz="1865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8" name="矩形 17"/>
          <p:cNvSpPr/>
          <p:nvPr userDrawn="1"/>
        </p:nvSpPr>
        <p:spPr>
          <a:xfrm>
            <a:off x="-1" y="0"/>
            <a:ext cx="12192000" cy="118843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" name="组合 20"/>
          <p:cNvGrpSpPr/>
          <p:nvPr userDrawn="1"/>
        </p:nvGrpSpPr>
        <p:grpSpPr>
          <a:xfrm rot="20860285">
            <a:off x="10281967" y="1176754"/>
            <a:ext cx="1196893" cy="1152834"/>
            <a:chOff x="2125576" y="1735431"/>
            <a:chExt cx="3308985" cy="3308985"/>
          </a:xfrm>
        </p:grpSpPr>
        <p:sp>
          <p:nvSpPr>
            <p:cNvPr id="22" name="bk object 67"/>
            <p:cNvSpPr/>
            <p:nvPr/>
          </p:nvSpPr>
          <p:spPr>
            <a:xfrm>
              <a:off x="2125576" y="1735431"/>
              <a:ext cx="3308985" cy="3308985"/>
            </a:xfrm>
            <a:custGeom>
              <a:avLst/>
              <a:gdLst/>
              <a:ahLst/>
              <a:cxnLst/>
              <a:rect l="l" t="t" r="r" b="b"/>
              <a:pathLst>
                <a:path w="3308985" h="3308985">
                  <a:moveTo>
                    <a:pt x="1654429" y="0"/>
                  </a:moveTo>
                  <a:lnTo>
                    <a:pt x="1518938" y="5494"/>
                  </a:lnTo>
                  <a:lnTo>
                    <a:pt x="1386427" y="21693"/>
                  </a:lnTo>
                  <a:lnTo>
                    <a:pt x="1257325" y="48166"/>
                  </a:lnTo>
                  <a:lnTo>
                    <a:pt x="1132062" y="84484"/>
                  </a:lnTo>
                  <a:lnTo>
                    <a:pt x="1011067" y="130218"/>
                  </a:lnTo>
                  <a:lnTo>
                    <a:pt x="894768" y="184940"/>
                  </a:lnTo>
                  <a:lnTo>
                    <a:pt x="783595" y="248220"/>
                  </a:lnTo>
                  <a:lnTo>
                    <a:pt x="677976" y="319629"/>
                  </a:lnTo>
                  <a:lnTo>
                    <a:pt x="578341" y="398739"/>
                  </a:lnTo>
                  <a:lnTo>
                    <a:pt x="485119" y="485119"/>
                  </a:lnTo>
                  <a:lnTo>
                    <a:pt x="398739" y="578341"/>
                  </a:lnTo>
                  <a:lnTo>
                    <a:pt x="319629" y="677976"/>
                  </a:lnTo>
                  <a:lnTo>
                    <a:pt x="248220" y="783595"/>
                  </a:lnTo>
                  <a:lnTo>
                    <a:pt x="184940" y="894768"/>
                  </a:lnTo>
                  <a:lnTo>
                    <a:pt x="130218" y="1011067"/>
                  </a:lnTo>
                  <a:lnTo>
                    <a:pt x="84484" y="1132062"/>
                  </a:lnTo>
                  <a:lnTo>
                    <a:pt x="48166" y="1257325"/>
                  </a:lnTo>
                  <a:lnTo>
                    <a:pt x="21693" y="1386427"/>
                  </a:lnTo>
                  <a:lnTo>
                    <a:pt x="5494" y="1518938"/>
                  </a:lnTo>
                  <a:lnTo>
                    <a:pt x="0" y="1654429"/>
                  </a:lnTo>
                  <a:lnTo>
                    <a:pt x="5494" y="1789919"/>
                  </a:lnTo>
                  <a:lnTo>
                    <a:pt x="21693" y="1922430"/>
                  </a:lnTo>
                  <a:lnTo>
                    <a:pt x="48166" y="2051532"/>
                  </a:lnTo>
                  <a:lnTo>
                    <a:pt x="84484" y="2176795"/>
                  </a:lnTo>
                  <a:lnTo>
                    <a:pt x="130218" y="2297790"/>
                  </a:lnTo>
                  <a:lnTo>
                    <a:pt x="184940" y="2414089"/>
                  </a:lnTo>
                  <a:lnTo>
                    <a:pt x="248220" y="2525262"/>
                  </a:lnTo>
                  <a:lnTo>
                    <a:pt x="319629" y="2630881"/>
                  </a:lnTo>
                  <a:lnTo>
                    <a:pt x="398739" y="2730516"/>
                  </a:lnTo>
                  <a:lnTo>
                    <a:pt x="485119" y="2823738"/>
                  </a:lnTo>
                  <a:lnTo>
                    <a:pt x="578341" y="2910118"/>
                  </a:lnTo>
                  <a:lnTo>
                    <a:pt x="677976" y="2989228"/>
                  </a:lnTo>
                  <a:lnTo>
                    <a:pt x="783595" y="3060637"/>
                  </a:lnTo>
                  <a:lnTo>
                    <a:pt x="894768" y="3123917"/>
                  </a:lnTo>
                  <a:lnTo>
                    <a:pt x="1011067" y="3178639"/>
                  </a:lnTo>
                  <a:lnTo>
                    <a:pt x="1132062" y="3224373"/>
                  </a:lnTo>
                  <a:lnTo>
                    <a:pt x="1257325" y="3260691"/>
                  </a:lnTo>
                  <a:lnTo>
                    <a:pt x="1386427" y="3287164"/>
                  </a:lnTo>
                  <a:lnTo>
                    <a:pt x="1518938" y="3303363"/>
                  </a:lnTo>
                  <a:lnTo>
                    <a:pt x="1654429" y="3308858"/>
                  </a:lnTo>
                  <a:lnTo>
                    <a:pt x="1789919" y="3303363"/>
                  </a:lnTo>
                  <a:lnTo>
                    <a:pt x="1922430" y="3287164"/>
                  </a:lnTo>
                  <a:lnTo>
                    <a:pt x="2051531" y="3260691"/>
                  </a:lnTo>
                  <a:lnTo>
                    <a:pt x="2096928" y="3247529"/>
                  </a:lnTo>
                  <a:lnTo>
                    <a:pt x="1654429" y="3247529"/>
                  </a:lnTo>
                  <a:lnTo>
                    <a:pt x="1523961" y="3242238"/>
                  </a:lnTo>
                  <a:lnTo>
                    <a:pt x="1396362" y="3226640"/>
                  </a:lnTo>
                  <a:lnTo>
                    <a:pt x="1272047" y="3201149"/>
                  </a:lnTo>
                  <a:lnTo>
                    <a:pt x="1151428" y="3166178"/>
                  </a:lnTo>
                  <a:lnTo>
                    <a:pt x="1034917" y="3122139"/>
                  </a:lnTo>
                  <a:lnTo>
                    <a:pt x="922930" y="3069446"/>
                  </a:lnTo>
                  <a:lnTo>
                    <a:pt x="815877" y="3008512"/>
                  </a:lnTo>
                  <a:lnTo>
                    <a:pt x="714174" y="2939750"/>
                  </a:lnTo>
                  <a:lnTo>
                    <a:pt x="618232" y="2863574"/>
                  </a:lnTo>
                  <a:lnTo>
                    <a:pt x="528466" y="2780396"/>
                  </a:lnTo>
                  <a:lnTo>
                    <a:pt x="445287" y="2690630"/>
                  </a:lnTo>
                  <a:lnTo>
                    <a:pt x="369110" y="2594689"/>
                  </a:lnTo>
                  <a:lnTo>
                    <a:pt x="300348" y="2492985"/>
                  </a:lnTo>
                  <a:lnTo>
                    <a:pt x="239414" y="2385933"/>
                  </a:lnTo>
                  <a:lnTo>
                    <a:pt x="186720" y="2273945"/>
                  </a:lnTo>
                  <a:lnTo>
                    <a:pt x="142681" y="2157434"/>
                  </a:lnTo>
                  <a:lnTo>
                    <a:pt x="107709" y="2036814"/>
                  </a:lnTo>
                  <a:lnTo>
                    <a:pt x="82217" y="1912498"/>
                  </a:lnTo>
                  <a:lnTo>
                    <a:pt x="66619" y="1784898"/>
                  </a:lnTo>
                  <a:lnTo>
                    <a:pt x="61328" y="1654429"/>
                  </a:lnTo>
                  <a:lnTo>
                    <a:pt x="66619" y="1523961"/>
                  </a:lnTo>
                  <a:lnTo>
                    <a:pt x="82217" y="1396362"/>
                  </a:lnTo>
                  <a:lnTo>
                    <a:pt x="107709" y="1272047"/>
                  </a:lnTo>
                  <a:lnTo>
                    <a:pt x="142681" y="1151428"/>
                  </a:lnTo>
                  <a:lnTo>
                    <a:pt x="186720" y="1034917"/>
                  </a:lnTo>
                  <a:lnTo>
                    <a:pt x="239414" y="922930"/>
                  </a:lnTo>
                  <a:lnTo>
                    <a:pt x="300348" y="815877"/>
                  </a:lnTo>
                  <a:lnTo>
                    <a:pt x="369110" y="714174"/>
                  </a:lnTo>
                  <a:lnTo>
                    <a:pt x="445287" y="618232"/>
                  </a:lnTo>
                  <a:lnTo>
                    <a:pt x="528466" y="528466"/>
                  </a:lnTo>
                  <a:lnTo>
                    <a:pt x="618232" y="445287"/>
                  </a:lnTo>
                  <a:lnTo>
                    <a:pt x="714174" y="369110"/>
                  </a:lnTo>
                  <a:lnTo>
                    <a:pt x="815877" y="300348"/>
                  </a:lnTo>
                  <a:lnTo>
                    <a:pt x="922930" y="239414"/>
                  </a:lnTo>
                  <a:lnTo>
                    <a:pt x="1034917" y="186720"/>
                  </a:lnTo>
                  <a:lnTo>
                    <a:pt x="1151428" y="142681"/>
                  </a:lnTo>
                  <a:lnTo>
                    <a:pt x="1272047" y="107709"/>
                  </a:lnTo>
                  <a:lnTo>
                    <a:pt x="1396362" y="82217"/>
                  </a:lnTo>
                  <a:lnTo>
                    <a:pt x="1523961" y="66619"/>
                  </a:lnTo>
                  <a:lnTo>
                    <a:pt x="1654429" y="61328"/>
                  </a:lnTo>
                  <a:lnTo>
                    <a:pt x="2096928" y="61328"/>
                  </a:lnTo>
                  <a:lnTo>
                    <a:pt x="2051531" y="48166"/>
                  </a:lnTo>
                  <a:lnTo>
                    <a:pt x="1922430" y="21693"/>
                  </a:lnTo>
                  <a:lnTo>
                    <a:pt x="1789919" y="5494"/>
                  </a:lnTo>
                  <a:lnTo>
                    <a:pt x="1654429" y="0"/>
                  </a:lnTo>
                  <a:close/>
                </a:path>
                <a:path w="3308985" h="3308985">
                  <a:moveTo>
                    <a:pt x="2096928" y="61328"/>
                  </a:moveTo>
                  <a:lnTo>
                    <a:pt x="1654429" y="61328"/>
                  </a:lnTo>
                  <a:lnTo>
                    <a:pt x="1784896" y="66619"/>
                  </a:lnTo>
                  <a:lnTo>
                    <a:pt x="1912494" y="82217"/>
                  </a:lnTo>
                  <a:lnTo>
                    <a:pt x="2036809" y="107709"/>
                  </a:lnTo>
                  <a:lnTo>
                    <a:pt x="2157428" y="142681"/>
                  </a:lnTo>
                  <a:lnTo>
                    <a:pt x="2273938" y="186720"/>
                  </a:lnTo>
                  <a:lnTo>
                    <a:pt x="2385925" y="239414"/>
                  </a:lnTo>
                  <a:lnTo>
                    <a:pt x="2492976" y="300348"/>
                  </a:lnTo>
                  <a:lnTo>
                    <a:pt x="2594679" y="369110"/>
                  </a:lnTo>
                  <a:lnTo>
                    <a:pt x="2690619" y="445287"/>
                  </a:lnTo>
                  <a:lnTo>
                    <a:pt x="2780385" y="528466"/>
                  </a:lnTo>
                  <a:lnTo>
                    <a:pt x="2863562" y="618232"/>
                  </a:lnTo>
                  <a:lnTo>
                    <a:pt x="2939738" y="714174"/>
                  </a:lnTo>
                  <a:lnTo>
                    <a:pt x="3008500" y="815877"/>
                  </a:lnTo>
                  <a:lnTo>
                    <a:pt x="3069433" y="922930"/>
                  </a:lnTo>
                  <a:lnTo>
                    <a:pt x="3122126" y="1034917"/>
                  </a:lnTo>
                  <a:lnTo>
                    <a:pt x="3166165" y="1151428"/>
                  </a:lnTo>
                  <a:lnTo>
                    <a:pt x="3201137" y="1272047"/>
                  </a:lnTo>
                  <a:lnTo>
                    <a:pt x="3226628" y="1396362"/>
                  </a:lnTo>
                  <a:lnTo>
                    <a:pt x="3242225" y="1523961"/>
                  </a:lnTo>
                  <a:lnTo>
                    <a:pt x="3247517" y="1654429"/>
                  </a:lnTo>
                  <a:lnTo>
                    <a:pt x="3242225" y="1784898"/>
                  </a:lnTo>
                  <a:lnTo>
                    <a:pt x="3226628" y="1912498"/>
                  </a:lnTo>
                  <a:lnTo>
                    <a:pt x="3201137" y="2036814"/>
                  </a:lnTo>
                  <a:lnTo>
                    <a:pt x="3166165" y="2157434"/>
                  </a:lnTo>
                  <a:lnTo>
                    <a:pt x="3122126" y="2273945"/>
                  </a:lnTo>
                  <a:lnTo>
                    <a:pt x="3069433" y="2385933"/>
                  </a:lnTo>
                  <a:lnTo>
                    <a:pt x="3008500" y="2492985"/>
                  </a:lnTo>
                  <a:lnTo>
                    <a:pt x="2939738" y="2594689"/>
                  </a:lnTo>
                  <a:lnTo>
                    <a:pt x="2863562" y="2690630"/>
                  </a:lnTo>
                  <a:lnTo>
                    <a:pt x="2780385" y="2780396"/>
                  </a:lnTo>
                  <a:lnTo>
                    <a:pt x="2690619" y="2863574"/>
                  </a:lnTo>
                  <a:lnTo>
                    <a:pt x="2594679" y="2939750"/>
                  </a:lnTo>
                  <a:lnTo>
                    <a:pt x="2492976" y="3008512"/>
                  </a:lnTo>
                  <a:lnTo>
                    <a:pt x="2385925" y="3069446"/>
                  </a:lnTo>
                  <a:lnTo>
                    <a:pt x="2273938" y="3122139"/>
                  </a:lnTo>
                  <a:lnTo>
                    <a:pt x="2157428" y="3166178"/>
                  </a:lnTo>
                  <a:lnTo>
                    <a:pt x="2036809" y="3201149"/>
                  </a:lnTo>
                  <a:lnTo>
                    <a:pt x="1912494" y="3226640"/>
                  </a:lnTo>
                  <a:lnTo>
                    <a:pt x="1784896" y="3242238"/>
                  </a:lnTo>
                  <a:lnTo>
                    <a:pt x="1654429" y="3247529"/>
                  </a:lnTo>
                  <a:lnTo>
                    <a:pt x="2096928" y="3247529"/>
                  </a:lnTo>
                  <a:lnTo>
                    <a:pt x="2176793" y="3224373"/>
                  </a:lnTo>
                  <a:lnTo>
                    <a:pt x="2297788" y="3178639"/>
                  </a:lnTo>
                  <a:lnTo>
                    <a:pt x="2414086" y="3123917"/>
                  </a:lnTo>
                  <a:lnTo>
                    <a:pt x="2525259" y="3060637"/>
                  </a:lnTo>
                  <a:lnTo>
                    <a:pt x="2630877" y="2989228"/>
                  </a:lnTo>
                  <a:lnTo>
                    <a:pt x="2730511" y="2910118"/>
                  </a:lnTo>
                  <a:lnTo>
                    <a:pt x="2823732" y="2823738"/>
                  </a:lnTo>
                  <a:lnTo>
                    <a:pt x="2910111" y="2730516"/>
                  </a:lnTo>
                  <a:lnTo>
                    <a:pt x="2989219" y="2630881"/>
                  </a:lnTo>
                  <a:lnTo>
                    <a:pt x="3060628" y="2525262"/>
                  </a:lnTo>
                  <a:lnTo>
                    <a:pt x="3123907" y="2414089"/>
                  </a:lnTo>
                  <a:lnTo>
                    <a:pt x="3178628" y="2297790"/>
                  </a:lnTo>
                  <a:lnTo>
                    <a:pt x="3224362" y="2176795"/>
                  </a:lnTo>
                  <a:lnTo>
                    <a:pt x="3260680" y="2051532"/>
                  </a:lnTo>
                  <a:lnTo>
                    <a:pt x="3287152" y="1922430"/>
                  </a:lnTo>
                  <a:lnTo>
                    <a:pt x="3303350" y="1789919"/>
                  </a:lnTo>
                  <a:lnTo>
                    <a:pt x="3308845" y="1654429"/>
                  </a:lnTo>
                  <a:lnTo>
                    <a:pt x="3303350" y="1518938"/>
                  </a:lnTo>
                  <a:lnTo>
                    <a:pt x="3287152" y="1386427"/>
                  </a:lnTo>
                  <a:lnTo>
                    <a:pt x="3260680" y="1257325"/>
                  </a:lnTo>
                  <a:lnTo>
                    <a:pt x="3224362" y="1132062"/>
                  </a:lnTo>
                  <a:lnTo>
                    <a:pt x="3178628" y="1011067"/>
                  </a:lnTo>
                  <a:lnTo>
                    <a:pt x="3123907" y="894768"/>
                  </a:lnTo>
                  <a:lnTo>
                    <a:pt x="3060628" y="783595"/>
                  </a:lnTo>
                  <a:lnTo>
                    <a:pt x="2989219" y="677976"/>
                  </a:lnTo>
                  <a:lnTo>
                    <a:pt x="2910111" y="578341"/>
                  </a:lnTo>
                  <a:lnTo>
                    <a:pt x="2823732" y="485119"/>
                  </a:lnTo>
                  <a:lnTo>
                    <a:pt x="2730511" y="398739"/>
                  </a:lnTo>
                  <a:lnTo>
                    <a:pt x="2630877" y="319629"/>
                  </a:lnTo>
                  <a:lnTo>
                    <a:pt x="2525259" y="248220"/>
                  </a:lnTo>
                  <a:lnTo>
                    <a:pt x="2414086" y="184940"/>
                  </a:lnTo>
                  <a:lnTo>
                    <a:pt x="2297788" y="130218"/>
                  </a:lnTo>
                  <a:lnTo>
                    <a:pt x="2176793" y="84484"/>
                  </a:lnTo>
                  <a:lnTo>
                    <a:pt x="2096928" y="61328"/>
                  </a:lnTo>
                  <a:close/>
                </a:path>
              </a:pathLst>
            </a:custGeom>
            <a:solidFill>
              <a:srgbClr val="2641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bk object 68"/>
            <p:cNvSpPr/>
            <p:nvPr/>
          </p:nvSpPr>
          <p:spPr>
            <a:xfrm>
              <a:off x="2602270" y="2212130"/>
              <a:ext cx="2355850" cy="2355850"/>
            </a:xfrm>
            <a:custGeom>
              <a:avLst/>
              <a:gdLst/>
              <a:ahLst/>
              <a:cxnLst/>
              <a:rect l="l" t="t" r="r" b="b"/>
              <a:pathLst>
                <a:path w="2355850" h="2355850">
                  <a:moveTo>
                    <a:pt x="1177734" y="0"/>
                  </a:moveTo>
                  <a:lnTo>
                    <a:pt x="1081283" y="3911"/>
                  </a:lnTo>
                  <a:lnTo>
                    <a:pt x="986953" y="15442"/>
                  </a:lnTo>
                  <a:lnTo>
                    <a:pt x="895050" y="34287"/>
                  </a:lnTo>
                  <a:lnTo>
                    <a:pt x="805879" y="60141"/>
                  </a:lnTo>
                  <a:lnTo>
                    <a:pt x="719747" y="92698"/>
                  </a:lnTo>
                  <a:lnTo>
                    <a:pt x="636957" y="131653"/>
                  </a:lnTo>
                  <a:lnTo>
                    <a:pt x="557816" y="176700"/>
                  </a:lnTo>
                  <a:lnTo>
                    <a:pt x="482630" y="227534"/>
                  </a:lnTo>
                  <a:lnTo>
                    <a:pt x="411703" y="283850"/>
                  </a:lnTo>
                  <a:lnTo>
                    <a:pt x="345341" y="345341"/>
                  </a:lnTo>
                  <a:lnTo>
                    <a:pt x="283850" y="411703"/>
                  </a:lnTo>
                  <a:lnTo>
                    <a:pt x="227534" y="482630"/>
                  </a:lnTo>
                  <a:lnTo>
                    <a:pt x="176700" y="557816"/>
                  </a:lnTo>
                  <a:lnTo>
                    <a:pt x="131653" y="636957"/>
                  </a:lnTo>
                  <a:lnTo>
                    <a:pt x="92698" y="719747"/>
                  </a:lnTo>
                  <a:lnTo>
                    <a:pt x="60141" y="805879"/>
                  </a:lnTo>
                  <a:lnTo>
                    <a:pt x="34287" y="895050"/>
                  </a:lnTo>
                  <a:lnTo>
                    <a:pt x="15442" y="986953"/>
                  </a:lnTo>
                  <a:lnTo>
                    <a:pt x="3911" y="1081283"/>
                  </a:lnTo>
                  <a:lnTo>
                    <a:pt x="0" y="1177734"/>
                  </a:lnTo>
                  <a:lnTo>
                    <a:pt x="3911" y="1274185"/>
                  </a:lnTo>
                  <a:lnTo>
                    <a:pt x="15442" y="1368515"/>
                  </a:lnTo>
                  <a:lnTo>
                    <a:pt x="34287" y="1460417"/>
                  </a:lnTo>
                  <a:lnTo>
                    <a:pt x="60141" y="1549587"/>
                  </a:lnTo>
                  <a:lnTo>
                    <a:pt x="92698" y="1635719"/>
                  </a:lnTo>
                  <a:lnTo>
                    <a:pt x="131653" y="1718508"/>
                  </a:lnTo>
                  <a:lnTo>
                    <a:pt x="176700" y="1797648"/>
                  </a:lnTo>
                  <a:lnTo>
                    <a:pt x="227534" y="1872834"/>
                  </a:lnTo>
                  <a:lnTo>
                    <a:pt x="283850" y="1943760"/>
                  </a:lnTo>
                  <a:lnTo>
                    <a:pt x="345341" y="2010121"/>
                  </a:lnTo>
                  <a:lnTo>
                    <a:pt x="411703" y="2071611"/>
                  </a:lnTo>
                  <a:lnTo>
                    <a:pt x="482630" y="2127925"/>
                  </a:lnTo>
                  <a:lnTo>
                    <a:pt x="557816" y="2178759"/>
                  </a:lnTo>
                  <a:lnTo>
                    <a:pt x="636957" y="2223805"/>
                  </a:lnTo>
                  <a:lnTo>
                    <a:pt x="719747" y="2262759"/>
                  </a:lnTo>
                  <a:lnTo>
                    <a:pt x="805879" y="2295315"/>
                  </a:lnTo>
                  <a:lnTo>
                    <a:pt x="895050" y="2321169"/>
                  </a:lnTo>
                  <a:lnTo>
                    <a:pt x="986953" y="2340013"/>
                  </a:lnTo>
                  <a:lnTo>
                    <a:pt x="1081283" y="2351544"/>
                  </a:lnTo>
                  <a:lnTo>
                    <a:pt x="1177734" y="2355456"/>
                  </a:lnTo>
                  <a:lnTo>
                    <a:pt x="1274184" y="2351544"/>
                  </a:lnTo>
                  <a:lnTo>
                    <a:pt x="1368512" y="2340013"/>
                  </a:lnTo>
                  <a:lnTo>
                    <a:pt x="1460413" y="2321169"/>
                  </a:lnTo>
                  <a:lnTo>
                    <a:pt x="1549582" y="2295315"/>
                  </a:lnTo>
                  <a:lnTo>
                    <a:pt x="1552725" y="2294128"/>
                  </a:lnTo>
                  <a:lnTo>
                    <a:pt x="1177734" y="2294128"/>
                  </a:lnTo>
                  <a:lnTo>
                    <a:pt x="1086304" y="2290420"/>
                  </a:lnTo>
                  <a:lnTo>
                    <a:pt x="996886" y="2279489"/>
                  </a:lnTo>
                  <a:lnTo>
                    <a:pt x="909768" y="2261626"/>
                  </a:lnTo>
                  <a:lnTo>
                    <a:pt x="825241" y="2237118"/>
                  </a:lnTo>
                  <a:lnTo>
                    <a:pt x="743594" y="2206257"/>
                  </a:lnTo>
                  <a:lnTo>
                    <a:pt x="665116" y="2169331"/>
                  </a:lnTo>
                  <a:lnTo>
                    <a:pt x="590097" y="2126631"/>
                  </a:lnTo>
                  <a:lnTo>
                    <a:pt x="518827" y="2078445"/>
                  </a:lnTo>
                  <a:lnTo>
                    <a:pt x="451594" y="2025062"/>
                  </a:lnTo>
                  <a:lnTo>
                    <a:pt x="388689" y="1966774"/>
                  </a:lnTo>
                  <a:lnTo>
                    <a:pt x="330401" y="1903869"/>
                  </a:lnTo>
                  <a:lnTo>
                    <a:pt x="277020" y="1836636"/>
                  </a:lnTo>
                  <a:lnTo>
                    <a:pt x="228834" y="1765365"/>
                  </a:lnTo>
                  <a:lnTo>
                    <a:pt x="186134" y="1690347"/>
                  </a:lnTo>
                  <a:lnTo>
                    <a:pt x="149209" y="1611869"/>
                  </a:lnTo>
                  <a:lnTo>
                    <a:pt x="118348" y="1530222"/>
                  </a:lnTo>
                  <a:lnTo>
                    <a:pt x="93842" y="1445696"/>
                  </a:lnTo>
                  <a:lnTo>
                    <a:pt x="75978" y="1358579"/>
                  </a:lnTo>
                  <a:lnTo>
                    <a:pt x="65048" y="1269162"/>
                  </a:lnTo>
                  <a:lnTo>
                    <a:pt x="61341" y="1177734"/>
                  </a:lnTo>
                  <a:lnTo>
                    <a:pt x="65048" y="1086306"/>
                  </a:lnTo>
                  <a:lnTo>
                    <a:pt x="75978" y="996888"/>
                  </a:lnTo>
                  <a:lnTo>
                    <a:pt x="93842" y="909771"/>
                  </a:lnTo>
                  <a:lnTo>
                    <a:pt x="118348" y="825244"/>
                  </a:lnTo>
                  <a:lnTo>
                    <a:pt x="149209" y="743597"/>
                  </a:lnTo>
                  <a:lnTo>
                    <a:pt x="186134" y="665119"/>
                  </a:lnTo>
                  <a:lnTo>
                    <a:pt x="228834" y="590099"/>
                  </a:lnTo>
                  <a:lnTo>
                    <a:pt x="277020" y="518828"/>
                  </a:lnTo>
                  <a:lnTo>
                    <a:pt x="330401" y="451594"/>
                  </a:lnTo>
                  <a:lnTo>
                    <a:pt x="388689" y="388688"/>
                  </a:lnTo>
                  <a:lnTo>
                    <a:pt x="451594" y="330398"/>
                  </a:lnTo>
                  <a:lnTo>
                    <a:pt x="518827" y="277015"/>
                  </a:lnTo>
                  <a:lnTo>
                    <a:pt x="590097" y="228828"/>
                  </a:lnTo>
                  <a:lnTo>
                    <a:pt x="665116" y="186127"/>
                  </a:lnTo>
                  <a:lnTo>
                    <a:pt x="743594" y="149200"/>
                  </a:lnTo>
                  <a:lnTo>
                    <a:pt x="825241" y="118338"/>
                  </a:lnTo>
                  <a:lnTo>
                    <a:pt x="909768" y="93830"/>
                  </a:lnTo>
                  <a:lnTo>
                    <a:pt x="996886" y="75966"/>
                  </a:lnTo>
                  <a:lnTo>
                    <a:pt x="1086304" y="65036"/>
                  </a:lnTo>
                  <a:lnTo>
                    <a:pt x="1177734" y="61328"/>
                  </a:lnTo>
                  <a:lnTo>
                    <a:pt x="1552721" y="61328"/>
                  </a:lnTo>
                  <a:lnTo>
                    <a:pt x="1549582" y="60141"/>
                  </a:lnTo>
                  <a:lnTo>
                    <a:pt x="1460413" y="34287"/>
                  </a:lnTo>
                  <a:lnTo>
                    <a:pt x="1368512" y="15442"/>
                  </a:lnTo>
                  <a:lnTo>
                    <a:pt x="1274184" y="3911"/>
                  </a:lnTo>
                  <a:lnTo>
                    <a:pt x="1177734" y="0"/>
                  </a:lnTo>
                  <a:close/>
                </a:path>
                <a:path w="2355850" h="2355850">
                  <a:moveTo>
                    <a:pt x="1552721" y="61328"/>
                  </a:moveTo>
                  <a:lnTo>
                    <a:pt x="1177734" y="61328"/>
                  </a:lnTo>
                  <a:lnTo>
                    <a:pt x="1269161" y="65036"/>
                  </a:lnTo>
                  <a:lnTo>
                    <a:pt x="1358576" y="75966"/>
                  </a:lnTo>
                  <a:lnTo>
                    <a:pt x="1445692" y="93830"/>
                  </a:lnTo>
                  <a:lnTo>
                    <a:pt x="1530217" y="118338"/>
                  </a:lnTo>
                  <a:lnTo>
                    <a:pt x="1611864" y="149200"/>
                  </a:lnTo>
                  <a:lnTo>
                    <a:pt x="1690341" y="186127"/>
                  </a:lnTo>
                  <a:lnTo>
                    <a:pt x="1765360" y="228828"/>
                  </a:lnTo>
                  <a:lnTo>
                    <a:pt x="1836630" y="277015"/>
                  </a:lnTo>
                  <a:lnTo>
                    <a:pt x="1903863" y="330398"/>
                  </a:lnTo>
                  <a:lnTo>
                    <a:pt x="1966769" y="388688"/>
                  </a:lnTo>
                  <a:lnTo>
                    <a:pt x="2025058" y="451594"/>
                  </a:lnTo>
                  <a:lnTo>
                    <a:pt x="2078441" y="518828"/>
                  </a:lnTo>
                  <a:lnTo>
                    <a:pt x="2126628" y="590099"/>
                  </a:lnTo>
                  <a:lnTo>
                    <a:pt x="2169329" y="665119"/>
                  </a:lnTo>
                  <a:lnTo>
                    <a:pt x="2206255" y="743597"/>
                  </a:lnTo>
                  <a:lnTo>
                    <a:pt x="2237117" y="825244"/>
                  </a:lnTo>
                  <a:lnTo>
                    <a:pt x="2261625" y="909771"/>
                  </a:lnTo>
                  <a:lnTo>
                    <a:pt x="2279489" y="996888"/>
                  </a:lnTo>
                  <a:lnTo>
                    <a:pt x="2290420" y="1086306"/>
                  </a:lnTo>
                  <a:lnTo>
                    <a:pt x="2294128" y="1177734"/>
                  </a:lnTo>
                  <a:lnTo>
                    <a:pt x="2290420" y="1269162"/>
                  </a:lnTo>
                  <a:lnTo>
                    <a:pt x="2279489" y="1358579"/>
                  </a:lnTo>
                  <a:lnTo>
                    <a:pt x="2261625" y="1445696"/>
                  </a:lnTo>
                  <a:lnTo>
                    <a:pt x="2237117" y="1530222"/>
                  </a:lnTo>
                  <a:lnTo>
                    <a:pt x="2206255" y="1611869"/>
                  </a:lnTo>
                  <a:lnTo>
                    <a:pt x="2169329" y="1690347"/>
                  </a:lnTo>
                  <a:lnTo>
                    <a:pt x="2126628" y="1765365"/>
                  </a:lnTo>
                  <a:lnTo>
                    <a:pt x="2078441" y="1836636"/>
                  </a:lnTo>
                  <a:lnTo>
                    <a:pt x="2025058" y="1903869"/>
                  </a:lnTo>
                  <a:lnTo>
                    <a:pt x="1966769" y="1966774"/>
                  </a:lnTo>
                  <a:lnTo>
                    <a:pt x="1903863" y="2025062"/>
                  </a:lnTo>
                  <a:lnTo>
                    <a:pt x="1836630" y="2078445"/>
                  </a:lnTo>
                  <a:lnTo>
                    <a:pt x="1765360" y="2126631"/>
                  </a:lnTo>
                  <a:lnTo>
                    <a:pt x="1690341" y="2169331"/>
                  </a:lnTo>
                  <a:lnTo>
                    <a:pt x="1611864" y="2206257"/>
                  </a:lnTo>
                  <a:lnTo>
                    <a:pt x="1530217" y="2237118"/>
                  </a:lnTo>
                  <a:lnTo>
                    <a:pt x="1445692" y="2261626"/>
                  </a:lnTo>
                  <a:lnTo>
                    <a:pt x="1358576" y="2279489"/>
                  </a:lnTo>
                  <a:lnTo>
                    <a:pt x="1269161" y="2290420"/>
                  </a:lnTo>
                  <a:lnTo>
                    <a:pt x="1177734" y="2294128"/>
                  </a:lnTo>
                  <a:lnTo>
                    <a:pt x="1552725" y="2294128"/>
                  </a:lnTo>
                  <a:lnTo>
                    <a:pt x="1635714" y="2262759"/>
                  </a:lnTo>
                  <a:lnTo>
                    <a:pt x="1718503" y="2223805"/>
                  </a:lnTo>
                  <a:lnTo>
                    <a:pt x="1797642" y="2178759"/>
                  </a:lnTo>
                  <a:lnTo>
                    <a:pt x="1872828" y="2127925"/>
                  </a:lnTo>
                  <a:lnTo>
                    <a:pt x="1943754" y="2071611"/>
                  </a:lnTo>
                  <a:lnTo>
                    <a:pt x="2010116" y="2010121"/>
                  </a:lnTo>
                  <a:lnTo>
                    <a:pt x="2071607" y="1943760"/>
                  </a:lnTo>
                  <a:lnTo>
                    <a:pt x="2127922" y="1872834"/>
                  </a:lnTo>
                  <a:lnTo>
                    <a:pt x="2178756" y="1797648"/>
                  </a:lnTo>
                  <a:lnTo>
                    <a:pt x="2223802" y="1718508"/>
                  </a:lnTo>
                  <a:lnTo>
                    <a:pt x="2262757" y="1635719"/>
                  </a:lnTo>
                  <a:lnTo>
                    <a:pt x="2295314" y="1549587"/>
                  </a:lnTo>
                  <a:lnTo>
                    <a:pt x="2321168" y="1460417"/>
                  </a:lnTo>
                  <a:lnTo>
                    <a:pt x="2340013" y="1368515"/>
                  </a:lnTo>
                  <a:lnTo>
                    <a:pt x="2351544" y="1274185"/>
                  </a:lnTo>
                  <a:lnTo>
                    <a:pt x="2355456" y="1177734"/>
                  </a:lnTo>
                  <a:lnTo>
                    <a:pt x="2351544" y="1081283"/>
                  </a:lnTo>
                  <a:lnTo>
                    <a:pt x="2340013" y="986953"/>
                  </a:lnTo>
                  <a:lnTo>
                    <a:pt x="2321168" y="895050"/>
                  </a:lnTo>
                  <a:lnTo>
                    <a:pt x="2295314" y="805879"/>
                  </a:lnTo>
                  <a:lnTo>
                    <a:pt x="2262757" y="719747"/>
                  </a:lnTo>
                  <a:lnTo>
                    <a:pt x="2223802" y="636957"/>
                  </a:lnTo>
                  <a:lnTo>
                    <a:pt x="2178756" y="557816"/>
                  </a:lnTo>
                  <a:lnTo>
                    <a:pt x="2127922" y="482630"/>
                  </a:lnTo>
                  <a:lnTo>
                    <a:pt x="2071607" y="411703"/>
                  </a:lnTo>
                  <a:lnTo>
                    <a:pt x="2010116" y="345341"/>
                  </a:lnTo>
                  <a:lnTo>
                    <a:pt x="1943754" y="283850"/>
                  </a:lnTo>
                  <a:lnTo>
                    <a:pt x="1872828" y="227534"/>
                  </a:lnTo>
                  <a:lnTo>
                    <a:pt x="1797642" y="176700"/>
                  </a:lnTo>
                  <a:lnTo>
                    <a:pt x="1718503" y="131653"/>
                  </a:lnTo>
                  <a:lnTo>
                    <a:pt x="1635714" y="92698"/>
                  </a:lnTo>
                  <a:lnTo>
                    <a:pt x="1552721" y="61328"/>
                  </a:lnTo>
                  <a:close/>
                </a:path>
              </a:pathLst>
            </a:custGeom>
            <a:solidFill>
              <a:srgbClr val="2641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bk object 69"/>
            <p:cNvSpPr/>
            <p:nvPr/>
          </p:nvSpPr>
          <p:spPr>
            <a:xfrm>
              <a:off x="2486219" y="2437405"/>
              <a:ext cx="189230" cy="235585"/>
            </a:xfrm>
            <a:custGeom>
              <a:avLst/>
              <a:gdLst/>
              <a:ahLst/>
              <a:cxnLst/>
              <a:rect l="l" t="t" r="r" b="b"/>
              <a:pathLst>
                <a:path w="189230" h="235585">
                  <a:moveTo>
                    <a:pt x="84124" y="0"/>
                  </a:moveTo>
                  <a:lnTo>
                    <a:pt x="0" y="112458"/>
                  </a:lnTo>
                  <a:lnTo>
                    <a:pt x="164045" y="235191"/>
                  </a:lnTo>
                  <a:lnTo>
                    <a:pt x="188823" y="202082"/>
                  </a:lnTo>
                  <a:lnTo>
                    <a:pt x="119113" y="149910"/>
                  </a:lnTo>
                  <a:lnTo>
                    <a:pt x="134638" y="129159"/>
                  </a:lnTo>
                  <a:lnTo>
                    <a:pt x="91363" y="129159"/>
                  </a:lnTo>
                  <a:lnTo>
                    <a:pt x="52527" y="100101"/>
                  </a:lnTo>
                  <a:lnTo>
                    <a:pt x="111886" y="20764"/>
                  </a:lnTo>
                  <a:lnTo>
                    <a:pt x="84124" y="0"/>
                  </a:lnTo>
                  <a:close/>
                </a:path>
                <a:path w="189230" h="235585">
                  <a:moveTo>
                    <a:pt x="142595" y="60667"/>
                  </a:moveTo>
                  <a:lnTo>
                    <a:pt x="91363" y="129159"/>
                  </a:lnTo>
                  <a:lnTo>
                    <a:pt x="134638" y="129159"/>
                  </a:lnTo>
                  <a:lnTo>
                    <a:pt x="170345" y="81432"/>
                  </a:lnTo>
                  <a:lnTo>
                    <a:pt x="142595" y="60667"/>
                  </a:lnTo>
                  <a:close/>
                </a:path>
              </a:pathLst>
            </a:custGeom>
            <a:solidFill>
              <a:srgbClr val="2641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bk object 70"/>
            <p:cNvSpPr/>
            <p:nvPr/>
          </p:nvSpPr>
          <p:spPr>
            <a:xfrm>
              <a:off x="2606004" y="2278960"/>
              <a:ext cx="236220" cy="234950"/>
            </a:xfrm>
            <a:custGeom>
              <a:avLst/>
              <a:gdLst/>
              <a:ahLst/>
              <a:cxnLst/>
              <a:rect l="l" t="t" r="r" b="b"/>
              <a:pathLst>
                <a:path w="236219" h="234950">
                  <a:moveTo>
                    <a:pt x="29095" y="86741"/>
                  </a:moveTo>
                  <a:lnTo>
                    <a:pt x="0" y="116141"/>
                  </a:lnTo>
                  <a:lnTo>
                    <a:pt x="77685" y="193014"/>
                  </a:lnTo>
                  <a:lnTo>
                    <a:pt x="108562" y="220501"/>
                  </a:lnTo>
                  <a:lnTo>
                    <a:pt x="141689" y="234404"/>
                  </a:lnTo>
                  <a:lnTo>
                    <a:pt x="153751" y="234255"/>
                  </a:lnTo>
                  <a:lnTo>
                    <a:pt x="197713" y="211990"/>
                  </a:lnTo>
                  <a:lnTo>
                    <a:pt x="215907" y="192655"/>
                  </a:lnTo>
                  <a:lnTo>
                    <a:pt x="147499" y="192655"/>
                  </a:lnTo>
                  <a:lnTo>
                    <a:pt x="136824" y="189730"/>
                  </a:lnTo>
                  <a:lnTo>
                    <a:pt x="128645" y="183845"/>
                  </a:lnTo>
                  <a:lnTo>
                    <a:pt x="119295" y="175685"/>
                  </a:lnTo>
                  <a:lnTo>
                    <a:pt x="108010" y="164817"/>
                  </a:lnTo>
                  <a:lnTo>
                    <a:pt x="29095" y="86741"/>
                  </a:lnTo>
                  <a:close/>
                </a:path>
                <a:path w="236219" h="234950">
                  <a:moveTo>
                    <a:pt x="114909" y="0"/>
                  </a:moveTo>
                  <a:lnTo>
                    <a:pt x="85813" y="29413"/>
                  </a:lnTo>
                  <a:lnTo>
                    <a:pt x="166382" y="109131"/>
                  </a:lnTo>
                  <a:lnTo>
                    <a:pt x="177512" y="120483"/>
                  </a:lnTo>
                  <a:lnTo>
                    <a:pt x="185681" y="129586"/>
                  </a:lnTo>
                  <a:lnTo>
                    <a:pt x="193322" y="142627"/>
                  </a:lnTo>
                  <a:lnTo>
                    <a:pt x="194971" y="153191"/>
                  </a:lnTo>
                  <a:lnTo>
                    <a:pt x="191707" y="164821"/>
                  </a:lnTo>
                  <a:lnTo>
                    <a:pt x="184276" y="175716"/>
                  </a:lnTo>
                  <a:lnTo>
                    <a:pt x="172419" y="186196"/>
                  </a:lnTo>
                  <a:lnTo>
                    <a:pt x="162155" y="191671"/>
                  </a:lnTo>
                  <a:lnTo>
                    <a:pt x="147499" y="192655"/>
                  </a:lnTo>
                  <a:lnTo>
                    <a:pt x="215907" y="192655"/>
                  </a:lnTo>
                  <a:lnTo>
                    <a:pt x="234346" y="158571"/>
                  </a:lnTo>
                  <a:lnTo>
                    <a:pt x="235842" y="146599"/>
                  </a:lnTo>
                  <a:lnTo>
                    <a:pt x="233801" y="132394"/>
                  </a:lnTo>
                  <a:lnTo>
                    <a:pt x="208092" y="92938"/>
                  </a:lnTo>
                  <a:lnTo>
                    <a:pt x="198628" y="82947"/>
                  </a:lnTo>
                  <a:lnTo>
                    <a:pt x="114909" y="0"/>
                  </a:lnTo>
                  <a:close/>
                </a:path>
              </a:pathLst>
            </a:custGeom>
            <a:solidFill>
              <a:srgbClr val="2641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bk object 71"/>
            <p:cNvSpPr/>
            <p:nvPr/>
          </p:nvSpPr>
          <p:spPr>
            <a:xfrm>
              <a:off x="2771675" y="2165614"/>
              <a:ext cx="226060" cy="233679"/>
            </a:xfrm>
            <a:custGeom>
              <a:avLst/>
              <a:gdLst/>
              <a:ahLst/>
              <a:cxnLst/>
              <a:rect l="l" t="t" r="r" b="b"/>
              <a:pathLst>
                <a:path w="226060" h="233680">
                  <a:moveTo>
                    <a:pt x="110400" y="0"/>
                  </a:moveTo>
                  <a:lnTo>
                    <a:pt x="66611" y="19494"/>
                  </a:lnTo>
                  <a:lnTo>
                    <a:pt x="0" y="69007"/>
                  </a:lnTo>
                  <a:lnTo>
                    <a:pt x="122402" y="233294"/>
                  </a:lnTo>
                  <a:lnTo>
                    <a:pt x="184823" y="186799"/>
                  </a:lnTo>
                  <a:lnTo>
                    <a:pt x="192186" y="180894"/>
                  </a:lnTo>
                  <a:lnTo>
                    <a:pt x="134950" y="180894"/>
                  </a:lnTo>
                  <a:lnTo>
                    <a:pt x="53873" y="72093"/>
                  </a:lnTo>
                  <a:lnTo>
                    <a:pt x="92292" y="44827"/>
                  </a:lnTo>
                  <a:lnTo>
                    <a:pt x="116947" y="38423"/>
                  </a:lnTo>
                  <a:lnTo>
                    <a:pt x="190676" y="38423"/>
                  </a:lnTo>
                  <a:lnTo>
                    <a:pt x="182769" y="29725"/>
                  </a:lnTo>
                  <a:lnTo>
                    <a:pt x="148444" y="6036"/>
                  </a:lnTo>
                  <a:lnTo>
                    <a:pt x="122893" y="11"/>
                  </a:lnTo>
                  <a:lnTo>
                    <a:pt x="110400" y="0"/>
                  </a:lnTo>
                  <a:close/>
                </a:path>
                <a:path w="226060" h="233680">
                  <a:moveTo>
                    <a:pt x="190676" y="38423"/>
                  </a:moveTo>
                  <a:lnTo>
                    <a:pt x="116947" y="38423"/>
                  </a:lnTo>
                  <a:lnTo>
                    <a:pt x="125171" y="39365"/>
                  </a:lnTo>
                  <a:lnTo>
                    <a:pt x="132270" y="42311"/>
                  </a:lnTo>
                  <a:lnTo>
                    <a:pt x="167589" y="78761"/>
                  </a:lnTo>
                  <a:lnTo>
                    <a:pt x="187032" y="115832"/>
                  </a:lnTo>
                  <a:lnTo>
                    <a:pt x="188061" y="123274"/>
                  </a:lnTo>
                  <a:lnTo>
                    <a:pt x="185750" y="134971"/>
                  </a:lnTo>
                  <a:lnTo>
                    <a:pt x="182981" y="140584"/>
                  </a:lnTo>
                  <a:lnTo>
                    <a:pt x="178600" y="145931"/>
                  </a:lnTo>
                  <a:lnTo>
                    <a:pt x="175285" y="150046"/>
                  </a:lnTo>
                  <a:lnTo>
                    <a:pt x="168973" y="155545"/>
                  </a:lnTo>
                  <a:lnTo>
                    <a:pt x="134950" y="180894"/>
                  </a:lnTo>
                  <a:lnTo>
                    <a:pt x="192186" y="180894"/>
                  </a:lnTo>
                  <a:lnTo>
                    <a:pt x="221350" y="143639"/>
                  </a:lnTo>
                  <a:lnTo>
                    <a:pt x="225859" y="121215"/>
                  </a:lnTo>
                  <a:lnTo>
                    <a:pt x="225435" y="108843"/>
                  </a:lnTo>
                  <a:lnTo>
                    <a:pt x="213459" y="71458"/>
                  </a:lnTo>
                  <a:lnTo>
                    <a:pt x="191684" y="39532"/>
                  </a:lnTo>
                  <a:lnTo>
                    <a:pt x="190676" y="38423"/>
                  </a:lnTo>
                  <a:close/>
                </a:path>
              </a:pathLst>
            </a:custGeom>
            <a:solidFill>
              <a:srgbClr val="2641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bk object 72"/>
            <p:cNvSpPr/>
            <p:nvPr/>
          </p:nvSpPr>
          <p:spPr>
            <a:xfrm>
              <a:off x="3011571" y="2052556"/>
              <a:ext cx="207645" cy="239395"/>
            </a:xfrm>
            <a:custGeom>
              <a:avLst/>
              <a:gdLst/>
              <a:ahLst/>
              <a:cxnLst/>
              <a:rect l="l" t="t" r="r" b="b"/>
              <a:pathLst>
                <a:path w="207644" h="239394">
                  <a:moveTo>
                    <a:pt x="38608" y="0"/>
                  </a:moveTo>
                  <a:lnTo>
                    <a:pt x="0" y="20561"/>
                  </a:lnTo>
                  <a:lnTo>
                    <a:pt x="25844" y="238912"/>
                  </a:lnTo>
                  <a:lnTo>
                    <a:pt x="64592" y="218262"/>
                  </a:lnTo>
                  <a:lnTo>
                    <a:pt x="57645" y="169240"/>
                  </a:lnTo>
                  <a:lnTo>
                    <a:pt x="126115" y="132803"/>
                  </a:lnTo>
                  <a:lnTo>
                    <a:pt x="52641" y="132803"/>
                  </a:lnTo>
                  <a:lnTo>
                    <a:pt x="41338" y="52692"/>
                  </a:lnTo>
                  <a:lnTo>
                    <a:pt x="101077" y="52692"/>
                  </a:lnTo>
                  <a:lnTo>
                    <a:pt x="38608" y="0"/>
                  </a:lnTo>
                  <a:close/>
                </a:path>
                <a:path w="207644" h="239394">
                  <a:moveTo>
                    <a:pt x="193645" y="130771"/>
                  </a:moveTo>
                  <a:lnTo>
                    <a:pt x="129933" y="130771"/>
                  </a:lnTo>
                  <a:lnTo>
                    <a:pt x="167589" y="163436"/>
                  </a:lnTo>
                  <a:lnTo>
                    <a:pt x="207302" y="142290"/>
                  </a:lnTo>
                  <a:lnTo>
                    <a:pt x="193645" y="130771"/>
                  </a:lnTo>
                  <a:close/>
                </a:path>
                <a:path w="207644" h="239394">
                  <a:moveTo>
                    <a:pt x="101077" y="52692"/>
                  </a:moveTo>
                  <a:lnTo>
                    <a:pt x="41338" y="52692"/>
                  </a:lnTo>
                  <a:lnTo>
                    <a:pt x="101981" y="106527"/>
                  </a:lnTo>
                  <a:lnTo>
                    <a:pt x="52641" y="132803"/>
                  </a:lnTo>
                  <a:lnTo>
                    <a:pt x="126115" y="132803"/>
                  </a:lnTo>
                  <a:lnTo>
                    <a:pt x="129933" y="130771"/>
                  </a:lnTo>
                  <a:lnTo>
                    <a:pt x="193645" y="130771"/>
                  </a:lnTo>
                  <a:lnTo>
                    <a:pt x="101077" y="52692"/>
                  </a:lnTo>
                  <a:close/>
                </a:path>
              </a:pathLst>
            </a:custGeom>
            <a:solidFill>
              <a:srgbClr val="2641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bk object 73"/>
            <p:cNvSpPr/>
            <p:nvPr/>
          </p:nvSpPr>
          <p:spPr>
            <a:xfrm>
              <a:off x="3165169" y="1942935"/>
              <a:ext cx="221615" cy="247650"/>
            </a:xfrm>
            <a:custGeom>
              <a:avLst/>
              <a:gdLst/>
              <a:ahLst/>
              <a:cxnLst/>
              <a:rect l="l" t="t" r="r" b="b"/>
              <a:pathLst>
                <a:path w="221614" h="247650">
                  <a:moveTo>
                    <a:pt x="37960" y="40639"/>
                  </a:moveTo>
                  <a:lnTo>
                    <a:pt x="0" y="54038"/>
                  </a:lnTo>
                  <a:lnTo>
                    <a:pt x="68110" y="247243"/>
                  </a:lnTo>
                  <a:lnTo>
                    <a:pt x="104355" y="234467"/>
                  </a:lnTo>
                  <a:lnTo>
                    <a:pt x="59931" y="108470"/>
                  </a:lnTo>
                  <a:lnTo>
                    <a:pt x="121475" y="108470"/>
                  </a:lnTo>
                  <a:lnTo>
                    <a:pt x="37960" y="40639"/>
                  </a:lnTo>
                  <a:close/>
                </a:path>
                <a:path w="221614" h="247650">
                  <a:moveTo>
                    <a:pt x="121475" y="108470"/>
                  </a:moveTo>
                  <a:lnTo>
                    <a:pt x="59931" y="108470"/>
                  </a:lnTo>
                  <a:lnTo>
                    <a:pt x="182257" y="207009"/>
                  </a:lnTo>
                  <a:lnTo>
                    <a:pt x="221386" y="193205"/>
                  </a:lnTo>
                  <a:lnTo>
                    <a:pt x="203270" y="141808"/>
                  </a:lnTo>
                  <a:lnTo>
                    <a:pt x="162521" y="141808"/>
                  </a:lnTo>
                  <a:lnTo>
                    <a:pt x="121475" y="108470"/>
                  </a:lnTo>
                  <a:close/>
                </a:path>
                <a:path w="221614" h="247650">
                  <a:moveTo>
                    <a:pt x="153289" y="0"/>
                  </a:moveTo>
                  <a:lnTo>
                    <a:pt x="117043" y="12763"/>
                  </a:lnTo>
                  <a:lnTo>
                    <a:pt x="162521" y="141808"/>
                  </a:lnTo>
                  <a:lnTo>
                    <a:pt x="203270" y="141808"/>
                  </a:lnTo>
                  <a:lnTo>
                    <a:pt x="153289" y="0"/>
                  </a:lnTo>
                  <a:close/>
                </a:path>
              </a:pathLst>
            </a:custGeom>
            <a:solidFill>
              <a:srgbClr val="2641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bk object 74"/>
            <p:cNvSpPr/>
            <p:nvPr/>
          </p:nvSpPr>
          <p:spPr>
            <a:xfrm>
              <a:off x="3469504" y="1884617"/>
              <a:ext cx="179705" cy="219075"/>
            </a:xfrm>
            <a:custGeom>
              <a:avLst/>
              <a:gdLst/>
              <a:ahLst/>
              <a:cxnLst/>
              <a:rect l="l" t="t" r="r" b="b"/>
              <a:pathLst>
                <a:path w="179704" h="219075">
                  <a:moveTo>
                    <a:pt x="40995" y="16243"/>
                  </a:moveTo>
                  <a:lnTo>
                    <a:pt x="0" y="21755"/>
                  </a:lnTo>
                  <a:lnTo>
                    <a:pt x="14623" y="130607"/>
                  </a:lnTo>
                  <a:lnTo>
                    <a:pt x="16909" y="145781"/>
                  </a:lnTo>
                  <a:lnTo>
                    <a:pt x="31271" y="191958"/>
                  </a:lnTo>
                  <a:lnTo>
                    <a:pt x="73095" y="217471"/>
                  </a:lnTo>
                  <a:lnTo>
                    <a:pt x="85048" y="218642"/>
                  </a:lnTo>
                  <a:lnTo>
                    <a:pt x="97811" y="218423"/>
                  </a:lnTo>
                  <a:lnTo>
                    <a:pt x="140270" y="209900"/>
                  </a:lnTo>
                  <a:lnTo>
                    <a:pt x="172280" y="182559"/>
                  </a:lnTo>
                  <a:lnTo>
                    <a:pt x="93780" y="182559"/>
                  </a:lnTo>
                  <a:lnTo>
                    <a:pt x="82454" y="180679"/>
                  </a:lnTo>
                  <a:lnTo>
                    <a:pt x="69812" y="172196"/>
                  </a:lnTo>
                  <a:lnTo>
                    <a:pt x="63106" y="163022"/>
                  </a:lnTo>
                  <a:lnTo>
                    <a:pt x="60373" y="153591"/>
                  </a:lnTo>
                  <a:lnTo>
                    <a:pt x="57986" y="141299"/>
                  </a:lnTo>
                  <a:lnTo>
                    <a:pt x="40995" y="16243"/>
                  </a:lnTo>
                  <a:close/>
                </a:path>
                <a:path w="179704" h="219075">
                  <a:moveTo>
                    <a:pt x="161912" y="0"/>
                  </a:moveTo>
                  <a:lnTo>
                    <a:pt x="120916" y="5511"/>
                  </a:lnTo>
                  <a:lnTo>
                    <a:pt x="136004" y="117830"/>
                  </a:lnTo>
                  <a:lnTo>
                    <a:pt x="137881" y="133593"/>
                  </a:lnTo>
                  <a:lnTo>
                    <a:pt x="121851" y="177527"/>
                  </a:lnTo>
                  <a:lnTo>
                    <a:pt x="93780" y="182559"/>
                  </a:lnTo>
                  <a:lnTo>
                    <a:pt x="172280" y="182559"/>
                  </a:lnTo>
                  <a:lnTo>
                    <a:pt x="175219" y="177345"/>
                  </a:lnTo>
                  <a:lnTo>
                    <a:pt x="178868" y="165861"/>
                  </a:lnTo>
                  <a:lnTo>
                    <a:pt x="179646" y="154640"/>
                  </a:lnTo>
                  <a:lnTo>
                    <a:pt x="179547" y="141299"/>
                  </a:lnTo>
                  <a:lnTo>
                    <a:pt x="178930" y="130607"/>
                  </a:lnTo>
                  <a:lnTo>
                    <a:pt x="177553" y="116969"/>
                  </a:lnTo>
                  <a:lnTo>
                    <a:pt x="161912" y="0"/>
                  </a:lnTo>
                  <a:close/>
                </a:path>
              </a:pathLst>
            </a:custGeom>
            <a:solidFill>
              <a:srgbClr val="2641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bk object 75"/>
            <p:cNvSpPr/>
            <p:nvPr/>
          </p:nvSpPr>
          <p:spPr>
            <a:xfrm>
              <a:off x="3695665" y="1880515"/>
              <a:ext cx="166370" cy="207645"/>
            </a:xfrm>
            <a:custGeom>
              <a:avLst/>
              <a:gdLst/>
              <a:ahLst/>
              <a:cxnLst/>
              <a:rect l="l" t="t" r="r" b="b"/>
              <a:pathLst>
                <a:path w="166370" h="207644">
                  <a:moveTo>
                    <a:pt x="85676" y="71894"/>
                  </a:moveTo>
                  <a:lnTo>
                    <a:pt x="40639" y="71894"/>
                  </a:lnTo>
                  <a:lnTo>
                    <a:pt x="120992" y="206844"/>
                  </a:lnTo>
                  <a:lnTo>
                    <a:pt x="162509" y="207556"/>
                  </a:lnTo>
                  <a:lnTo>
                    <a:pt x="163646" y="138861"/>
                  </a:lnTo>
                  <a:lnTo>
                    <a:pt x="125196" y="138861"/>
                  </a:lnTo>
                  <a:lnTo>
                    <a:pt x="85676" y="71894"/>
                  </a:lnTo>
                  <a:close/>
                </a:path>
                <a:path w="166370" h="207644">
                  <a:moveTo>
                    <a:pt x="3403" y="0"/>
                  </a:moveTo>
                  <a:lnTo>
                    <a:pt x="0" y="204838"/>
                  </a:lnTo>
                  <a:lnTo>
                    <a:pt x="38417" y="205485"/>
                  </a:lnTo>
                  <a:lnTo>
                    <a:pt x="40639" y="71894"/>
                  </a:lnTo>
                  <a:lnTo>
                    <a:pt x="85676" y="71894"/>
                  </a:lnTo>
                  <a:lnTo>
                    <a:pt x="43637" y="660"/>
                  </a:lnTo>
                  <a:lnTo>
                    <a:pt x="3403" y="0"/>
                  </a:lnTo>
                  <a:close/>
                </a:path>
                <a:path w="166370" h="207644">
                  <a:moveTo>
                    <a:pt x="127495" y="2057"/>
                  </a:moveTo>
                  <a:lnTo>
                    <a:pt x="125196" y="138861"/>
                  </a:lnTo>
                  <a:lnTo>
                    <a:pt x="163646" y="138861"/>
                  </a:lnTo>
                  <a:lnTo>
                    <a:pt x="165900" y="2692"/>
                  </a:lnTo>
                  <a:lnTo>
                    <a:pt x="127495" y="2057"/>
                  </a:lnTo>
                  <a:close/>
                </a:path>
              </a:pathLst>
            </a:custGeom>
            <a:solidFill>
              <a:srgbClr val="2641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bk object 76"/>
            <p:cNvSpPr/>
            <p:nvPr/>
          </p:nvSpPr>
          <p:spPr>
            <a:xfrm>
              <a:off x="3895025" y="1890357"/>
              <a:ext cx="66040" cy="208915"/>
            </a:xfrm>
            <a:custGeom>
              <a:avLst/>
              <a:gdLst/>
              <a:ahLst/>
              <a:cxnLst/>
              <a:rect l="l" t="t" r="r" b="b"/>
              <a:pathLst>
                <a:path w="66039" h="208914">
                  <a:moveTo>
                    <a:pt x="24752" y="0"/>
                  </a:moveTo>
                  <a:lnTo>
                    <a:pt x="0" y="203390"/>
                  </a:lnTo>
                  <a:lnTo>
                    <a:pt x="41071" y="208394"/>
                  </a:lnTo>
                  <a:lnTo>
                    <a:pt x="65824" y="5003"/>
                  </a:lnTo>
                  <a:lnTo>
                    <a:pt x="24752" y="0"/>
                  </a:lnTo>
                  <a:close/>
                </a:path>
              </a:pathLst>
            </a:custGeom>
            <a:solidFill>
              <a:srgbClr val="2641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bk object 77"/>
            <p:cNvSpPr/>
            <p:nvPr/>
          </p:nvSpPr>
          <p:spPr>
            <a:xfrm>
              <a:off x="3994992" y="1897508"/>
              <a:ext cx="186690" cy="226060"/>
            </a:xfrm>
            <a:custGeom>
              <a:avLst/>
              <a:gdLst/>
              <a:ahLst/>
              <a:cxnLst/>
              <a:rect l="l" t="t" r="r" b="b"/>
              <a:pathLst>
                <a:path w="186689" h="226060">
                  <a:moveTo>
                    <a:pt x="0" y="0"/>
                  </a:moveTo>
                  <a:lnTo>
                    <a:pt x="26797" y="215925"/>
                  </a:lnTo>
                  <a:lnTo>
                    <a:pt x="69900" y="225564"/>
                  </a:lnTo>
                  <a:lnTo>
                    <a:pt x="105593" y="169087"/>
                  </a:lnTo>
                  <a:lnTo>
                    <a:pt x="61315" y="169087"/>
                  </a:lnTo>
                  <a:lnTo>
                    <a:pt x="43764" y="9778"/>
                  </a:lnTo>
                  <a:lnTo>
                    <a:pt x="0" y="0"/>
                  </a:lnTo>
                  <a:close/>
                </a:path>
                <a:path w="186689" h="226060">
                  <a:moveTo>
                    <a:pt x="143357" y="32042"/>
                  </a:moveTo>
                  <a:lnTo>
                    <a:pt x="61315" y="169087"/>
                  </a:lnTo>
                  <a:lnTo>
                    <a:pt x="105593" y="169087"/>
                  </a:lnTo>
                  <a:lnTo>
                    <a:pt x="186169" y="41592"/>
                  </a:lnTo>
                  <a:lnTo>
                    <a:pt x="143357" y="32042"/>
                  </a:lnTo>
                  <a:close/>
                </a:path>
              </a:pathLst>
            </a:custGeom>
            <a:solidFill>
              <a:srgbClr val="2641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bk object 78"/>
            <p:cNvSpPr/>
            <p:nvPr/>
          </p:nvSpPr>
          <p:spPr>
            <a:xfrm>
              <a:off x="4150062" y="1952759"/>
              <a:ext cx="214629" cy="247015"/>
            </a:xfrm>
            <a:custGeom>
              <a:avLst/>
              <a:gdLst/>
              <a:ahLst/>
              <a:cxnLst/>
              <a:rect l="l" t="t" r="r" b="b"/>
              <a:pathLst>
                <a:path w="214629" h="247014">
                  <a:moveTo>
                    <a:pt x="71882" y="0"/>
                  </a:moveTo>
                  <a:lnTo>
                    <a:pt x="0" y="191846"/>
                  </a:lnTo>
                  <a:lnTo>
                    <a:pt x="145923" y="246519"/>
                  </a:lnTo>
                  <a:lnTo>
                    <a:pt x="158026" y="214198"/>
                  </a:lnTo>
                  <a:lnTo>
                    <a:pt x="50863" y="174028"/>
                  </a:lnTo>
                  <a:lnTo>
                    <a:pt x="70408" y="121818"/>
                  </a:lnTo>
                  <a:lnTo>
                    <a:pt x="168777" y="121818"/>
                  </a:lnTo>
                  <a:lnTo>
                    <a:pt x="82537" y="89496"/>
                  </a:lnTo>
                  <a:lnTo>
                    <a:pt x="98463" y="46964"/>
                  </a:lnTo>
                  <a:lnTo>
                    <a:pt x="197221" y="46964"/>
                  </a:lnTo>
                  <a:lnTo>
                    <a:pt x="71882" y="0"/>
                  </a:lnTo>
                  <a:close/>
                </a:path>
                <a:path w="214629" h="247014">
                  <a:moveTo>
                    <a:pt x="168777" y="121818"/>
                  </a:moveTo>
                  <a:lnTo>
                    <a:pt x="70408" y="121818"/>
                  </a:lnTo>
                  <a:lnTo>
                    <a:pt x="166725" y="157886"/>
                  </a:lnTo>
                  <a:lnTo>
                    <a:pt x="178841" y="125590"/>
                  </a:lnTo>
                  <a:lnTo>
                    <a:pt x="168777" y="121818"/>
                  </a:lnTo>
                  <a:close/>
                </a:path>
                <a:path w="214629" h="247014">
                  <a:moveTo>
                    <a:pt x="197221" y="46964"/>
                  </a:moveTo>
                  <a:lnTo>
                    <a:pt x="98463" y="46964"/>
                  </a:lnTo>
                  <a:lnTo>
                    <a:pt x="201968" y="85750"/>
                  </a:lnTo>
                  <a:lnTo>
                    <a:pt x="214134" y="53301"/>
                  </a:lnTo>
                  <a:lnTo>
                    <a:pt x="197221" y="46964"/>
                  </a:lnTo>
                  <a:close/>
                </a:path>
              </a:pathLst>
            </a:custGeom>
            <a:solidFill>
              <a:srgbClr val="2641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bk object 79"/>
            <p:cNvSpPr/>
            <p:nvPr/>
          </p:nvSpPr>
          <p:spPr>
            <a:xfrm>
              <a:off x="4321915" y="2031506"/>
              <a:ext cx="226060" cy="268605"/>
            </a:xfrm>
            <a:custGeom>
              <a:avLst/>
              <a:gdLst/>
              <a:ahLst/>
              <a:cxnLst/>
              <a:rect l="l" t="t" r="r" b="b"/>
              <a:pathLst>
                <a:path w="226060" h="268605">
                  <a:moveTo>
                    <a:pt x="148436" y="124523"/>
                  </a:moveTo>
                  <a:lnTo>
                    <a:pt x="77419" y="124523"/>
                  </a:lnTo>
                  <a:lnTo>
                    <a:pt x="93091" y="133146"/>
                  </a:lnTo>
                  <a:lnTo>
                    <a:pt x="98818" y="137147"/>
                  </a:lnTo>
                  <a:lnTo>
                    <a:pt x="111792" y="174870"/>
                  </a:lnTo>
                  <a:lnTo>
                    <a:pt x="118084" y="244424"/>
                  </a:lnTo>
                  <a:lnTo>
                    <a:pt x="161429" y="268236"/>
                  </a:lnTo>
                  <a:lnTo>
                    <a:pt x="158750" y="221170"/>
                  </a:lnTo>
                  <a:lnTo>
                    <a:pt x="154529" y="182362"/>
                  </a:lnTo>
                  <a:lnTo>
                    <a:pt x="145222" y="158821"/>
                  </a:lnTo>
                  <a:lnTo>
                    <a:pt x="183942" y="158821"/>
                  </a:lnTo>
                  <a:lnTo>
                    <a:pt x="196155" y="153486"/>
                  </a:lnTo>
                  <a:lnTo>
                    <a:pt x="206365" y="146053"/>
                  </a:lnTo>
                  <a:lnTo>
                    <a:pt x="214337" y="136714"/>
                  </a:lnTo>
                  <a:lnTo>
                    <a:pt x="219043" y="127190"/>
                  </a:lnTo>
                  <a:lnTo>
                    <a:pt x="158915" y="127190"/>
                  </a:lnTo>
                  <a:lnTo>
                    <a:pt x="153784" y="126288"/>
                  </a:lnTo>
                  <a:lnTo>
                    <a:pt x="148436" y="124523"/>
                  </a:lnTo>
                  <a:close/>
                </a:path>
                <a:path w="226060" h="268605">
                  <a:moveTo>
                    <a:pt x="98615" y="0"/>
                  </a:moveTo>
                  <a:lnTo>
                    <a:pt x="0" y="179578"/>
                  </a:lnTo>
                  <a:lnTo>
                    <a:pt x="36245" y="199491"/>
                  </a:lnTo>
                  <a:lnTo>
                    <a:pt x="77419" y="124523"/>
                  </a:lnTo>
                  <a:lnTo>
                    <a:pt x="148436" y="124523"/>
                  </a:lnTo>
                  <a:lnTo>
                    <a:pt x="146393" y="123849"/>
                  </a:lnTo>
                  <a:lnTo>
                    <a:pt x="134734" y="118401"/>
                  </a:lnTo>
                  <a:lnTo>
                    <a:pt x="93154" y="95859"/>
                  </a:lnTo>
                  <a:lnTo>
                    <a:pt x="118173" y="50292"/>
                  </a:lnTo>
                  <a:lnTo>
                    <a:pt x="189139" y="50292"/>
                  </a:lnTo>
                  <a:lnTo>
                    <a:pt x="178915" y="44130"/>
                  </a:lnTo>
                  <a:lnTo>
                    <a:pt x="98615" y="0"/>
                  </a:lnTo>
                  <a:close/>
                </a:path>
                <a:path w="226060" h="268605">
                  <a:moveTo>
                    <a:pt x="183942" y="158821"/>
                  </a:moveTo>
                  <a:lnTo>
                    <a:pt x="145222" y="158821"/>
                  </a:lnTo>
                  <a:lnTo>
                    <a:pt x="158241" y="160530"/>
                  </a:lnTo>
                  <a:lnTo>
                    <a:pt x="170974" y="160855"/>
                  </a:lnTo>
                  <a:lnTo>
                    <a:pt x="183078" y="159198"/>
                  </a:lnTo>
                  <a:lnTo>
                    <a:pt x="183942" y="158821"/>
                  </a:lnTo>
                  <a:close/>
                </a:path>
                <a:path w="226060" h="268605">
                  <a:moveTo>
                    <a:pt x="189139" y="50292"/>
                  </a:moveTo>
                  <a:lnTo>
                    <a:pt x="118173" y="50292"/>
                  </a:lnTo>
                  <a:lnTo>
                    <a:pt x="161852" y="74412"/>
                  </a:lnTo>
                  <a:lnTo>
                    <a:pt x="170851" y="79782"/>
                  </a:lnTo>
                  <a:lnTo>
                    <a:pt x="177939" y="85191"/>
                  </a:lnTo>
                  <a:lnTo>
                    <a:pt x="181203" y="90030"/>
                  </a:lnTo>
                  <a:lnTo>
                    <a:pt x="183578" y="101003"/>
                  </a:lnTo>
                  <a:lnTo>
                    <a:pt x="182511" y="106756"/>
                  </a:lnTo>
                  <a:lnTo>
                    <a:pt x="176225" y="118198"/>
                  </a:lnTo>
                  <a:lnTo>
                    <a:pt x="172529" y="122021"/>
                  </a:lnTo>
                  <a:lnTo>
                    <a:pt x="163690" y="126504"/>
                  </a:lnTo>
                  <a:lnTo>
                    <a:pt x="158915" y="127190"/>
                  </a:lnTo>
                  <a:lnTo>
                    <a:pt x="219043" y="127190"/>
                  </a:lnTo>
                  <a:lnTo>
                    <a:pt x="221242" y="122741"/>
                  </a:lnTo>
                  <a:lnTo>
                    <a:pt x="224779" y="110941"/>
                  </a:lnTo>
                  <a:lnTo>
                    <a:pt x="225601" y="100246"/>
                  </a:lnTo>
                  <a:lnTo>
                    <a:pt x="223310" y="86536"/>
                  </a:lnTo>
                  <a:lnTo>
                    <a:pt x="218239" y="75278"/>
                  </a:lnTo>
                  <a:lnTo>
                    <a:pt x="210153" y="66448"/>
                  </a:lnTo>
                  <a:lnTo>
                    <a:pt x="201109" y="58592"/>
                  </a:lnTo>
                  <a:lnTo>
                    <a:pt x="190799" y="51292"/>
                  </a:lnTo>
                  <a:lnTo>
                    <a:pt x="189139" y="50292"/>
                  </a:lnTo>
                  <a:close/>
                </a:path>
              </a:pathLst>
            </a:custGeom>
            <a:solidFill>
              <a:srgbClr val="2641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bk object 80"/>
            <p:cNvSpPr/>
            <p:nvPr/>
          </p:nvSpPr>
          <p:spPr>
            <a:xfrm>
              <a:off x="4514251" y="2166221"/>
              <a:ext cx="201295" cy="213995"/>
            </a:xfrm>
            <a:custGeom>
              <a:avLst/>
              <a:gdLst/>
              <a:ahLst/>
              <a:cxnLst/>
              <a:rect l="l" t="t" r="r" b="b"/>
              <a:pathLst>
                <a:path w="201295" h="213994">
                  <a:moveTo>
                    <a:pt x="12839" y="84056"/>
                  </a:moveTo>
                  <a:lnTo>
                    <a:pt x="6501" y="96579"/>
                  </a:lnTo>
                  <a:lnTo>
                    <a:pt x="2247" y="108835"/>
                  </a:lnTo>
                  <a:lnTo>
                    <a:pt x="80" y="120819"/>
                  </a:lnTo>
                  <a:lnTo>
                    <a:pt x="0" y="132527"/>
                  </a:lnTo>
                  <a:lnTo>
                    <a:pt x="3514" y="145932"/>
                  </a:lnTo>
                  <a:lnTo>
                    <a:pt x="32648" y="186797"/>
                  </a:lnTo>
                  <a:lnTo>
                    <a:pt x="67860" y="208473"/>
                  </a:lnTo>
                  <a:lnTo>
                    <a:pt x="90428" y="213816"/>
                  </a:lnTo>
                  <a:lnTo>
                    <a:pt x="102739" y="213282"/>
                  </a:lnTo>
                  <a:lnTo>
                    <a:pt x="138057" y="194225"/>
                  </a:lnTo>
                  <a:lnTo>
                    <a:pt x="150105" y="174772"/>
                  </a:lnTo>
                  <a:lnTo>
                    <a:pt x="88595" y="174772"/>
                  </a:lnTo>
                  <a:lnTo>
                    <a:pt x="77555" y="173259"/>
                  </a:lnTo>
                  <a:lnTo>
                    <a:pt x="45005" y="147361"/>
                  </a:lnTo>
                  <a:lnTo>
                    <a:pt x="40598" y="126844"/>
                  </a:lnTo>
                  <a:lnTo>
                    <a:pt x="43299" y="114625"/>
                  </a:lnTo>
                  <a:lnTo>
                    <a:pt x="12839" y="84056"/>
                  </a:lnTo>
                  <a:close/>
                </a:path>
                <a:path w="201295" h="213994">
                  <a:moveTo>
                    <a:pt x="115327" y="0"/>
                  </a:moveTo>
                  <a:lnTo>
                    <a:pt x="77392" y="12920"/>
                  </a:lnTo>
                  <a:lnTo>
                    <a:pt x="58714" y="55186"/>
                  </a:lnTo>
                  <a:lnTo>
                    <a:pt x="61587" y="68131"/>
                  </a:lnTo>
                  <a:lnTo>
                    <a:pt x="65813" y="79752"/>
                  </a:lnTo>
                  <a:lnTo>
                    <a:pt x="71461" y="90614"/>
                  </a:lnTo>
                  <a:lnTo>
                    <a:pt x="78598" y="101281"/>
                  </a:lnTo>
                  <a:lnTo>
                    <a:pt x="91187" y="117127"/>
                  </a:lnTo>
                  <a:lnTo>
                    <a:pt x="99502" y="127745"/>
                  </a:lnTo>
                  <a:lnTo>
                    <a:pt x="104496" y="134363"/>
                  </a:lnTo>
                  <a:lnTo>
                    <a:pt x="110223" y="142870"/>
                  </a:lnTo>
                  <a:lnTo>
                    <a:pt x="112395" y="148216"/>
                  </a:lnTo>
                  <a:lnTo>
                    <a:pt x="112839" y="157068"/>
                  </a:lnTo>
                  <a:lnTo>
                    <a:pt x="111506" y="161208"/>
                  </a:lnTo>
                  <a:lnTo>
                    <a:pt x="104051" y="171114"/>
                  </a:lnTo>
                  <a:lnTo>
                    <a:pt x="97371" y="174353"/>
                  </a:lnTo>
                  <a:lnTo>
                    <a:pt x="88595" y="174772"/>
                  </a:lnTo>
                  <a:lnTo>
                    <a:pt x="150105" y="174772"/>
                  </a:lnTo>
                  <a:lnTo>
                    <a:pt x="152403" y="169918"/>
                  </a:lnTo>
                  <a:lnTo>
                    <a:pt x="154733" y="159684"/>
                  </a:lnTo>
                  <a:lnTo>
                    <a:pt x="154598" y="146871"/>
                  </a:lnTo>
                  <a:lnTo>
                    <a:pt x="132869" y="103101"/>
                  </a:lnTo>
                  <a:lnTo>
                    <a:pt x="113071" y="78068"/>
                  </a:lnTo>
                  <a:lnTo>
                    <a:pt x="105418" y="67019"/>
                  </a:lnTo>
                  <a:lnTo>
                    <a:pt x="101172" y="58849"/>
                  </a:lnTo>
                  <a:lnTo>
                    <a:pt x="99136" y="50960"/>
                  </a:lnTo>
                  <a:lnTo>
                    <a:pt x="99999" y="46413"/>
                  </a:lnTo>
                  <a:lnTo>
                    <a:pt x="102920" y="42552"/>
                  </a:lnTo>
                  <a:lnTo>
                    <a:pt x="106095" y="38298"/>
                  </a:lnTo>
                  <a:lnTo>
                    <a:pt x="110413" y="36228"/>
                  </a:lnTo>
                  <a:lnTo>
                    <a:pt x="181465" y="36228"/>
                  </a:lnTo>
                  <a:lnTo>
                    <a:pt x="173492" y="28259"/>
                  </a:lnTo>
                  <a:lnTo>
                    <a:pt x="159139" y="17607"/>
                  </a:lnTo>
                  <a:lnTo>
                    <a:pt x="147450" y="10139"/>
                  </a:lnTo>
                  <a:lnTo>
                    <a:pt x="137637" y="5208"/>
                  </a:lnTo>
                  <a:lnTo>
                    <a:pt x="128914" y="2167"/>
                  </a:lnTo>
                  <a:lnTo>
                    <a:pt x="115327" y="0"/>
                  </a:lnTo>
                  <a:close/>
                </a:path>
                <a:path w="201295" h="213994">
                  <a:moveTo>
                    <a:pt x="181465" y="36228"/>
                  </a:moveTo>
                  <a:lnTo>
                    <a:pt x="110413" y="36228"/>
                  </a:lnTo>
                  <a:lnTo>
                    <a:pt x="115786" y="36329"/>
                  </a:lnTo>
                  <a:lnTo>
                    <a:pt x="127109" y="38532"/>
                  </a:lnTo>
                  <a:lnTo>
                    <a:pt x="139092" y="44749"/>
                  </a:lnTo>
                  <a:lnTo>
                    <a:pt x="151458" y="55356"/>
                  </a:lnTo>
                  <a:lnTo>
                    <a:pt x="158043" y="64501"/>
                  </a:lnTo>
                  <a:lnTo>
                    <a:pt x="159858" y="77309"/>
                  </a:lnTo>
                  <a:lnTo>
                    <a:pt x="157284" y="88782"/>
                  </a:lnTo>
                  <a:lnTo>
                    <a:pt x="189166" y="117127"/>
                  </a:lnTo>
                  <a:lnTo>
                    <a:pt x="195822" y="105613"/>
                  </a:lnTo>
                  <a:lnTo>
                    <a:pt x="199867" y="93840"/>
                  </a:lnTo>
                  <a:lnTo>
                    <a:pt x="201299" y="81815"/>
                  </a:lnTo>
                  <a:lnTo>
                    <a:pt x="200114" y="69546"/>
                  </a:lnTo>
                  <a:lnTo>
                    <a:pt x="196694" y="58756"/>
                  </a:lnTo>
                  <a:lnTo>
                    <a:pt x="191123" y="48306"/>
                  </a:lnTo>
                  <a:lnTo>
                    <a:pt x="183393" y="38154"/>
                  </a:lnTo>
                  <a:lnTo>
                    <a:pt x="181465" y="36228"/>
                  </a:lnTo>
                  <a:close/>
                </a:path>
              </a:pathLst>
            </a:custGeom>
            <a:solidFill>
              <a:srgbClr val="2641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bk object 81"/>
            <p:cNvSpPr/>
            <p:nvPr/>
          </p:nvSpPr>
          <p:spPr>
            <a:xfrm>
              <a:off x="4640417" y="2273731"/>
              <a:ext cx="169545" cy="179070"/>
            </a:xfrm>
            <a:custGeom>
              <a:avLst/>
              <a:gdLst/>
              <a:ahLst/>
              <a:cxnLst/>
              <a:rect l="l" t="t" r="r" b="b"/>
              <a:pathLst>
                <a:path w="169545" h="179069">
                  <a:moveTo>
                    <a:pt x="138645" y="0"/>
                  </a:moveTo>
                  <a:lnTo>
                    <a:pt x="0" y="150837"/>
                  </a:lnTo>
                  <a:lnTo>
                    <a:pt x="30454" y="178841"/>
                  </a:lnTo>
                  <a:lnTo>
                    <a:pt x="169100" y="27978"/>
                  </a:lnTo>
                  <a:lnTo>
                    <a:pt x="138645" y="0"/>
                  </a:lnTo>
                  <a:close/>
                </a:path>
              </a:pathLst>
            </a:custGeom>
            <a:solidFill>
              <a:srgbClr val="2641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bk object 82"/>
            <p:cNvSpPr/>
            <p:nvPr/>
          </p:nvSpPr>
          <p:spPr>
            <a:xfrm>
              <a:off x="4727785" y="2327427"/>
              <a:ext cx="220979" cy="213360"/>
            </a:xfrm>
            <a:custGeom>
              <a:avLst/>
              <a:gdLst/>
              <a:ahLst/>
              <a:cxnLst/>
              <a:rect l="l" t="t" r="r" b="b"/>
              <a:pathLst>
                <a:path w="220979" h="213360">
                  <a:moveTo>
                    <a:pt x="111112" y="0"/>
                  </a:moveTo>
                  <a:lnTo>
                    <a:pt x="85432" y="23266"/>
                  </a:lnTo>
                  <a:lnTo>
                    <a:pt x="126212" y="68338"/>
                  </a:lnTo>
                  <a:lnTo>
                    <a:pt x="0" y="182549"/>
                  </a:lnTo>
                  <a:lnTo>
                    <a:pt x="27749" y="213220"/>
                  </a:lnTo>
                  <a:lnTo>
                    <a:pt x="153962" y="99021"/>
                  </a:lnTo>
                  <a:lnTo>
                    <a:pt x="200718" y="99021"/>
                  </a:lnTo>
                  <a:lnTo>
                    <a:pt x="111112" y="0"/>
                  </a:lnTo>
                  <a:close/>
                </a:path>
                <a:path w="220979" h="213360">
                  <a:moveTo>
                    <a:pt x="200718" y="99021"/>
                  </a:moveTo>
                  <a:lnTo>
                    <a:pt x="153962" y="99021"/>
                  </a:lnTo>
                  <a:lnTo>
                    <a:pt x="194665" y="143979"/>
                  </a:lnTo>
                  <a:lnTo>
                    <a:pt x="220370" y="120738"/>
                  </a:lnTo>
                  <a:lnTo>
                    <a:pt x="200718" y="99021"/>
                  </a:lnTo>
                  <a:close/>
                </a:path>
              </a:pathLst>
            </a:custGeom>
            <a:solidFill>
              <a:srgbClr val="2641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bk object 83"/>
            <p:cNvSpPr/>
            <p:nvPr/>
          </p:nvSpPr>
          <p:spPr>
            <a:xfrm>
              <a:off x="4838936" y="2468203"/>
              <a:ext cx="234950" cy="212090"/>
            </a:xfrm>
            <a:custGeom>
              <a:avLst/>
              <a:gdLst/>
              <a:ahLst/>
              <a:cxnLst/>
              <a:rect l="l" t="t" r="r" b="b"/>
              <a:pathLst>
                <a:path w="234950" h="212089">
                  <a:moveTo>
                    <a:pt x="126276" y="0"/>
                  </a:moveTo>
                  <a:lnTo>
                    <a:pt x="71043" y="129070"/>
                  </a:lnTo>
                  <a:lnTo>
                    <a:pt x="0" y="177939"/>
                  </a:lnTo>
                  <a:lnTo>
                    <a:pt x="23355" y="211899"/>
                  </a:lnTo>
                  <a:lnTo>
                    <a:pt x="94157" y="163194"/>
                  </a:lnTo>
                  <a:lnTo>
                    <a:pt x="234835" y="157873"/>
                  </a:lnTo>
                  <a:lnTo>
                    <a:pt x="212657" y="125628"/>
                  </a:lnTo>
                  <a:lnTo>
                    <a:pt x="114287" y="125628"/>
                  </a:lnTo>
                  <a:lnTo>
                    <a:pt x="153758" y="39966"/>
                  </a:lnTo>
                  <a:lnTo>
                    <a:pt x="126276" y="0"/>
                  </a:lnTo>
                  <a:close/>
                </a:path>
                <a:path w="234950" h="212089">
                  <a:moveTo>
                    <a:pt x="207835" y="118617"/>
                  </a:moveTo>
                  <a:lnTo>
                    <a:pt x="114287" y="125628"/>
                  </a:lnTo>
                  <a:lnTo>
                    <a:pt x="212657" y="125628"/>
                  </a:lnTo>
                  <a:lnTo>
                    <a:pt x="207835" y="118617"/>
                  </a:lnTo>
                  <a:close/>
                </a:path>
              </a:pathLst>
            </a:custGeom>
            <a:solidFill>
              <a:srgbClr val="2641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bk object 84"/>
            <p:cNvSpPr/>
            <p:nvPr/>
          </p:nvSpPr>
          <p:spPr>
            <a:xfrm>
              <a:off x="2297094" y="2877888"/>
              <a:ext cx="2965805" cy="201289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6" t="9084" r="2287" b="48252"/>
          <a:stretch>
            <a:fillRect/>
          </a:stretch>
        </p:blipFill>
        <p:spPr>
          <a:xfrm>
            <a:off x="0" y="-1"/>
            <a:ext cx="12192000" cy="2592593"/>
          </a:xfrm>
          <a:prstGeom prst="rect">
            <a:avLst/>
          </a:prstGeom>
        </p:spPr>
      </p:pic>
      <p:sp>
        <p:nvSpPr>
          <p:cNvPr id="13" name="Title 7"/>
          <p:cNvSpPr>
            <a:spLocks noGrp="1"/>
          </p:cNvSpPr>
          <p:nvPr>
            <p:ph type="ctrTitle"/>
          </p:nvPr>
        </p:nvSpPr>
        <p:spPr>
          <a:xfrm>
            <a:off x="1598889" y="2750934"/>
            <a:ext cx="9144000" cy="1514475"/>
          </a:xfrm>
          <a:solidFill>
            <a:srgbClr val="0E419C">
              <a:alpha val="90000"/>
            </a:srgbClr>
          </a:solidFill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>
              <a:defRPr lang="en-US" sz="3200" dirty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 lvl="0" algn="ctr"/>
            <a:r>
              <a:rPr lang="zh-CN" altLang="en-US" dirty="0"/>
              <a:t>单击此处编辑母版标题样式</a:t>
            </a:r>
            <a:endParaRPr lang="en-US" dirty="0"/>
          </a:p>
        </p:txBody>
      </p:sp>
      <p:grpSp>
        <p:nvGrpSpPr>
          <p:cNvPr id="26" name="组合 25"/>
          <p:cNvGrpSpPr/>
          <p:nvPr userDrawn="1"/>
        </p:nvGrpSpPr>
        <p:grpSpPr>
          <a:xfrm rot="20932344">
            <a:off x="10261598" y="1400632"/>
            <a:ext cx="1262745" cy="1132112"/>
            <a:chOff x="2125576" y="1735431"/>
            <a:chExt cx="3308985" cy="3308985"/>
          </a:xfrm>
        </p:grpSpPr>
        <p:sp>
          <p:nvSpPr>
            <p:cNvPr id="27" name="bk object 67"/>
            <p:cNvSpPr/>
            <p:nvPr/>
          </p:nvSpPr>
          <p:spPr>
            <a:xfrm>
              <a:off x="2125576" y="1735431"/>
              <a:ext cx="3308985" cy="3308985"/>
            </a:xfrm>
            <a:custGeom>
              <a:avLst/>
              <a:gdLst/>
              <a:ahLst/>
              <a:cxnLst/>
              <a:rect l="l" t="t" r="r" b="b"/>
              <a:pathLst>
                <a:path w="3308985" h="3308985">
                  <a:moveTo>
                    <a:pt x="1654429" y="0"/>
                  </a:moveTo>
                  <a:lnTo>
                    <a:pt x="1518938" y="5494"/>
                  </a:lnTo>
                  <a:lnTo>
                    <a:pt x="1386427" y="21693"/>
                  </a:lnTo>
                  <a:lnTo>
                    <a:pt x="1257325" y="48166"/>
                  </a:lnTo>
                  <a:lnTo>
                    <a:pt x="1132062" y="84484"/>
                  </a:lnTo>
                  <a:lnTo>
                    <a:pt x="1011067" y="130218"/>
                  </a:lnTo>
                  <a:lnTo>
                    <a:pt x="894768" y="184940"/>
                  </a:lnTo>
                  <a:lnTo>
                    <a:pt x="783595" y="248220"/>
                  </a:lnTo>
                  <a:lnTo>
                    <a:pt x="677976" y="319629"/>
                  </a:lnTo>
                  <a:lnTo>
                    <a:pt x="578341" y="398739"/>
                  </a:lnTo>
                  <a:lnTo>
                    <a:pt x="485119" y="485119"/>
                  </a:lnTo>
                  <a:lnTo>
                    <a:pt x="398739" y="578341"/>
                  </a:lnTo>
                  <a:lnTo>
                    <a:pt x="319629" y="677976"/>
                  </a:lnTo>
                  <a:lnTo>
                    <a:pt x="248220" y="783595"/>
                  </a:lnTo>
                  <a:lnTo>
                    <a:pt x="184940" y="894768"/>
                  </a:lnTo>
                  <a:lnTo>
                    <a:pt x="130218" y="1011067"/>
                  </a:lnTo>
                  <a:lnTo>
                    <a:pt x="84484" y="1132062"/>
                  </a:lnTo>
                  <a:lnTo>
                    <a:pt x="48166" y="1257325"/>
                  </a:lnTo>
                  <a:lnTo>
                    <a:pt x="21693" y="1386427"/>
                  </a:lnTo>
                  <a:lnTo>
                    <a:pt x="5494" y="1518938"/>
                  </a:lnTo>
                  <a:lnTo>
                    <a:pt x="0" y="1654429"/>
                  </a:lnTo>
                  <a:lnTo>
                    <a:pt x="5494" y="1789919"/>
                  </a:lnTo>
                  <a:lnTo>
                    <a:pt x="21693" y="1922430"/>
                  </a:lnTo>
                  <a:lnTo>
                    <a:pt x="48166" y="2051532"/>
                  </a:lnTo>
                  <a:lnTo>
                    <a:pt x="84484" y="2176795"/>
                  </a:lnTo>
                  <a:lnTo>
                    <a:pt x="130218" y="2297790"/>
                  </a:lnTo>
                  <a:lnTo>
                    <a:pt x="184940" y="2414089"/>
                  </a:lnTo>
                  <a:lnTo>
                    <a:pt x="248220" y="2525262"/>
                  </a:lnTo>
                  <a:lnTo>
                    <a:pt x="319629" y="2630881"/>
                  </a:lnTo>
                  <a:lnTo>
                    <a:pt x="398739" y="2730516"/>
                  </a:lnTo>
                  <a:lnTo>
                    <a:pt x="485119" y="2823738"/>
                  </a:lnTo>
                  <a:lnTo>
                    <a:pt x="578341" y="2910118"/>
                  </a:lnTo>
                  <a:lnTo>
                    <a:pt x="677976" y="2989228"/>
                  </a:lnTo>
                  <a:lnTo>
                    <a:pt x="783595" y="3060637"/>
                  </a:lnTo>
                  <a:lnTo>
                    <a:pt x="894768" y="3123917"/>
                  </a:lnTo>
                  <a:lnTo>
                    <a:pt x="1011067" y="3178639"/>
                  </a:lnTo>
                  <a:lnTo>
                    <a:pt x="1132062" y="3224373"/>
                  </a:lnTo>
                  <a:lnTo>
                    <a:pt x="1257325" y="3260691"/>
                  </a:lnTo>
                  <a:lnTo>
                    <a:pt x="1386427" y="3287164"/>
                  </a:lnTo>
                  <a:lnTo>
                    <a:pt x="1518938" y="3303363"/>
                  </a:lnTo>
                  <a:lnTo>
                    <a:pt x="1654429" y="3308858"/>
                  </a:lnTo>
                  <a:lnTo>
                    <a:pt x="1789919" y="3303363"/>
                  </a:lnTo>
                  <a:lnTo>
                    <a:pt x="1922430" y="3287164"/>
                  </a:lnTo>
                  <a:lnTo>
                    <a:pt x="2051531" y="3260691"/>
                  </a:lnTo>
                  <a:lnTo>
                    <a:pt x="2096928" y="3247529"/>
                  </a:lnTo>
                  <a:lnTo>
                    <a:pt x="1654429" y="3247529"/>
                  </a:lnTo>
                  <a:lnTo>
                    <a:pt x="1523961" y="3242238"/>
                  </a:lnTo>
                  <a:lnTo>
                    <a:pt x="1396362" y="3226640"/>
                  </a:lnTo>
                  <a:lnTo>
                    <a:pt x="1272047" y="3201149"/>
                  </a:lnTo>
                  <a:lnTo>
                    <a:pt x="1151428" y="3166178"/>
                  </a:lnTo>
                  <a:lnTo>
                    <a:pt x="1034917" y="3122139"/>
                  </a:lnTo>
                  <a:lnTo>
                    <a:pt x="922930" y="3069446"/>
                  </a:lnTo>
                  <a:lnTo>
                    <a:pt x="815877" y="3008512"/>
                  </a:lnTo>
                  <a:lnTo>
                    <a:pt x="714174" y="2939750"/>
                  </a:lnTo>
                  <a:lnTo>
                    <a:pt x="618232" y="2863574"/>
                  </a:lnTo>
                  <a:lnTo>
                    <a:pt x="528466" y="2780396"/>
                  </a:lnTo>
                  <a:lnTo>
                    <a:pt x="445287" y="2690630"/>
                  </a:lnTo>
                  <a:lnTo>
                    <a:pt x="369110" y="2594689"/>
                  </a:lnTo>
                  <a:lnTo>
                    <a:pt x="300348" y="2492985"/>
                  </a:lnTo>
                  <a:lnTo>
                    <a:pt x="239414" y="2385933"/>
                  </a:lnTo>
                  <a:lnTo>
                    <a:pt x="186720" y="2273945"/>
                  </a:lnTo>
                  <a:lnTo>
                    <a:pt x="142681" y="2157434"/>
                  </a:lnTo>
                  <a:lnTo>
                    <a:pt x="107709" y="2036814"/>
                  </a:lnTo>
                  <a:lnTo>
                    <a:pt x="82217" y="1912498"/>
                  </a:lnTo>
                  <a:lnTo>
                    <a:pt x="66619" y="1784898"/>
                  </a:lnTo>
                  <a:lnTo>
                    <a:pt x="61328" y="1654429"/>
                  </a:lnTo>
                  <a:lnTo>
                    <a:pt x="66619" y="1523961"/>
                  </a:lnTo>
                  <a:lnTo>
                    <a:pt x="82217" y="1396362"/>
                  </a:lnTo>
                  <a:lnTo>
                    <a:pt x="107709" y="1272047"/>
                  </a:lnTo>
                  <a:lnTo>
                    <a:pt x="142681" y="1151428"/>
                  </a:lnTo>
                  <a:lnTo>
                    <a:pt x="186720" y="1034917"/>
                  </a:lnTo>
                  <a:lnTo>
                    <a:pt x="239414" y="922930"/>
                  </a:lnTo>
                  <a:lnTo>
                    <a:pt x="300348" y="815877"/>
                  </a:lnTo>
                  <a:lnTo>
                    <a:pt x="369110" y="714174"/>
                  </a:lnTo>
                  <a:lnTo>
                    <a:pt x="445287" y="618232"/>
                  </a:lnTo>
                  <a:lnTo>
                    <a:pt x="528466" y="528466"/>
                  </a:lnTo>
                  <a:lnTo>
                    <a:pt x="618232" y="445287"/>
                  </a:lnTo>
                  <a:lnTo>
                    <a:pt x="714174" y="369110"/>
                  </a:lnTo>
                  <a:lnTo>
                    <a:pt x="815877" y="300348"/>
                  </a:lnTo>
                  <a:lnTo>
                    <a:pt x="922930" y="239414"/>
                  </a:lnTo>
                  <a:lnTo>
                    <a:pt x="1034917" y="186720"/>
                  </a:lnTo>
                  <a:lnTo>
                    <a:pt x="1151428" y="142681"/>
                  </a:lnTo>
                  <a:lnTo>
                    <a:pt x="1272047" y="107709"/>
                  </a:lnTo>
                  <a:lnTo>
                    <a:pt x="1396362" y="82217"/>
                  </a:lnTo>
                  <a:lnTo>
                    <a:pt x="1523961" y="66619"/>
                  </a:lnTo>
                  <a:lnTo>
                    <a:pt x="1654429" y="61328"/>
                  </a:lnTo>
                  <a:lnTo>
                    <a:pt x="2096928" y="61328"/>
                  </a:lnTo>
                  <a:lnTo>
                    <a:pt x="2051531" y="48166"/>
                  </a:lnTo>
                  <a:lnTo>
                    <a:pt x="1922430" y="21693"/>
                  </a:lnTo>
                  <a:lnTo>
                    <a:pt x="1789919" y="5494"/>
                  </a:lnTo>
                  <a:lnTo>
                    <a:pt x="1654429" y="0"/>
                  </a:lnTo>
                  <a:close/>
                </a:path>
                <a:path w="3308985" h="3308985">
                  <a:moveTo>
                    <a:pt x="2096928" y="61328"/>
                  </a:moveTo>
                  <a:lnTo>
                    <a:pt x="1654429" y="61328"/>
                  </a:lnTo>
                  <a:lnTo>
                    <a:pt x="1784896" y="66619"/>
                  </a:lnTo>
                  <a:lnTo>
                    <a:pt x="1912494" y="82217"/>
                  </a:lnTo>
                  <a:lnTo>
                    <a:pt x="2036809" y="107709"/>
                  </a:lnTo>
                  <a:lnTo>
                    <a:pt x="2157428" y="142681"/>
                  </a:lnTo>
                  <a:lnTo>
                    <a:pt x="2273938" y="186720"/>
                  </a:lnTo>
                  <a:lnTo>
                    <a:pt x="2385925" y="239414"/>
                  </a:lnTo>
                  <a:lnTo>
                    <a:pt x="2492976" y="300348"/>
                  </a:lnTo>
                  <a:lnTo>
                    <a:pt x="2594679" y="369110"/>
                  </a:lnTo>
                  <a:lnTo>
                    <a:pt x="2690619" y="445287"/>
                  </a:lnTo>
                  <a:lnTo>
                    <a:pt x="2780385" y="528466"/>
                  </a:lnTo>
                  <a:lnTo>
                    <a:pt x="2863562" y="618232"/>
                  </a:lnTo>
                  <a:lnTo>
                    <a:pt x="2939738" y="714174"/>
                  </a:lnTo>
                  <a:lnTo>
                    <a:pt x="3008500" y="815877"/>
                  </a:lnTo>
                  <a:lnTo>
                    <a:pt x="3069433" y="922930"/>
                  </a:lnTo>
                  <a:lnTo>
                    <a:pt x="3122126" y="1034917"/>
                  </a:lnTo>
                  <a:lnTo>
                    <a:pt x="3166165" y="1151428"/>
                  </a:lnTo>
                  <a:lnTo>
                    <a:pt x="3201137" y="1272047"/>
                  </a:lnTo>
                  <a:lnTo>
                    <a:pt x="3226628" y="1396362"/>
                  </a:lnTo>
                  <a:lnTo>
                    <a:pt x="3242225" y="1523961"/>
                  </a:lnTo>
                  <a:lnTo>
                    <a:pt x="3247517" y="1654429"/>
                  </a:lnTo>
                  <a:lnTo>
                    <a:pt x="3242225" y="1784898"/>
                  </a:lnTo>
                  <a:lnTo>
                    <a:pt x="3226628" y="1912498"/>
                  </a:lnTo>
                  <a:lnTo>
                    <a:pt x="3201137" y="2036814"/>
                  </a:lnTo>
                  <a:lnTo>
                    <a:pt x="3166165" y="2157434"/>
                  </a:lnTo>
                  <a:lnTo>
                    <a:pt x="3122126" y="2273945"/>
                  </a:lnTo>
                  <a:lnTo>
                    <a:pt x="3069433" y="2385933"/>
                  </a:lnTo>
                  <a:lnTo>
                    <a:pt x="3008500" y="2492985"/>
                  </a:lnTo>
                  <a:lnTo>
                    <a:pt x="2939738" y="2594689"/>
                  </a:lnTo>
                  <a:lnTo>
                    <a:pt x="2863562" y="2690630"/>
                  </a:lnTo>
                  <a:lnTo>
                    <a:pt x="2780385" y="2780396"/>
                  </a:lnTo>
                  <a:lnTo>
                    <a:pt x="2690619" y="2863574"/>
                  </a:lnTo>
                  <a:lnTo>
                    <a:pt x="2594679" y="2939750"/>
                  </a:lnTo>
                  <a:lnTo>
                    <a:pt x="2492976" y="3008512"/>
                  </a:lnTo>
                  <a:lnTo>
                    <a:pt x="2385925" y="3069446"/>
                  </a:lnTo>
                  <a:lnTo>
                    <a:pt x="2273938" y="3122139"/>
                  </a:lnTo>
                  <a:lnTo>
                    <a:pt x="2157428" y="3166178"/>
                  </a:lnTo>
                  <a:lnTo>
                    <a:pt x="2036809" y="3201149"/>
                  </a:lnTo>
                  <a:lnTo>
                    <a:pt x="1912494" y="3226640"/>
                  </a:lnTo>
                  <a:lnTo>
                    <a:pt x="1784896" y="3242238"/>
                  </a:lnTo>
                  <a:lnTo>
                    <a:pt x="1654429" y="3247529"/>
                  </a:lnTo>
                  <a:lnTo>
                    <a:pt x="2096928" y="3247529"/>
                  </a:lnTo>
                  <a:lnTo>
                    <a:pt x="2176793" y="3224373"/>
                  </a:lnTo>
                  <a:lnTo>
                    <a:pt x="2297788" y="3178639"/>
                  </a:lnTo>
                  <a:lnTo>
                    <a:pt x="2414086" y="3123917"/>
                  </a:lnTo>
                  <a:lnTo>
                    <a:pt x="2525259" y="3060637"/>
                  </a:lnTo>
                  <a:lnTo>
                    <a:pt x="2630877" y="2989228"/>
                  </a:lnTo>
                  <a:lnTo>
                    <a:pt x="2730511" y="2910118"/>
                  </a:lnTo>
                  <a:lnTo>
                    <a:pt x="2823732" y="2823738"/>
                  </a:lnTo>
                  <a:lnTo>
                    <a:pt x="2910111" y="2730516"/>
                  </a:lnTo>
                  <a:lnTo>
                    <a:pt x="2989219" y="2630881"/>
                  </a:lnTo>
                  <a:lnTo>
                    <a:pt x="3060628" y="2525262"/>
                  </a:lnTo>
                  <a:lnTo>
                    <a:pt x="3123907" y="2414089"/>
                  </a:lnTo>
                  <a:lnTo>
                    <a:pt x="3178628" y="2297790"/>
                  </a:lnTo>
                  <a:lnTo>
                    <a:pt x="3224362" y="2176795"/>
                  </a:lnTo>
                  <a:lnTo>
                    <a:pt x="3260680" y="2051532"/>
                  </a:lnTo>
                  <a:lnTo>
                    <a:pt x="3287152" y="1922430"/>
                  </a:lnTo>
                  <a:lnTo>
                    <a:pt x="3303350" y="1789919"/>
                  </a:lnTo>
                  <a:lnTo>
                    <a:pt x="3308845" y="1654429"/>
                  </a:lnTo>
                  <a:lnTo>
                    <a:pt x="3303350" y="1518938"/>
                  </a:lnTo>
                  <a:lnTo>
                    <a:pt x="3287152" y="1386427"/>
                  </a:lnTo>
                  <a:lnTo>
                    <a:pt x="3260680" y="1257325"/>
                  </a:lnTo>
                  <a:lnTo>
                    <a:pt x="3224362" y="1132062"/>
                  </a:lnTo>
                  <a:lnTo>
                    <a:pt x="3178628" y="1011067"/>
                  </a:lnTo>
                  <a:lnTo>
                    <a:pt x="3123907" y="894768"/>
                  </a:lnTo>
                  <a:lnTo>
                    <a:pt x="3060628" y="783595"/>
                  </a:lnTo>
                  <a:lnTo>
                    <a:pt x="2989219" y="677976"/>
                  </a:lnTo>
                  <a:lnTo>
                    <a:pt x="2910111" y="578341"/>
                  </a:lnTo>
                  <a:lnTo>
                    <a:pt x="2823732" y="485119"/>
                  </a:lnTo>
                  <a:lnTo>
                    <a:pt x="2730511" y="398739"/>
                  </a:lnTo>
                  <a:lnTo>
                    <a:pt x="2630877" y="319629"/>
                  </a:lnTo>
                  <a:lnTo>
                    <a:pt x="2525259" y="248220"/>
                  </a:lnTo>
                  <a:lnTo>
                    <a:pt x="2414086" y="184940"/>
                  </a:lnTo>
                  <a:lnTo>
                    <a:pt x="2297788" y="130218"/>
                  </a:lnTo>
                  <a:lnTo>
                    <a:pt x="2176793" y="84484"/>
                  </a:lnTo>
                  <a:lnTo>
                    <a:pt x="2096928" y="61328"/>
                  </a:lnTo>
                  <a:close/>
                </a:path>
              </a:pathLst>
            </a:custGeom>
            <a:solidFill>
              <a:srgbClr val="2641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bk object 68"/>
            <p:cNvSpPr/>
            <p:nvPr/>
          </p:nvSpPr>
          <p:spPr>
            <a:xfrm>
              <a:off x="2602270" y="2212130"/>
              <a:ext cx="2355850" cy="2355850"/>
            </a:xfrm>
            <a:custGeom>
              <a:avLst/>
              <a:gdLst/>
              <a:ahLst/>
              <a:cxnLst/>
              <a:rect l="l" t="t" r="r" b="b"/>
              <a:pathLst>
                <a:path w="2355850" h="2355850">
                  <a:moveTo>
                    <a:pt x="1177734" y="0"/>
                  </a:moveTo>
                  <a:lnTo>
                    <a:pt x="1081283" y="3911"/>
                  </a:lnTo>
                  <a:lnTo>
                    <a:pt x="986953" y="15442"/>
                  </a:lnTo>
                  <a:lnTo>
                    <a:pt x="895050" y="34287"/>
                  </a:lnTo>
                  <a:lnTo>
                    <a:pt x="805879" y="60141"/>
                  </a:lnTo>
                  <a:lnTo>
                    <a:pt x="719747" y="92698"/>
                  </a:lnTo>
                  <a:lnTo>
                    <a:pt x="636957" y="131653"/>
                  </a:lnTo>
                  <a:lnTo>
                    <a:pt x="557816" y="176700"/>
                  </a:lnTo>
                  <a:lnTo>
                    <a:pt x="482630" y="227534"/>
                  </a:lnTo>
                  <a:lnTo>
                    <a:pt x="411703" y="283850"/>
                  </a:lnTo>
                  <a:lnTo>
                    <a:pt x="345341" y="345341"/>
                  </a:lnTo>
                  <a:lnTo>
                    <a:pt x="283850" y="411703"/>
                  </a:lnTo>
                  <a:lnTo>
                    <a:pt x="227534" y="482630"/>
                  </a:lnTo>
                  <a:lnTo>
                    <a:pt x="176700" y="557816"/>
                  </a:lnTo>
                  <a:lnTo>
                    <a:pt x="131653" y="636957"/>
                  </a:lnTo>
                  <a:lnTo>
                    <a:pt x="92698" y="719747"/>
                  </a:lnTo>
                  <a:lnTo>
                    <a:pt x="60141" y="805879"/>
                  </a:lnTo>
                  <a:lnTo>
                    <a:pt x="34287" y="895050"/>
                  </a:lnTo>
                  <a:lnTo>
                    <a:pt x="15442" y="986953"/>
                  </a:lnTo>
                  <a:lnTo>
                    <a:pt x="3911" y="1081283"/>
                  </a:lnTo>
                  <a:lnTo>
                    <a:pt x="0" y="1177734"/>
                  </a:lnTo>
                  <a:lnTo>
                    <a:pt x="3911" y="1274185"/>
                  </a:lnTo>
                  <a:lnTo>
                    <a:pt x="15442" y="1368515"/>
                  </a:lnTo>
                  <a:lnTo>
                    <a:pt x="34287" y="1460417"/>
                  </a:lnTo>
                  <a:lnTo>
                    <a:pt x="60141" y="1549587"/>
                  </a:lnTo>
                  <a:lnTo>
                    <a:pt x="92698" y="1635719"/>
                  </a:lnTo>
                  <a:lnTo>
                    <a:pt x="131653" y="1718508"/>
                  </a:lnTo>
                  <a:lnTo>
                    <a:pt x="176700" y="1797648"/>
                  </a:lnTo>
                  <a:lnTo>
                    <a:pt x="227534" y="1872834"/>
                  </a:lnTo>
                  <a:lnTo>
                    <a:pt x="283850" y="1943760"/>
                  </a:lnTo>
                  <a:lnTo>
                    <a:pt x="345341" y="2010121"/>
                  </a:lnTo>
                  <a:lnTo>
                    <a:pt x="411703" y="2071611"/>
                  </a:lnTo>
                  <a:lnTo>
                    <a:pt x="482630" y="2127925"/>
                  </a:lnTo>
                  <a:lnTo>
                    <a:pt x="557816" y="2178759"/>
                  </a:lnTo>
                  <a:lnTo>
                    <a:pt x="636957" y="2223805"/>
                  </a:lnTo>
                  <a:lnTo>
                    <a:pt x="719747" y="2262759"/>
                  </a:lnTo>
                  <a:lnTo>
                    <a:pt x="805879" y="2295315"/>
                  </a:lnTo>
                  <a:lnTo>
                    <a:pt x="895050" y="2321169"/>
                  </a:lnTo>
                  <a:lnTo>
                    <a:pt x="986953" y="2340013"/>
                  </a:lnTo>
                  <a:lnTo>
                    <a:pt x="1081283" y="2351544"/>
                  </a:lnTo>
                  <a:lnTo>
                    <a:pt x="1177734" y="2355456"/>
                  </a:lnTo>
                  <a:lnTo>
                    <a:pt x="1274184" y="2351544"/>
                  </a:lnTo>
                  <a:lnTo>
                    <a:pt x="1368512" y="2340013"/>
                  </a:lnTo>
                  <a:lnTo>
                    <a:pt x="1460413" y="2321169"/>
                  </a:lnTo>
                  <a:lnTo>
                    <a:pt x="1549582" y="2295315"/>
                  </a:lnTo>
                  <a:lnTo>
                    <a:pt x="1552725" y="2294128"/>
                  </a:lnTo>
                  <a:lnTo>
                    <a:pt x="1177734" y="2294128"/>
                  </a:lnTo>
                  <a:lnTo>
                    <a:pt x="1086304" y="2290420"/>
                  </a:lnTo>
                  <a:lnTo>
                    <a:pt x="996886" y="2279489"/>
                  </a:lnTo>
                  <a:lnTo>
                    <a:pt x="909768" y="2261626"/>
                  </a:lnTo>
                  <a:lnTo>
                    <a:pt x="825241" y="2237118"/>
                  </a:lnTo>
                  <a:lnTo>
                    <a:pt x="743594" y="2206257"/>
                  </a:lnTo>
                  <a:lnTo>
                    <a:pt x="665116" y="2169331"/>
                  </a:lnTo>
                  <a:lnTo>
                    <a:pt x="590097" y="2126631"/>
                  </a:lnTo>
                  <a:lnTo>
                    <a:pt x="518827" y="2078445"/>
                  </a:lnTo>
                  <a:lnTo>
                    <a:pt x="451594" y="2025062"/>
                  </a:lnTo>
                  <a:lnTo>
                    <a:pt x="388689" y="1966774"/>
                  </a:lnTo>
                  <a:lnTo>
                    <a:pt x="330401" y="1903869"/>
                  </a:lnTo>
                  <a:lnTo>
                    <a:pt x="277020" y="1836636"/>
                  </a:lnTo>
                  <a:lnTo>
                    <a:pt x="228834" y="1765365"/>
                  </a:lnTo>
                  <a:lnTo>
                    <a:pt x="186134" y="1690347"/>
                  </a:lnTo>
                  <a:lnTo>
                    <a:pt x="149209" y="1611869"/>
                  </a:lnTo>
                  <a:lnTo>
                    <a:pt x="118348" y="1530222"/>
                  </a:lnTo>
                  <a:lnTo>
                    <a:pt x="93842" y="1445696"/>
                  </a:lnTo>
                  <a:lnTo>
                    <a:pt x="75978" y="1358579"/>
                  </a:lnTo>
                  <a:lnTo>
                    <a:pt x="65048" y="1269162"/>
                  </a:lnTo>
                  <a:lnTo>
                    <a:pt x="61341" y="1177734"/>
                  </a:lnTo>
                  <a:lnTo>
                    <a:pt x="65048" y="1086306"/>
                  </a:lnTo>
                  <a:lnTo>
                    <a:pt x="75978" y="996888"/>
                  </a:lnTo>
                  <a:lnTo>
                    <a:pt x="93842" y="909771"/>
                  </a:lnTo>
                  <a:lnTo>
                    <a:pt x="118348" y="825244"/>
                  </a:lnTo>
                  <a:lnTo>
                    <a:pt x="149209" y="743597"/>
                  </a:lnTo>
                  <a:lnTo>
                    <a:pt x="186134" y="665119"/>
                  </a:lnTo>
                  <a:lnTo>
                    <a:pt x="228834" y="590099"/>
                  </a:lnTo>
                  <a:lnTo>
                    <a:pt x="277020" y="518828"/>
                  </a:lnTo>
                  <a:lnTo>
                    <a:pt x="330401" y="451594"/>
                  </a:lnTo>
                  <a:lnTo>
                    <a:pt x="388689" y="388688"/>
                  </a:lnTo>
                  <a:lnTo>
                    <a:pt x="451594" y="330398"/>
                  </a:lnTo>
                  <a:lnTo>
                    <a:pt x="518827" y="277015"/>
                  </a:lnTo>
                  <a:lnTo>
                    <a:pt x="590097" y="228828"/>
                  </a:lnTo>
                  <a:lnTo>
                    <a:pt x="665116" y="186127"/>
                  </a:lnTo>
                  <a:lnTo>
                    <a:pt x="743594" y="149200"/>
                  </a:lnTo>
                  <a:lnTo>
                    <a:pt x="825241" y="118338"/>
                  </a:lnTo>
                  <a:lnTo>
                    <a:pt x="909768" y="93830"/>
                  </a:lnTo>
                  <a:lnTo>
                    <a:pt x="996886" y="75966"/>
                  </a:lnTo>
                  <a:lnTo>
                    <a:pt x="1086304" y="65036"/>
                  </a:lnTo>
                  <a:lnTo>
                    <a:pt x="1177734" y="61328"/>
                  </a:lnTo>
                  <a:lnTo>
                    <a:pt x="1552721" y="61328"/>
                  </a:lnTo>
                  <a:lnTo>
                    <a:pt x="1549582" y="60141"/>
                  </a:lnTo>
                  <a:lnTo>
                    <a:pt x="1460413" y="34287"/>
                  </a:lnTo>
                  <a:lnTo>
                    <a:pt x="1368512" y="15442"/>
                  </a:lnTo>
                  <a:lnTo>
                    <a:pt x="1274184" y="3911"/>
                  </a:lnTo>
                  <a:lnTo>
                    <a:pt x="1177734" y="0"/>
                  </a:lnTo>
                  <a:close/>
                </a:path>
                <a:path w="2355850" h="2355850">
                  <a:moveTo>
                    <a:pt x="1552721" y="61328"/>
                  </a:moveTo>
                  <a:lnTo>
                    <a:pt x="1177734" y="61328"/>
                  </a:lnTo>
                  <a:lnTo>
                    <a:pt x="1269161" y="65036"/>
                  </a:lnTo>
                  <a:lnTo>
                    <a:pt x="1358576" y="75966"/>
                  </a:lnTo>
                  <a:lnTo>
                    <a:pt x="1445692" y="93830"/>
                  </a:lnTo>
                  <a:lnTo>
                    <a:pt x="1530217" y="118338"/>
                  </a:lnTo>
                  <a:lnTo>
                    <a:pt x="1611864" y="149200"/>
                  </a:lnTo>
                  <a:lnTo>
                    <a:pt x="1690341" y="186127"/>
                  </a:lnTo>
                  <a:lnTo>
                    <a:pt x="1765360" y="228828"/>
                  </a:lnTo>
                  <a:lnTo>
                    <a:pt x="1836630" y="277015"/>
                  </a:lnTo>
                  <a:lnTo>
                    <a:pt x="1903863" y="330398"/>
                  </a:lnTo>
                  <a:lnTo>
                    <a:pt x="1966769" y="388688"/>
                  </a:lnTo>
                  <a:lnTo>
                    <a:pt x="2025058" y="451594"/>
                  </a:lnTo>
                  <a:lnTo>
                    <a:pt x="2078441" y="518828"/>
                  </a:lnTo>
                  <a:lnTo>
                    <a:pt x="2126628" y="590099"/>
                  </a:lnTo>
                  <a:lnTo>
                    <a:pt x="2169329" y="665119"/>
                  </a:lnTo>
                  <a:lnTo>
                    <a:pt x="2206255" y="743597"/>
                  </a:lnTo>
                  <a:lnTo>
                    <a:pt x="2237117" y="825244"/>
                  </a:lnTo>
                  <a:lnTo>
                    <a:pt x="2261625" y="909771"/>
                  </a:lnTo>
                  <a:lnTo>
                    <a:pt x="2279489" y="996888"/>
                  </a:lnTo>
                  <a:lnTo>
                    <a:pt x="2290420" y="1086306"/>
                  </a:lnTo>
                  <a:lnTo>
                    <a:pt x="2294128" y="1177734"/>
                  </a:lnTo>
                  <a:lnTo>
                    <a:pt x="2290420" y="1269162"/>
                  </a:lnTo>
                  <a:lnTo>
                    <a:pt x="2279489" y="1358579"/>
                  </a:lnTo>
                  <a:lnTo>
                    <a:pt x="2261625" y="1445696"/>
                  </a:lnTo>
                  <a:lnTo>
                    <a:pt x="2237117" y="1530222"/>
                  </a:lnTo>
                  <a:lnTo>
                    <a:pt x="2206255" y="1611869"/>
                  </a:lnTo>
                  <a:lnTo>
                    <a:pt x="2169329" y="1690347"/>
                  </a:lnTo>
                  <a:lnTo>
                    <a:pt x="2126628" y="1765365"/>
                  </a:lnTo>
                  <a:lnTo>
                    <a:pt x="2078441" y="1836636"/>
                  </a:lnTo>
                  <a:lnTo>
                    <a:pt x="2025058" y="1903869"/>
                  </a:lnTo>
                  <a:lnTo>
                    <a:pt x="1966769" y="1966774"/>
                  </a:lnTo>
                  <a:lnTo>
                    <a:pt x="1903863" y="2025062"/>
                  </a:lnTo>
                  <a:lnTo>
                    <a:pt x="1836630" y="2078445"/>
                  </a:lnTo>
                  <a:lnTo>
                    <a:pt x="1765360" y="2126631"/>
                  </a:lnTo>
                  <a:lnTo>
                    <a:pt x="1690341" y="2169331"/>
                  </a:lnTo>
                  <a:lnTo>
                    <a:pt x="1611864" y="2206257"/>
                  </a:lnTo>
                  <a:lnTo>
                    <a:pt x="1530217" y="2237118"/>
                  </a:lnTo>
                  <a:lnTo>
                    <a:pt x="1445692" y="2261626"/>
                  </a:lnTo>
                  <a:lnTo>
                    <a:pt x="1358576" y="2279489"/>
                  </a:lnTo>
                  <a:lnTo>
                    <a:pt x="1269161" y="2290420"/>
                  </a:lnTo>
                  <a:lnTo>
                    <a:pt x="1177734" y="2294128"/>
                  </a:lnTo>
                  <a:lnTo>
                    <a:pt x="1552725" y="2294128"/>
                  </a:lnTo>
                  <a:lnTo>
                    <a:pt x="1635714" y="2262759"/>
                  </a:lnTo>
                  <a:lnTo>
                    <a:pt x="1718503" y="2223805"/>
                  </a:lnTo>
                  <a:lnTo>
                    <a:pt x="1797642" y="2178759"/>
                  </a:lnTo>
                  <a:lnTo>
                    <a:pt x="1872828" y="2127925"/>
                  </a:lnTo>
                  <a:lnTo>
                    <a:pt x="1943754" y="2071611"/>
                  </a:lnTo>
                  <a:lnTo>
                    <a:pt x="2010116" y="2010121"/>
                  </a:lnTo>
                  <a:lnTo>
                    <a:pt x="2071607" y="1943760"/>
                  </a:lnTo>
                  <a:lnTo>
                    <a:pt x="2127922" y="1872834"/>
                  </a:lnTo>
                  <a:lnTo>
                    <a:pt x="2178756" y="1797648"/>
                  </a:lnTo>
                  <a:lnTo>
                    <a:pt x="2223802" y="1718508"/>
                  </a:lnTo>
                  <a:lnTo>
                    <a:pt x="2262757" y="1635719"/>
                  </a:lnTo>
                  <a:lnTo>
                    <a:pt x="2295314" y="1549587"/>
                  </a:lnTo>
                  <a:lnTo>
                    <a:pt x="2321168" y="1460417"/>
                  </a:lnTo>
                  <a:lnTo>
                    <a:pt x="2340013" y="1368515"/>
                  </a:lnTo>
                  <a:lnTo>
                    <a:pt x="2351544" y="1274185"/>
                  </a:lnTo>
                  <a:lnTo>
                    <a:pt x="2355456" y="1177734"/>
                  </a:lnTo>
                  <a:lnTo>
                    <a:pt x="2351544" y="1081283"/>
                  </a:lnTo>
                  <a:lnTo>
                    <a:pt x="2340013" y="986953"/>
                  </a:lnTo>
                  <a:lnTo>
                    <a:pt x="2321168" y="895050"/>
                  </a:lnTo>
                  <a:lnTo>
                    <a:pt x="2295314" y="805879"/>
                  </a:lnTo>
                  <a:lnTo>
                    <a:pt x="2262757" y="719747"/>
                  </a:lnTo>
                  <a:lnTo>
                    <a:pt x="2223802" y="636957"/>
                  </a:lnTo>
                  <a:lnTo>
                    <a:pt x="2178756" y="557816"/>
                  </a:lnTo>
                  <a:lnTo>
                    <a:pt x="2127922" y="482630"/>
                  </a:lnTo>
                  <a:lnTo>
                    <a:pt x="2071607" y="411703"/>
                  </a:lnTo>
                  <a:lnTo>
                    <a:pt x="2010116" y="345341"/>
                  </a:lnTo>
                  <a:lnTo>
                    <a:pt x="1943754" y="283850"/>
                  </a:lnTo>
                  <a:lnTo>
                    <a:pt x="1872828" y="227534"/>
                  </a:lnTo>
                  <a:lnTo>
                    <a:pt x="1797642" y="176700"/>
                  </a:lnTo>
                  <a:lnTo>
                    <a:pt x="1718503" y="131653"/>
                  </a:lnTo>
                  <a:lnTo>
                    <a:pt x="1635714" y="92698"/>
                  </a:lnTo>
                  <a:lnTo>
                    <a:pt x="1552721" y="61328"/>
                  </a:lnTo>
                  <a:close/>
                </a:path>
              </a:pathLst>
            </a:custGeom>
            <a:solidFill>
              <a:srgbClr val="2641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bk object 69"/>
            <p:cNvSpPr/>
            <p:nvPr/>
          </p:nvSpPr>
          <p:spPr>
            <a:xfrm>
              <a:off x="2486219" y="2437405"/>
              <a:ext cx="189230" cy="235585"/>
            </a:xfrm>
            <a:custGeom>
              <a:avLst/>
              <a:gdLst/>
              <a:ahLst/>
              <a:cxnLst/>
              <a:rect l="l" t="t" r="r" b="b"/>
              <a:pathLst>
                <a:path w="189230" h="235585">
                  <a:moveTo>
                    <a:pt x="84124" y="0"/>
                  </a:moveTo>
                  <a:lnTo>
                    <a:pt x="0" y="112458"/>
                  </a:lnTo>
                  <a:lnTo>
                    <a:pt x="164045" y="235191"/>
                  </a:lnTo>
                  <a:lnTo>
                    <a:pt x="188823" y="202082"/>
                  </a:lnTo>
                  <a:lnTo>
                    <a:pt x="119113" y="149910"/>
                  </a:lnTo>
                  <a:lnTo>
                    <a:pt x="134638" y="129159"/>
                  </a:lnTo>
                  <a:lnTo>
                    <a:pt x="91363" y="129159"/>
                  </a:lnTo>
                  <a:lnTo>
                    <a:pt x="52527" y="100101"/>
                  </a:lnTo>
                  <a:lnTo>
                    <a:pt x="111886" y="20764"/>
                  </a:lnTo>
                  <a:lnTo>
                    <a:pt x="84124" y="0"/>
                  </a:lnTo>
                  <a:close/>
                </a:path>
                <a:path w="189230" h="235585">
                  <a:moveTo>
                    <a:pt x="142595" y="60667"/>
                  </a:moveTo>
                  <a:lnTo>
                    <a:pt x="91363" y="129159"/>
                  </a:lnTo>
                  <a:lnTo>
                    <a:pt x="134638" y="129159"/>
                  </a:lnTo>
                  <a:lnTo>
                    <a:pt x="170345" y="81432"/>
                  </a:lnTo>
                  <a:lnTo>
                    <a:pt x="142595" y="60667"/>
                  </a:lnTo>
                  <a:close/>
                </a:path>
              </a:pathLst>
            </a:custGeom>
            <a:solidFill>
              <a:srgbClr val="2641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bk object 70"/>
            <p:cNvSpPr/>
            <p:nvPr/>
          </p:nvSpPr>
          <p:spPr>
            <a:xfrm>
              <a:off x="2606004" y="2278960"/>
              <a:ext cx="236220" cy="234950"/>
            </a:xfrm>
            <a:custGeom>
              <a:avLst/>
              <a:gdLst/>
              <a:ahLst/>
              <a:cxnLst/>
              <a:rect l="l" t="t" r="r" b="b"/>
              <a:pathLst>
                <a:path w="236219" h="234950">
                  <a:moveTo>
                    <a:pt x="29095" y="86741"/>
                  </a:moveTo>
                  <a:lnTo>
                    <a:pt x="0" y="116141"/>
                  </a:lnTo>
                  <a:lnTo>
                    <a:pt x="77685" y="193014"/>
                  </a:lnTo>
                  <a:lnTo>
                    <a:pt x="108562" y="220501"/>
                  </a:lnTo>
                  <a:lnTo>
                    <a:pt x="141689" y="234404"/>
                  </a:lnTo>
                  <a:lnTo>
                    <a:pt x="153751" y="234255"/>
                  </a:lnTo>
                  <a:lnTo>
                    <a:pt x="197713" y="211990"/>
                  </a:lnTo>
                  <a:lnTo>
                    <a:pt x="215907" y="192655"/>
                  </a:lnTo>
                  <a:lnTo>
                    <a:pt x="147499" y="192655"/>
                  </a:lnTo>
                  <a:lnTo>
                    <a:pt x="136824" y="189730"/>
                  </a:lnTo>
                  <a:lnTo>
                    <a:pt x="128645" y="183845"/>
                  </a:lnTo>
                  <a:lnTo>
                    <a:pt x="119295" y="175685"/>
                  </a:lnTo>
                  <a:lnTo>
                    <a:pt x="108010" y="164817"/>
                  </a:lnTo>
                  <a:lnTo>
                    <a:pt x="29095" y="86741"/>
                  </a:lnTo>
                  <a:close/>
                </a:path>
                <a:path w="236219" h="234950">
                  <a:moveTo>
                    <a:pt x="114909" y="0"/>
                  </a:moveTo>
                  <a:lnTo>
                    <a:pt x="85813" y="29413"/>
                  </a:lnTo>
                  <a:lnTo>
                    <a:pt x="166382" y="109131"/>
                  </a:lnTo>
                  <a:lnTo>
                    <a:pt x="177512" y="120483"/>
                  </a:lnTo>
                  <a:lnTo>
                    <a:pt x="185681" y="129586"/>
                  </a:lnTo>
                  <a:lnTo>
                    <a:pt x="193322" y="142627"/>
                  </a:lnTo>
                  <a:lnTo>
                    <a:pt x="194971" y="153191"/>
                  </a:lnTo>
                  <a:lnTo>
                    <a:pt x="191707" y="164821"/>
                  </a:lnTo>
                  <a:lnTo>
                    <a:pt x="184276" y="175716"/>
                  </a:lnTo>
                  <a:lnTo>
                    <a:pt x="172419" y="186196"/>
                  </a:lnTo>
                  <a:lnTo>
                    <a:pt x="162155" y="191671"/>
                  </a:lnTo>
                  <a:lnTo>
                    <a:pt x="147499" y="192655"/>
                  </a:lnTo>
                  <a:lnTo>
                    <a:pt x="215907" y="192655"/>
                  </a:lnTo>
                  <a:lnTo>
                    <a:pt x="234346" y="158571"/>
                  </a:lnTo>
                  <a:lnTo>
                    <a:pt x="235842" y="146599"/>
                  </a:lnTo>
                  <a:lnTo>
                    <a:pt x="233801" y="132394"/>
                  </a:lnTo>
                  <a:lnTo>
                    <a:pt x="208092" y="92938"/>
                  </a:lnTo>
                  <a:lnTo>
                    <a:pt x="198628" y="82947"/>
                  </a:lnTo>
                  <a:lnTo>
                    <a:pt x="114909" y="0"/>
                  </a:lnTo>
                  <a:close/>
                </a:path>
              </a:pathLst>
            </a:custGeom>
            <a:solidFill>
              <a:srgbClr val="2641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bk object 71"/>
            <p:cNvSpPr/>
            <p:nvPr/>
          </p:nvSpPr>
          <p:spPr>
            <a:xfrm>
              <a:off x="2771675" y="2165614"/>
              <a:ext cx="226060" cy="233679"/>
            </a:xfrm>
            <a:custGeom>
              <a:avLst/>
              <a:gdLst/>
              <a:ahLst/>
              <a:cxnLst/>
              <a:rect l="l" t="t" r="r" b="b"/>
              <a:pathLst>
                <a:path w="226060" h="233680">
                  <a:moveTo>
                    <a:pt x="110400" y="0"/>
                  </a:moveTo>
                  <a:lnTo>
                    <a:pt x="66611" y="19494"/>
                  </a:lnTo>
                  <a:lnTo>
                    <a:pt x="0" y="69007"/>
                  </a:lnTo>
                  <a:lnTo>
                    <a:pt x="122402" y="233294"/>
                  </a:lnTo>
                  <a:lnTo>
                    <a:pt x="184823" y="186799"/>
                  </a:lnTo>
                  <a:lnTo>
                    <a:pt x="192186" y="180894"/>
                  </a:lnTo>
                  <a:lnTo>
                    <a:pt x="134950" y="180894"/>
                  </a:lnTo>
                  <a:lnTo>
                    <a:pt x="53873" y="72093"/>
                  </a:lnTo>
                  <a:lnTo>
                    <a:pt x="92292" y="44827"/>
                  </a:lnTo>
                  <a:lnTo>
                    <a:pt x="116947" y="38423"/>
                  </a:lnTo>
                  <a:lnTo>
                    <a:pt x="190676" y="38423"/>
                  </a:lnTo>
                  <a:lnTo>
                    <a:pt x="182769" y="29725"/>
                  </a:lnTo>
                  <a:lnTo>
                    <a:pt x="148444" y="6036"/>
                  </a:lnTo>
                  <a:lnTo>
                    <a:pt x="122893" y="11"/>
                  </a:lnTo>
                  <a:lnTo>
                    <a:pt x="110400" y="0"/>
                  </a:lnTo>
                  <a:close/>
                </a:path>
                <a:path w="226060" h="233680">
                  <a:moveTo>
                    <a:pt x="190676" y="38423"/>
                  </a:moveTo>
                  <a:lnTo>
                    <a:pt x="116947" y="38423"/>
                  </a:lnTo>
                  <a:lnTo>
                    <a:pt x="125171" y="39365"/>
                  </a:lnTo>
                  <a:lnTo>
                    <a:pt x="132270" y="42311"/>
                  </a:lnTo>
                  <a:lnTo>
                    <a:pt x="167589" y="78761"/>
                  </a:lnTo>
                  <a:lnTo>
                    <a:pt x="187032" y="115832"/>
                  </a:lnTo>
                  <a:lnTo>
                    <a:pt x="188061" y="123274"/>
                  </a:lnTo>
                  <a:lnTo>
                    <a:pt x="185750" y="134971"/>
                  </a:lnTo>
                  <a:lnTo>
                    <a:pt x="182981" y="140584"/>
                  </a:lnTo>
                  <a:lnTo>
                    <a:pt x="178600" y="145931"/>
                  </a:lnTo>
                  <a:lnTo>
                    <a:pt x="175285" y="150046"/>
                  </a:lnTo>
                  <a:lnTo>
                    <a:pt x="168973" y="155545"/>
                  </a:lnTo>
                  <a:lnTo>
                    <a:pt x="134950" y="180894"/>
                  </a:lnTo>
                  <a:lnTo>
                    <a:pt x="192186" y="180894"/>
                  </a:lnTo>
                  <a:lnTo>
                    <a:pt x="221350" y="143639"/>
                  </a:lnTo>
                  <a:lnTo>
                    <a:pt x="225859" y="121215"/>
                  </a:lnTo>
                  <a:lnTo>
                    <a:pt x="225435" y="108843"/>
                  </a:lnTo>
                  <a:lnTo>
                    <a:pt x="213459" y="71458"/>
                  </a:lnTo>
                  <a:lnTo>
                    <a:pt x="191684" y="39532"/>
                  </a:lnTo>
                  <a:lnTo>
                    <a:pt x="190676" y="38423"/>
                  </a:lnTo>
                  <a:close/>
                </a:path>
              </a:pathLst>
            </a:custGeom>
            <a:solidFill>
              <a:srgbClr val="2641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bk object 72"/>
            <p:cNvSpPr/>
            <p:nvPr/>
          </p:nvSpPr>
          <p:spPr>
            <a:xfrm>
              <a:off x="3011571" y="2052556"/>
              <a:ext cx="207645" cy="239395"/>
            </a:xfrm>
            <a:custGeom>
              <a:avLst/>
              <a:gdLst/>
              <a:ahLst/>
              <a:cxnLst/>
              <a:rect l="l" t="t" r="r" b="b"/>
              <a:pathLst>
                <a:path w="207644" h="239394">
                  <a:moveTo>
                    <a:pt x="38608" y="0"/>
                  </a:moveTo>
                  <a:lnTo>
                    <a:pt x="0" y="20561"/>
                  </a:lnTo>
                  <a:lnTo>
                    <a:pt x="25844" y="238912"/>
                  </a:lnTo>
                  <a:lnTo>
                    <a:pt x="64592" y="218262"/>
                  </a:lnTo>
                  <a:lnTo>
                    <a:pt x="57645" y="169240"/>
                  </a:lnTo>
                  <a:lnTo>
                    <a:pt x="126115" y="132803"/>
                  </a:lnTo>
                  <a:lnTo>
                    <a:pt x="52641" y="132803"/>
                  </a:lnTo>
                  <a:lnTo>
                    <a:pt x="41338" y="52692"/>
                  </a:lnTo>
                  <a:lnTo>
                    <a:pt x="101077" y="52692"/>
                  </a:lnTo>
                  <a:lnTo>
                    <a:pt x="38608" y="0"/>
                  </a:lnTo>
                  <a:close/>
                </a:path>
                <a:path w="207644" h="239394">
                  <a:moveTo>
                    <a:pt x="193645" y="130771"/>
                  </a:moveTo>
                  <a:lnTo>
                    <a:pt x="129933" y="130771"/>
                  </a:lnTo>
                  <a:lnTo>
                    <a:pt x="167589" y="163436"/>
                  </a:lnTo>
                  <a:lnTo>
                    <a:pt x="207302" y="142290"/>
                  </a:lnTo>
                  <a:lnTo>
                    <a:pt x="193645" y="130771"/>
                  </a:lnTo>
                  <a:close/>
                </a:path>
                <a:path w="207644" h="239394">
                  <a:moveTo>
                    <a:pt x="101077" y="52692"/>
                  </a:moveTo>
                  <a:lnTo>
                    <a:pt x="41338" y="52692"/>
                  </a:lnTo>
                  <a:lnTo>
                    <a:pt x="101981" y="106527"/>
                  </a:lnTo>
                  <a:lnTo>
                    <a:pt x="52641" y="132803"/>
                  </a:lnTo>
                  <a:lnTo>
                    <a:pt x="126115" y="132803"/>
                  </a:lnTo>
                  <a:lnTo>
                    <a:pt x="129933" y="130771"/>
                  </a:lnTo>
                  <a:lnTo>
                    <a:pt x="193645" y="130771"/>
                  </a:lnTo>
                  <a:lnTo>
                    <a:pt x="101077" y="52692"/>
                  </a:lnTo>
                  <a:close/>
                </a:path>
              </a:pathLst>
            </a:custGeom>
            <a:solidFill>
              <a:srgbClr val="2641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bk object 73"/>
            <p:cNvSpPr/>
            <p:nvPr/>
          </p:nvSpPr>
          <p:spPr>
            <a:xfrm>
              <a:off x="3165169" y="1942935"/>
              <a:ext cx="221615" cy="247650"/>
            </a:xfrm>
            <a:custGeom>
              <a:avLst/>
              <a:gdLst/>
              <a:ahLst/>
              <a:cxnLst/>
              <a:rect l="l" t="t" r="r" b="b"/>
              <a:pathLst>
                <a:path w="221614" h="247650">
                  <a:moveTo>
                    <a:pt x="37960" y="40639"/>
                  </a:moveTo>
                  <a:lnTo>
                    <a:pt x="0" y="54038"/>
                  </a:lnTo>
                  <a:lnTo>
                    <a:pt x="68110" y="247243"/>
                  </a:lnTo>
                  <a:lnTo>
                    <a:pt x="104355" y="234467"/>
                  </a:lnTo>
                  <a:lnTo>
                    <a:pt x="59931" y="108470"/>
                  </a:lnTo>
                  <a:lnTo>
                    <a:pt x="121475" y="108470"/>
                  </a:lnTo>
                  <a:lnTo>
                    <a:pt x="37960" y="40639"/>
                  </a:lnTo>
                  <a:close/>
                </a:path>
                <a:path w="221614" h="247650">
                  <a:moveTo>
                    <a:pt x="121475" y="108470"/>
                  </a:moveTo>
                  <a:lnTo>
                    <a:pt x="59931" y="108470"/>
                  </a:lnTo>
                  <a:lnTo>
                    <a:pt x="182257" y="207009"/>
                  </a:lnTo>
                  <a:lnTo>
                    <a:pt x="221386" y="193205"/>
                  </a:lnTo>
                  <a:lnTo>
                    <a:pt x="203270" y="141808"/>
                  </a:lnTo>
                  <a:lnTo>
                    <a:pt x="162521" y="141808"/>
                  </a:lnTo>
                  <a:lnTo>
                    <a:pt x="121475" y="108470"/>
                  </a:lnTo>
                  <a:close/>
                </a:path>
                <a:path w="221614" h="247650">
                  <a:moveTo>
                    <a:pt x="153289" y="0"/>
                  </a:moveTo>
                  <a:lnTo>
                    <a:pt x="117043" y="12763"/>
                  </a:lnTo>
                  <a:lnTo>
                    <a:pt x="162521" y="141808"/>
                  </a:lnTo>
                  <a:lnTo>
                    <a:pt x="203270" y="141808"/>
                  </a:lnTo>
                  <a:lnTo>
                    <a:pt x="153289" y="0"/>
                  </a:lnTo>
                  <a:close/>
                </a:path>
              </a:pathLst>
            </a:custGeom>
            <a:solidFill>
              <a:srgbClr val="2641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bk object 74"/>
            <p:cNvSpPr/>
            <p:nvPr/>
          </p:nvSpPr>
          <p:spPr>
            <a:xfrm>
              <a:off x="3469504" y="1884617"/>
              <a:ext cx="179705" cy="219075"/>
            </a:xfrm>
            <a:custGeom>
              <a:avLst/>
              <a:gdLst/>
              <a:ahLst/>
              <a:cxnLst/>
              <a:rect l="l" t="t" r="r" b="b"/>
              <a:pathLst>
                <a:path w="179704" h="219075">
                  <a:moveTo>
                    <a:pt x="40995" y="16243"/>
                  </a:moveTo>
                  <a:lnTo>
                    <a:pt x="0" y="21755"/>
                  </a:lnTo>
                  <a:lnTo>
                    <a:pt x="14623" y="130607"/>
                  </a:lnTo>
                  <a:lnTo>
                    <a:pt x="16909" y="145781"/>
                  </a:lnTo>
                  <a:lnTo>
                    <a:pt x="31271" y="191958"/>
                  </a:lnTo>
                  <a:lnTo>
                    <a:pt x="73095" y="217471"/>
                  </a:lnTo>
                  <a:lnTo>
                    <a:pt x="85048" y="218642"/>
                  </a:lnTo>
                  <a:lnTo>
                    <a:pt x="97811" y="218423"/>
                  </a:lnTo>
                  <a:lnTo>
                    <a:pt x="140270" y="209900"/>
                  </a:lnTo>
                  <a:lnTo>
                    <a:pt x="172280" y="182559"/>
                  </a:lnTo>
                  <a:lnTo>
                    <a:pt x="93780" y="182559"/>
                  </a:lnTo>
                  <a:lnTo>
                    <a:pt x="82454" y="180679"/>
                  </a:lnTo>
                  <a:lnTo>
                    <a:pt x="69812" y="172196"/>
                  </a:lnTo>
                  <a:lnTo>
                    <a:pt x="63106" y="163022"/>
                  </a:lnTo>
                  <a:lnTo>
                    <a:pt x="60373" y="153591"/>
                  </a:lnTo>
                  <a:lnTo>
                    <a:pt x="57986" y="141299"/>
                  </a:lnTo>
                  <a:lnTo>
                    <a:pt x="40995" y="16243"/>
                  </a:lnTo>
                  <a:close/>
                </a:path>
                <a:path w="179704" h="219075">
                  <a:moveTo>
                    <a:pt x="161912" y="0"/>
                  </a:moveTo>
                  <a:lnTo>
                    <a:pt x="120916" y="5511"/>
                  </a:lnTo>
                  <a:lnTo>
                    <a:pt x="136004" y="117830"/>
                  </a:lnTo>
                  <a:lnTo>
                    <a:pt x="137881" y="133593"/>
                  </a:lnTo>
                  <a:lnTo>
                    <a:pt x="121851" y="177527"/>
                  </a:lnTo>
                  <a:lnTo>
                    <a:pt x="93780" y="182559"/>
                  </a:lnTo>
                  <a:lnTo>
                    <a:pt x="172280" y="182559"/>
                  </a:lnTo>
                  <a:lnTo>
                    <a:pt x="175219" y="177345"/>
                  </a:lnTo>
                  <a:lnTo>
                    <a:pt x="178868" y="165861"/>
                  </a:lnTo>
                  <a:lnTo>
                    <a:pt x="179646" y="154640"/>
                  </a:lnTo>
                  <a:lnTo>
                    <a:pt x="179547" y="141299"/>
                  </a:lnTo>
                  <a:lnTo>
                    <a:pt x="178930" y="130607"/>
                  </a:lnTo>
                  <a:lnTo>
                    <a:pt x="177553" y="116969"/>
                  </a:lnTo>
                  <a:lnTo>
                    <a:pt x="161912" y="0"/>
                  </a:lnTo>
                  <a:close/>
                </a:path>
              </a:pathLst>
            </a:custGeom>
            <a:solidFill>
              <a:srgbClr val="2641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bk object 75"/>
            <p:cNvSpPr/>
            <p:nvPr/>
          </p:nvSpPr>
          <p:spPr>
            <a:xfrm>
              <a:off x="3695665" y="1880515"/>
              <a:ext cx="166370" cy="207645"/>
            </a:xfrm>
            <a:custGeom>
              <a:avLst/>
              <a:gdLst/>
              <a:ahLst/>
              <a:cxnLst/>
              <a:rect l="l" t="t" r="r" b="b"/>
              <a:pathLst>
                <a:path w="166370" h="207644">
                  <a:moveTo>
                    <a:pt x="85676" y="71894"/>
                  </a:moveTo>
                  <a:lnTo>
                    <a:pt x="40639" y="71894"/>
                  </a:lnTo>
                  <a:lnTo>
                    <a:pt x="120992" y="206844"/>
                  </a:lnTo>
                  <a:lnTo>
                    <a:pt x="162509" y="207556"/>
                  </a:lnTo>
                  <a:lnTo>
                    <a:pt x="163646" y="138861"/>
                  </a:lnTo>
                  <a:lnTo>
                    <a:pt x="125196" y="138861"/>
                  </a:lnTo>
                  <a:lnTo>
                    <a:pt x="85676" y="71894"/>
                  </a:lnTo>
                  <a:close/>
                </a:path>
                <a:path w="166370" h="207644">
                  <a:moveTo>
                    <a:pt x="3403" y="0"/>
                  </a:moveTo>
                  <a:lnTo>
                    <a:pt x="0" y="204838"/>
                  </a:lnTo>
                  <a:lnTo>
                    <a:pt x="38417" y="205485"/>
                  </a:lnTo>
                  <a:lnTo>
                    <a:pt x="40639" y="71894"/>
                  </a:lnTo>
                  <a:lnTo>
                    <a:pt x="85676" y="71894"/>
                  </a:lnTo>
                  <a:lnTo>
                    <a:pt x="43637" y="660"/>
                  </a:lnTo>
                  <a:lnTo>
                    <a:pt x="3403" y="0"/>
                  </a:lnTo>
                  <a:close/>
                </a:path>
                <a:path w="166370" h="207644">
                  <a:moveTo>
                    <a:pt x="127495" y="2057"/>
                  </a:moveTo>
                  <a:lnTo>
                    <a:pt x="125196" y="138861"/>
                  </a:lnTo>
                  <a:lnTo>
                    <a:pt x="163646" y="138861"/>
                  </a:lnTo>
                  <a:lnTo>
                    <a:pt x="165900" y="2692"/>
                  </a:lnTo>
                  <a:lnTo>
                    <a:pt x="127495" y="2057"/>
                  </a:lnTo>
                  <a:close/>
                </a:path>
              </a:pathLst>
            </a:custGeom>
            <a:solidFill>
              <a:srgbClr val="2641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bk object 76"/>
            <p:cNvSpPr/>
            <p:nvPr/>
          </p:nvSpPr>
          <p:spPr>
            <a:xfrm>
              <a:off x="3895025" y="1890357"/>
              <a:ext cx="66040" cy="208915"/>
            </a:xfrm>
            <a:custGeom>
              <a:avLst/>
              <a:gdLst/>
              <a:ahLst/>
              <a:cxnLst/>
              <a:rect l="l" t="t" r="r" b="b"/>
              <a:pathLst>
                <a:path w="66039" h="208914">
                  <a:moveTo>
                    <a:pt x="24752" y="0"/>
                  </a:moveTo>
                  <a:lnTo>
                    <a:pt x="0" y="203390"/>
                  </a:lnTo>
                  <a:lnTo>
                    <a:pt x="41071" y="208394"/>
                  </a:lnTo>
                  <a:lnTo>
                    <a:pt x="65824" y="5003"/>
                  </a:lnTo>
                  <a:lnTo>
                    <a:pt x="24752" y="0"/>
                  </a:lnTo>
                  <a:close/>
                </a:path>
              </a:pathLst>
            </a:custGeom>
            <a:solidFill>
              <a:srgbClr val="2641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bk object 77"/>
            <p:cNvSpPr/>
            <p:nvPr/>
          </p:nvSpPr>
          <p:spPr>
            <a:xfrm>
              <a:off x="3994992" y="1897508"/>
              <a:ext cx="186690" cy="226060"/>
            </a:xfrm>
            <a:custGeom>
              <a:avLst/>
              <a:gdLst/>
              <a:ahLst/>
              <a:cxnLst/>
              <a:rect l="l" t="t" r="r" b="b"/>
              <a:pathLst>
                <a:path w="186689" h="226060">
                  <a:moveTo>
                    <a:pt x="0" y="0"/>
                  </a:moveTo>
                  <a:lnTo>
                    <a:pt x="26797" y="215925"/>
                  </a:lnTo>
                  <a:lnTo>
                    <a:pt x="69900" y="225564"/>
                  </a:lnTo>
                  <a:lnTo>
                    <a:pt x="105593" y="169087"/>
                  </a:lnTo>
                  <a:lnTo>
                    <a:pt x="61315" y="169087"/>
                  </a:lnTo>
                  <a:lnTo>
                    <a:pt x="43764" y="9778"/>
                  </a:lnTo>
                  <a:lnTo>
                    <a:pt x="0" y="0"/>
                  </a:lnTo>
                  <a:close/>
                </a:path>
                <a:path w="186689" h="226060">
                  <a:moveTo>
                    <a:pt x="143357" y="32042"/>
                  </a:moveTo>
                  <a:lnTo>
                    <a:pt x="61315" y="169087"/>
                  </a:lnTo>
                  <a:lnTo>
                    <a:pt x="105593" y="169087"/>
                  </a:lnTo>
                  <a:lnTo>
                    <a:pt x="186169" y="41592"/>
                  </a:lnTo>
                  <a:lnTo>
                    <a:pt x="143357" y="32042"/>
                  </a:lnTo>
                  <a:close/>
                </a:path>
              </a:pathLst>
            </a:custGeom>
            <a:solidFill>
              <a:srgbClr val="2641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bk object 78"/>
            <p:cNvSpPr/>
            <p:nvPr/>
          </p:nvSpPr>
          <p:spPr>
            <a:xfrm>
              <a:off x="4150062" y="1952759"/>
              <a:ext cx="214629" cy="247015"/>
            </a:xfrm>
            <a:custGeom>
              <a:avLst/>
              <a:gdLst/>
              <a:ahLst/>
              <a:cxnLst/>
              <a:rect l="l" t="t" r="r" b="b"/>
              <a:pathLst>
                <a:path w="214629" h="247014">
                  <a:moveTo>
                    <a:pt x="71882" y="0"/>
                  </a:moveTo>
                  <a:lnTo>
                    <a:pt x="0" y="191846"/>
                  </a:lnTo>
                  <a:lnTo>
                    <a:pt x="145923" y="246519"/>
                  </a:lnTo>
                  <a:lnTo>
                    <a:pt x="158026" y="214198"/>
                  </a:lnTo>
                  <a:lnTo>
                    <a:pt x="50863" y="174028"/>
                  </a:lnTo>
                  <a:lnTo>
                    <a:pt x="70408" y="121818"/>
                  </a:lnTo>
                  <a:lnTo>
                    <a:pt x="168777" y="121818"/>
                  </a:lnTo>
                  <a:lnTo>
                    <a:pt x="82537" y="89496"/>
                  </a:lnTo>
                  <a:lnTo>
                    <a:pt x="98463" y="46964"/>
                  </a:lnTo>
                  <a:lnTo>
                    <a:pt x="197221" y="46964"/>
                  </a:lnTo>
                  <a:lnTo>
                    <a:pt x="71882" y="0"/>
                  </a:lnTo>
                  <a:close/>
                </a:path>
                <a:path w="214629" h="247014">
                  <a:moveTo>
                    <a:pt x="168777" y="121818"/>
                  </a:moveTo>
                  <a:lnTo>
                    <a:pt x="70408" y="121818"/>
                  </a:lnTo>
                  <a:lnTo>
                    <a:pt x="166725" y="157886"/>
                  </a:lnTo>
                  <a:lnTo>
                    <a:pt x="178841" y="125590"/>
                  </a:lnTo>
                  <a:lnTo>
                    <a:pt x="168777" y="121818"/>
                  </a:lnTo>
                  <a:close/>
                </a:path>
                <a:path w="214629" h="247014">
                  <a:moveTo>
                    <a:pt x="197221" y="46964"/>
                  </a:moveTo>
                  <a:lnTo>
                    <a:pt x="98463" y="46964"/>
                  </a:lnTo>
                  <a:lnTo>
                    <a:pt x="201968" y="85750"/>
                  </a:lnTo>
                  <a:lnTo>
                    <a:pt x="214134" y="53301"/>
                  </a:lnTo>
                  <a:lnTo>
                    <a:pt x="197221" y="46964"/>
                  </a:lnTo>
                  <a:close/>
                </a:path>
              </a:pathLst>
            </a:custGeom>
            <a:solidFill>
              <a:srgbClr val="2641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bk object 79"/>
            <p:cNvSpPr/>
            <p:nvPr/>
          </p:nvSpPr>
          <p:spPr>
            <a:xfrm>
              <a:off x="4321915" y="2031506"/>
              <a:ext cx="226060" cy="268605"/>
            </a:xfrm>
            <a:custGeom>
              <a:avLst/>
              <a:gdLst/>
              <a:ahLst/>
              <a:cxnLst/>
              <a:rect l="l" t="t" r="r" b="b"/>
              <a:pathLst>
                <a:path w="226060" h="268605">
                  <a:moveTo>
                    <a:pt x="148436" y="124523"/>
                  </a:moveTo>
                  <a:lnTo>
                    <a:pt x="77419" y="124523"/>
                  </a:lnTo>
                  <a:lnTo>
                    <a:pt x="93091" y="133146"/>
                  </a:lnTo>
                  <a:lnTo>
                    <a:pt x="98818" y="137147"/>
                  </a:lnTo>
                  <a:lnTo>
                    <a:pt x="111792" y="174870"/>
                  </a:lnTo>
                  <a:lnTo>
                    <a:pt x="118084" y="244424"/>
                  </a:lnTo>
                  <a:lnTo>
                    <a:pt x="161429" y="268236"/>
                  </a:lnTo>
                  <a:lnTo>
                    <a:pt x="158750" y="221170"/>
                  </a:lnTo>
                  <a:lnTo>
                    <a:pt x="154529" y="182362"/>
                  </a:lnTo>
                  <a:lnTo>
                    <a:pt x="145222" y="158821"/>
                  </a:lnTo>
                  <a:lnTo>
                    <a:pt x="183942" y="158821"/>
                  </a:lnTo>
                  <a:lnTo>
                    <a:pt x="196155" y="153486"/>
                  </a:lnTo>
                  <a:lnTo>
                    <a:pt x="206365" y="146053"/>
                  </a:lnTo>
                  <a:lnTo>
                    <a:pt x="214337" y="136714"/>
                  </a:lnTo>
                  <a:lnTo>
                    <a:pt x="219043" y="127190"/>
                  </a:lnTo>
                  <a:lnTo>
                    <a:pt x="158915" y="127190"/>
                  </a:lnTo>
                  <a:lnTo>
                    <a:pt x="153784" y="126288"/>
                  </a:lnTo>
                  <a:lnTo>
                    <a:pt x="148436" y="124523"/>
                  </a:lnTo>
                  <a:close/>
                </a:path>
                <a:path w="226060" h="268605">
                  <a:moveTo>
                    <a:pt x="98615" y="0"/>
                  </a:moveTo>
                  <a:lnTo>
                    <a:pt x="0" y="179578"/>
                  </a:lnTo>
                  <a:lnTo>
                    <a:pt x="36245" y="199491"/>
                  </a:lnTo>
                  <a:lnTo>
                    <a:pt x="77419" y="124523"/>
                  </a:lnTo>
                  <a:lnTo>
                    <a:pt x="148436" y="124523"/>
                  </a:lnTo>
                  <a:lnTo>
                    <a:pt x="146393" y="123849"/>
                  </a:lnTo>
                  <a:lnTo>
                    <a:pt x="134734" y="118401"/>
                  </a:lnTo>
                  <a:lnTo>
                    <a:pt x="93154" y="95859"/>
                  </a:lnTo>
                  <a:lnTo>
                    <a:pt x="118173" y="50292"/>
                  </a:lnTo>
                  <a:lnTo>
                    <a:pt x="189139" y="50292"/>
                  </a:lnTo>
                  <a:lnTo>
                    <a:pt x="178915" y="44130"/>
                  </a:lnTo>
                  <a:lnTo>
                    <a:pt x="98615" y="0"/>
                  </a:lnTo>
                  <a:close/>
                </a:path>
                <a:path w="226060" h="268605">
                  <a:moveTo>
                    <a:pt x="183942" y="158821"/>
                  </a:moveTo>
                  <a:lnTo>
                    <a:pt x="145222" y="158821"/>
                  </a:lnTo>
                  <a:lnTo>
                    <a:pt x="158241" y="160530"/>
                  </a:lnTo>
                  <a:lnTo>
                    <a:pt x="170974" y="160855"/>
                  </a:lnTo>
                  <a:lnTo>
                    <a:pt x="183078" y="159198"/>
                  </a:lnTo>
                  <a:lnTo>
                    <a:pt x="183942" y="158821"/>
                  </a:lnTo>
                  <a:close/>
                </a:path>
                <a:path w="226060" h="268605">
                  <a:moveTo>
                    <a:pt x="189139" y="50292"/>
                  </a:moveTo>
                  <a:lnTo>
                    <a:pt x="118173" y="50292"/>
                  </a:lnTo>
                  <a:lnTo>
                    <a:pt x="161852" y="74412"/>
                  </a:lnTo>
                  <a:lnTo>
                    <a:pt x="170851" y="79782"/>
                  </a:lnTo>
                  <a:lnTo>
                    <a:pt x="177939" y="85191"/>
                  </a:lnTo>
                  <a:lnTo>
                    <a:pt x="181203" y="90030"/>
                  </a:lnTo>
                  <a:lnTo>
                    <a:pt x="183578" y="101003"/>
                  </a:lnTo>
                  <a:lnTo>
                    <a:pt x="182511" y="106756"/>
                  </a:lnTo>
                  <a:lnTo>
                    <a:pt x="176225" y="118198"/>
                  </a:lnTo>
                  <a:lnTo>
                    <a:pt x="172529" y="122021"/>
                  </a:lnTo>
                  <a:lnTo>
                    <a:pt x="163690" y="126504"/>
                  </a:lnTo>
                  <a:lnTo>
                    <a:pt x="158915" y="127190"/>
                  </a:lnTo>
                  <a:lnTo>
                    <a:pt x="219043" y="127190"/>
                  </a:lnTo>
                  <a:lnTo>
                    <a:pt x="221242" y="122741"/>
                  </a:lnTo>
                  <a:lnTo>
                    <a:pt x="224779" y="110941"/>
                  </a:lnTo>
                  <a:lnTo>
                    <a:pt x="225601" y="100246"/>
                  </a:lnTo>
                  <a:lnTo>
                    <a:pt x="223310" y="86536"/>
                  </a:lnTo>
                  <a:lnTo>
                    <a:pt x="218239" y="75278"/>
                  </a:lnTo>
                  <a:lnTo>
                    <a:pt x="210153" y="66448"/>
                  </a:lnTo>
                  <a:lnTo>
                    <a:pt x="201109" y="58592"/>
                  </a:lnTo>
                  <a:lnTo>
                    <a:pt x="190799" y="51292"/>
                  </a:lnTo>
                  <a:lnTo>
                    <a:pt x="189139" y="50292"/>
                  </a:lnTo>
                  <a:close/>
                </a:path>
              </a:pathLst>
            </a:custGeom>
            <a:solidFill>
              <a:srgbClr val="2641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bk object 80"/>
            <p:cNvSpPr/>
            <p:nvPr/>
          </p:nvSpPr>
          <p:spPr>
            <a:xfrm>
              <a:off x="4514251" y="2166221"/>
              <a:ext cx="201295" cy="213995"/>
            </a:xfrm>
            <a:custGeom>
              <a:avLst/>
              <a:gdLst/>
              <a:ahLst/>
              <a:cxnLst/>
              <a:rect l="l" t="t" r="r" b="b"/>
              <a:pathLst>
                <a:path w="201295" h="213994">
                  <a:moveTo>
                    <a:pt x="12839" y="84056"/>
                  </a:moveTo>
                  <a:lnTo>
                    <a:pt x="6501" y="96579"/>
                  </a:lnTo>
                  <a:lnTo>
                    <a:pt x="2247" y="108835"/>
                  </a:lnTo>
                  <a:lnTo>
                    <a:pt x="80" y="120819"/>
                  </a:lnTo>
                  <a:lnTo>
                    <a:pt x="0" y="132527"/>
                  </a:lnTo>
                  <a:lnTo>
                    <a:pt x="3514" y="145932"/>
                  </a:lnTo>
                  <a:lnTo>
                    <a:pt x="32648" y="186797"/>
                  </a:lnTo>
                  <a:lnTo>
                    <a:pt x="67860" y="208473"/>
                  </a:lnTo>
                  <a:lnTo>
                    <a:pt x="90428" y="213816"/>
                  </a:lnTo>
                  <a:lnTo>
                    <a:pt x="102739" y="213282"/>
                  </a:lnTo>
                  <a:lnTo>
                    <a:pt x="138057" y="194225"/>
                  </a:lnTo>
                  <a:lnTo>
                    <a:pt x="150105" y="174772"/>
                  </a:lnTo>
                  <a:lnTo>
                    <a:pt x="88595" y="174772"/>
                  </a:lnTo>
                  <a:lnTo>
                    <a:pt x="77555" y="173259"/>
                  </a:lnTo>
                  <a:lnTo>
                    <a:pt x="45005" y="147361"/>
                  </a:lnTo>
                  <a:lnTo>
                    <a:pt x="40598" y="126844"/>
                  </a:lnTo>
                  <a:lnTo>
                    <a:pt x="43299" y="114625"/>
                  </a:lnTo>
                  <a:lnTo>
                    <a:pt x="12839" y="84056"/>
                  </a:lnTo>
                  <a:close/>
                </a:path>
                <a:path w="201295" h="213994">
                  <a:moveTo>
                    <a:pt x="115327" y="0"/>
                  </a:moveTo>
                  <a:lnTo>
                    <a:pt x="77392" y="12920"/>
                  </a:lnTo>
                  <a:lnTo>
                    <a:pt x="58714" y="55186"/>
                  </a:lnTo>
                  <a:lnTo>
                    <a:pt x="61587" y="68131"/>
                  </a:lnTo>
                  <a:lnTo>
                    <a:pt x="65813" y="79752"/>
                  </a:lnTo>
                  <a:lnTo>
                    <a:pt x="71461" y="90614"/>
                  </a:lnTo>
                  <a:lnTo>
                    <a:pt x="78598" y="101281"/>
                  </a:lnTo>
                  <a:lnTo>
                    <a:pt x="91187" y="117127"/>
                  </a:lnTo>
                  <a:lnTo>
                    <a:pt x="99502" y="127745"/>
                  </a:lnTo>
                  <a:lnTo>
                    <a:pt x="104496" y="134363"/>
                  </a:lnTo>
                  <a:lnTo>
                    <a:pt x="110223" y="142870"/>
                  </a:lnTo>
                  <a:lnTo>
                    <a:pt x="112395" y="148216"/>
                  </a:lnTo>
                  <a:lnTo>
                    <a:pt x="112839" y="157068"/>
                  </a:lnTo>
                  <a:lnTo>
                    <a:pt x="111506" y="161208"/>
                  </a:lnTo>
                  <a:lnTo>
                    <a:pt x="104051" y="171114"/>
                  </a:lnTo>
                  <a:lnTo>
                    <a:pt x="97371" y="174353"/>
                  </a:lnTo>
                  <a:lnTo>
                    <a:pt x="88595" y="174772"/>
                  </a:lnTo>
                  <a:lnTo>
                    <a:pt x="150105" y="174772"/>
                  </a:lnTo>
                  <a:lnTo>
                    <a:pt x="152403" y="169918"/>
                  </a:lnTo>
                  <a:lnTo>
                    <a:pt x="154733" y="159684"/>
                  </a:lnTo>
                  <a:lnTo>
                    <a:pt x="154598" y="146871"/>
                  </a:lnTo>
                  <a:lnTo>
                    <a:pt x="132869" y="103101"/>
                  </a:lnTo>
                  <a:lnTo>
                    <a:pt x="113071" y="78068"/>
                  </a:lnTo>
                  <a:lnTo>
                    <a:pt x="105418" y="67019"/>
                  </a:lnTo>
                  <a:lnTo>
                    <a:pt x="101172" y="58849"/>
                  </a:lnTo>
                  <a:lnTo>
                    <a:pt x="99136" y="50960"/>
                  </a:lnTo>
                  <a:lnTo>
                    <a:pt x="99999" y="46413"/>
                  </a:lnTo>
                  <a:lnTo>
                    <a:pt x="102920" y="42552"/>
                  </a:lnTo>
                  <a:lnTo>
                    <a:pt x="106095" y="38298"/>
                  </a:lnTo>
                  <a:lnTo>
                    <a:pt x="110413" y="36228"/>
                  </a:lnTo>
                  <a:lnTo>
                    <a:pt x="181465" y="36228"/>
                  </a:lnTo>
                  <a:lnTo>
                    <a:pt x="173492" y="28259"/>
                  </a:lnTo>
                  <a:lnTo>
                    <a:pt x="159139" y="17607"/>
                  </a:lnTo>
                  <a:lnTo>
                    <a:pt x="147450" y="10139"/>
                  </a:lnTo>
                  <a:lnTo>
                    <a:pt x="137637" y="5208"/>
                  </a:lnTo>
                  <a:lnTo>
                    <a:pt x="128914" y="2167"/>
                  </a:lnTo>
                  <a:lnTo>
                    <a:pt x="115327" y="0"/>
                  </a:lnTo>
                  <a:close/>
                </a:path>
                <a:path w="201295" h="213994">
                  <a:moveTo>
                    <a:pt x="181465" y="36228"/>
                  </a:moveTo>
                  <a:lnTo>
                    <a:pt x="110413" y="36228"/>
                  </a:lnTo>
                  <a:lnTo>
                    <a:pt x="115786" y="36329"/>
                  </a:lnTo>
                  <a:lnTo>
                    <a:pt x="127109" y="38532"/>
                  </a:lnTo>
                  <a:lnTo>
                    <a:pt x="139092" y="44749"/>
                  </a:lnTo>
                  <a:lnTo>
                    <a:pt x="151458" y="55356"/>
                  </a:lnTo>
                  <a:lnTo>
                    <a:pt x="158043" y="64501"/>
                  </a:lnTo>
                  <a:lnTo>
                    <a:pt x="159858" y="77309"/>
                  </a:lnTo>
                  <a:lnTo>
                    <a:pt x="157284" y="88782"/>
                  </a:lnTo>
                  <a:lnTo>
                    <a:pt x="189166" y="117127"/>
                  </a:lnTo>
                  <a:lnTo>
                    <a:pt x="195822" y="105613"/>
                  </a:lnTo>
                  <a:lnTo>
                    <a:pt x="199867" y="93840"/>
                  </a:lnTo>
                  <a:lnTo>
                    <a:pt x="201299" y="81815"/>
                  </a:lnTo>
                  <a:lnTo>
                    <a:pt x="200114" y="69546"/>
                  </a:lnTo>
                  <a:lnTo>
                    <a:pt x="196694" y="58756"/>
                  </a:lnTo>
                  <a:lnTo>
                    <a:pt x="191123" y="48306"/>
                  </a:lnTo>
                  <a:lnTo>
                    <a:pt x="183393" y="38154"/>
                  </a:lnTo>
                  <a:lnTo>
                    <a:pt x="181465" y="36228"/>
                  </a:lnTo>
                  <a:close/>
                </a:path>
              </a:pathLst>
            </a:custGeom>
            <a:solidFill>
              <a:srgbClr val="2641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bk object 81"/>
            <p:cNvSpPr/>
            <p:nvPr/>
          </p:nvSpPr>
          <p:spPr>
            <a:xfrm>
              <a:off x="4640417" y="2273731"/>
              <a:ext cx="169545" cy="179070"/>
            </a:xfrm>
            <a:custGeom>
              <a:avLst/>
              <a:gdLst/>
              <a:ahLst/>
              <a:cxnLst/>
              <a:rect l="l" t="t" r="r" b="b"/>
              <a:pathLst>
                <a:path w="169545" h="179069">
                  <a:moveTo>
                    <a:pt x="138645" y="0"/>
                  </a:moveTo>
                  <a:lnTo>
                    <a:pt x="0" y="150837"/>
                  </a:lnTo>
                  <a:lnTo>
                    <a:pt x="30454" y="178841"/>
                  </a:lnTo>
                  <a:lnTo>
                    <a:pt x="169100" y="27978"/>
                  </a:lnTo>
                  <a:lnTo>
                    <a:pt x="138645" y="0"/>
                  </a:lnTo>
                  <a:close/>
                </a:path>
              </a:pathLst>
            </a:custGeom>
            <a:solidFill>
              <a:srgbClr val="2641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bk object 82"/>
            <p:cNvSpPr/>
            <p:nvPr/>
          </p:nvSpPr>
          <p:spPr>
            <a:xfrm>
              <a:off x="4727785" y="2327427"/>
              <a:ext cx="220979" cy="213360"/>
            </a:xfrm>
            <a:custGeom>
              <a:avLst/>
              <a:gdLst/>
              <a:ahLst/>
              <a:cxnLst/>
              <a:rect l="l" t="t" r="r" b="b"/>
              <a:pathLst>
                <a:path w="220979" h="213360">
                  <a:moveTo>
                    <a:pt x="111112" y="0"/>
                  </a:moveTo>
                  <a:lnTo>
                    <a:pt x="85432" y="23266"/>
                  </a:lnTo>
                  <a:lnTo>
                    <a:pt x="126212" y="68338"/>
                  </a:lnTo>
                  <a:lnTo>
                    <a:pt x="0" y="182549"/>
                  </a:lnTo>
                  <a:lnTo>
                    <a:pt x="27749" y="213220"/>
                  </a:lnTo>
                  <a:lnTo>
                    <a:pt x="153962" y="99021"/>
                  </a:lnTo>
                  <a:lnTo>
                    <a:pt x="200718" y="99021"/>
                  </a:lnTo>
                  <a:lnTo>
                    <a:pt x="111112" y="0"/>
                  </a:lnTo>
                  <a:close/>
                </a:path>
                <a:path w="220979" h="213360">
                  <a:moveTo>
                    <a:pt x="200718" y="99021"/>
                  </a:moveTo>
                  <a:lnTo>
                    <a:pt x="153962" y="99021"/>
                  </a:lnTo>
                  <a:lnTo>
                    <a:pt x="194665" y="143979"/>
                  </a:lnTo>
                  <a:lnTo>
                    <a:pt x="220370" y="120738"/>
                  </a:lnTo>
                  <a:lnTo>
                    <a:pt x="200718" y="99021"/>
                  </a:lnTo>
                  <a:close/>
                </a:path>
              </a:pathLst>
            </a:custGeom>
            <a:solidFill>
              <a:srgbClr val="2641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bk object 83"/>
            <p:cNvSpPr/>
            <p:nvPr/>
          </p:nvSpPr>
          <p:spPr>
            <a:xfrm>
              <a:off x="4838936" y="2468203"/>
              <a:ext cx="234950" cy="212090"/>
            </a:xfrm>
            <a:custGeom>
              <a:avLst/>
              <a:gdLst/>
              <a:ahLst/>
              <a:cxnLst/>
              <a:rect l="l" t="t" r="r" b="b"/>
              <a:pathLst>
                <a:path w="234950" h="212089">
                  <a:moveTo>
                    <a:pt x="126276" y="0"/>
                  </a:moveTo>
                  <a:lnTo>
                    <a:pt x="71043" y="129070"/>
                  </a:lnTo>
                  <a:lnTo>
                    <a:pt x="0" y="177939"/>
                  </a:lnTo>
                  <a:lnTo>
                    <a:pt x="23355" y="211899"/>
                  </a:lnTo>
                  <a:lnTo>
                    <a:pt x="94157" y="163194"/>
                  </a:lnTo>
                  <a:lnTo>
                    <a:pt x="234835" y="157873"/>
                  </a:lnTo>
                  <a:lnTo>
                    <a:pt x="212657" y="125628"/>
                  </a:lnTo>
                  <a:lnTo>
                    <a:pt x="114287" y="125628"/>
                  </a:lnTo>
                  <a:lnTo>
                    <a:pt x="153758" y="39966"/>
                  </a:lnTo>
                  <a:lnTo>
                    <a:pt x="126276" y="0"/>
                  </a:lnTo>
                  <a:close/>
                </a:path>
                <a:path w="234950" h="212089">
                  <a:moveTo>
                    <a:pt x="207835" y="118617"/>
                  </a:moveTo>
                  <a:lnTo>
                    <a:pt x="114287" y="125628"/>
                  </a:lnTo>
                  <a:lnTo>
                    <a:pt x="212657" y="125628"/>
                  </a:lnTo>
                  <a:lnTo>
                    <a:pt x="207835" y="118617"/>
                  </a:lnTo>
                  <a:close/>
                </a:path>
              </a:pathLst>
            </a:custGeom>
            <a:solidFill>
              <a:srgbClr val="2641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bk object 84"/>
            <p:cNvSpPr/>
            <p:nvPr/>
          </p:nvSpPr>
          <p:spPr>
            <a:xfrm>
              <a:off x="2297094" y="2877888"/>
              <a:ext cx="2965805" cy="201289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45" name="组合 44"/>
          <p:cNvGrpSpPr/>
          <p:nvPr userDrawn="1"/>
        </p:nvGrpSpPr>
        <p:grpSpPr>
          <a:xfrm>
            <a:off x="0" y="0"/>
            <a:ext cx="12192000" cy="825500"/>
            <a:chOff x="0" y="0"/>
            <a:chExt cx="12192000" cy="825500"/>
          </a:xfrm>
        </p:grpSpPr>
        <p:sp>
          <p:nvSpPr>
            <p:cNvPr id="46" name="矩形 45"/>
            <p:cNvSpPr/>
            <p:nvPr userDrawn="1"/>
          </p:nvSpPr>
          <p:spPr>
            <a:xfrm>
              <a:off x="0" y="0"/>
              <a:ext cx="10924392" cy="107575"/>
            </a:xfrm>
            <a:prstGeom prst="rect">
              <a:avLst/>
            </a:prstGeom>
            <a:solidFill>
              <a:srgbClr val="0E41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8"/>
            <p:cNvSpPr/>
            <p:nvPr userDrawn="1"/>
          </p:nvSpPr>
          <p:spPr>
            <a:xfrm>
              <a:off x="10515600" y="0"/>
              <a:ext cx="1676400" cy="825500"/>
            </a:xfrm>
            <a:custGeom>
              <a:avLst/>
              <a:gdLst>
                <a:gd name="connsiteX0" fmla="*/ 0 w 2692400"/>
                <a:gd name="connsiteY0" fmla="*/ 0 h 825500"/>
                <a:gd name="connsiteX1" fmla="*/ 2692400 w 2692400"/>
                <a:gd name="connsiteY1" fmla="*/ 0 h 825500"/>
                <a:gd name="connsiteX2" fmla="*/ 2692400 w 2692400"/>
                <a:gd name="connsiteY2" fmla="*/ 825500 h 825500"/>
                <a:gd name="connsiteX3" fmla="*/ 0 w 2692400"/>
                <a:gd name="connsiteY3" fmla="*/ 825500 h 825500"/>
                <a:gd name="connsiteX4" fmla="*/ 0 w 2692400"/>
                <a:gd name="connsiteY4" fmla="*/ 0 h 825500"/>
                <a:gd name="connsiteX0-1" fmla="*/ 0 w 2692400"/>
                <a:gd name="connsiteY0-2" fmla="*/ 0 h 825500"/>
                <a:gd name="connsiteX1-3" fmla="*/ 2692400 w 2692400"/>
                <a:gd name="connsiteY1-4" fmla="*/ 0 h 825500"/>
                <a:gd name="connsiteX2-5" fmla="*/ 2692400 w 2692400"/>
                <a:gd name="connsiteY2-6" fmla="*/ 825500 h 825500"/>
                <a:gd name="connsiteX3-7" fmla="*/ 965200 w 2692400"/>
                <a:gd name="connsiteY3-8" fmla="*/ 825500 h 825500"/>
                <a:gd name="connsiteX4-9" fmla="*/ 0 w 2692400"/>
                <a:gd name="connsiteY4-10" fmla="*/ 0 h 8255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692400" h="825500">
                  <a:moveTo>
                    <a:pt x="0" y="0"/>
                  </a:moveTo>
                  <a:lnTo>
                    <a:pt x="2692400" y="0"/>
                  </a:lnTo>
                  <a:lnTo>
                    <a:pt x="2692400" y="825500"/>
                  </a:lnTo>
                  <a:lnTo>
                    <a:pt x="965200" y="825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E41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E419C"/>
                </a:solidFill>
              </a:endParaRPr>
            </a:p>
          </p:txBody>
        </p:sp>
        <p:pic>
          <p:nvPicPr>
            <p:cNvPr id="48" name="图片 47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75399" y="39946"/>
              <a:ext cx="754150" cy="756366"/>
            </a:xfrm>
            <a:prstGeom prst="rect">
              <a:avLst/>
            </a:prstGeom>
          </p:spPr>
        </p:pic>
      </p:grp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990600"/>
            <a:ext cx="10972800" cy="5395913"/>
          </a:xfrm>
        </p:spPr>
        <p:txBody>
          <a:bodyPr/>
          <a:lstStyle>
            <a:lvl1pPr>
              <a:defRPr baseline="0">
                <a:latin typeface="+mn-lt"/>
                <a:ea typeface="华文楷体" panose="02010600040101010101" pitchFamily="2" charset="-122"/>
              </a:defRPr>
            </a:lvl1pPr>
            <a:lvl2pPr>
              <a:defRPr baseline="0">
                <a:latin typeface="+mn-lt"/>
                <a:ea typeface="华文楷体" panose="02010600040101010101" pitchFamily="2" charset="-122"/>
              </a:defRPr>
            </a:lvl2pPr>
            <a:lvl3pPr>
              <a:defRPr baseline="0">
                <a:latin typeface="+mn-lt"/>
                <a:ea typeface="华文楷体" panose="02010600040101010101" pitchFamily="2" charset="-122"/>
              </a:defRPr>
            </a:lvl3pPr>
            <a:lvl4pPr>
              <a:defRPr baseline="0">
                <a:latin typeface="+mn-lt"/>
                <a:ea typeface="华文楷体" panose="02010600040101010101" pitchFamily="2" charset="-122"/>
              </a:defRPr>
            </a:lvl4pPr>
            <a:lvl5pPr>
              <a:defRPr baseline="0">
                <a:latin typeface="+mn-lt"/>
                <a:ea typeface="华文楷体" panose="02010600040101010101" pitchFamily="2" charset="-122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24" y="6356350"/>
            <a:ext cx="2133711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363" y="6356350"/>
            <a:ext cx="289575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541" y="6356350"/>
            <a:ext cx="2133711" cy="365125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0" y="6560457"/>
            <a:ext cx="12192000" cy="297543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609600" y="152401"/>
            <a:ext cx="9906000" cy="68579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609600" y="973821"/>
            <a:ext cx="10972800" cy="555247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</p:txBody>
      </p:sp>
      <p:sp>
        <p:nvSpPr>
          <p:cNvPr id="1032" name="Straight Connector 28"/>
          <p:cNvSpPr>
            <a:spLocks noChangeShapeType="1"/>
          </p:cNvSpPr>
          <p:nvPr/>
        </p:nvSpPr>
        <p:spPr bwMode="auto">
          <a:xfrm>
            <a:off x="609600" y="914400"/>
            <a:ext cx="109728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</a:ln>
        </p:spPr>
        <p:txBody>
          <a:bodyPr/>
          <a:lstStyle/>
          <a:p>
            <a:endParaRPr lang="zh-CN" altLang="en-US" sz="2600">
              <a:solidFill>
                <a:srgbClr val="00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1119102" y="6622645"/>
            <a:ext cx="429855" cy="17316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fld id="{7A0AC270-0923-4589-A51D-6091E7C5371F}" type="slidenum">
              <a:rPr lang="zh-CN" altLang="en-US" sz="1400" kern="1200" smtClean="0">
                <a:solidFill>
                  <a:schemeClr val="bg1"/>
                </a:solidFill>
                <a:latin typeface="Calibri" panose="02040503050406030204" pitchFamily="18" charset="0"/>
                <a:ea typeface="+mn-ea"/>
                <a:cs typeface="Calibri" panose="02040503050406030204" pitchFamily="18" charset="0"/>
              </a:rPr>
            </a:fld>
            <a:endParaRPr lang="en-US" altLang="zh-CN" sz="1400" kern="1200" dirty="0">
              <a:solidFill>
                <a:schemeClr val="bg1"/>
              </a:solidFill>
              <a:latin typeface="Calibri" panose="02040503050406030204" pitchFamily="18" charset="0"/>
              <a:ea typeface="Cambria" panose="02040503050406030204" pitchFamily="18" charset="0"/>
              <a:cs typeface="Calibri" panose="02040503050406030204" pitchFamily="18" charset="0"/>
            </a:endParaRPr>
          </a:p>
        </p:txBody>
      </p:sp>
      <p:sp>
        <p:nvSpPr>
          <p:cNvPr id="10" name="Straight Connector 28"/>
          <p:cNvSpPr>
            <a:spLocks noChangeShapeType="1"/>
          </p:cNvSpPr>
          <p:nvPr userDrawn="1"/>
        </p:nvSpPr>
        <p:spPr bwMode="auto">
          <a:xfrm>
            <a:off x="609600" y="914400"/>
            <a:ext cx="10972800" cy="0"/>
          </a:xfrm>
          <a:prstGeom prst="line">
            <a:avLst/>
          </a:prstGeom>
          <a:noFill/>
          <a:ln w="9525" algn="ctr">
            <a:solidFill>
              <a:srgbClr val="0E419C"/>
            </a:solidFill>
            <a:prstDash val="dash"/>
            <a:round/>
          </a:ln>
        </p:spPr>
        <p:txBody>
          <a:bodyPr/>
          <a:lstStyle/>
          <a:p>
            <a:endParaRPr lang="zh-CN" altLang="en-US" sz="2600">
              <a:solidFill>
                <a:srgbClr val="303030"/>
              </a:solidFill>
            </a:endParaRPr>
          </a:p>
        </p:txBody>
      </p:sp>
      <p:grpSp>
        <p:nvGrpSpPr>
          <p:cNvPr id="20" name="组合 19"/>
          <p:cNvGrpSpPr/>
          <p:nvPr userDrawn="1"/>
        </p:nvGrpSpPr>
        <p:grpSpPr>
          <a:xfrm>
            <a:off x="0" y="0"/>
            <a:ext cx="12192000" cy="825500"/>
            <a:chOff x="0" y="0"/>
            <a:chExt cx="12192000" cy="825500"/>
          </a:xfrm>
        </p:grpSpPr>
        <p:sp>
          <p:nvSpPr>
            <p:cNvPr id="21" name="矩形 20"/>
            <p:cNvSpPr/>
            <p:nvPr userDrawn="1"/>
          </p:nvSpPr>
          <p:spPr>
            <a:xfrm>
              <a:off x="0" y="0"/>
              <a:ext cx="10924392" cy="107575"/>
            </a:xfrm>
            <a:prstGeom prst="rect">
              <a:avLst/>
            </a:prstGeom>
            <a:solidFill>
              <a:srgbClr val="0E41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8"/>
            <p:cNvSpPr/>
            <p:nvPr userDrawn="1"/>
          </p:nvSpPr>
          <p:spPr>
            <a:xfrm>
              <a:off x="10515600" y="0"/>
              <a:ext cx="1676400" cy="825500"/>
            </a:xfrm>
            <a:custGeom>
              <a:avLst/>
              <a:gdLst>
                <a:gd name="connsiteX0" fmla="*/ 0 w 2692400"/>
                <a:gd name="connsiteY0" fmla="*/ 0 h 825500"/>
                <a:gd name="connsiteX1" fmla="*/ 2692400 w 2692400"/>
                <a:gd name="connsiteY1" fmla="*/ 0 h 825500"/>
                <a:gd name="connsiteX2" fmla="*/ 2692400 w 2692400"/>
                <a:gd name="connsiteY2" fmla="*/ 825500 h 825500"/>
                <a:gd name="connsiteX3" fmla="*/ 0 w 2692400"/>
                <a:gd name="connsiteY3" fmla="*/ 825500 h 825500"/>
                <a:gd name="connsiteX4" fmla="*/ 0 w 2692400"/>
                <a:gd name="connsiteY4" fmla="*/ 0 h 825500"/>
                <a:gd name="connsiteX0-1" fmla="*/ 0 w 2692400"/>
                <a:gd name="connsiteY0-2" fmla="*/ 0 h 825500"/>
                <a:gd name="connsiteX1-3" fmla="*/ 2692400 w 2692400"/>
                <a:gd name="connsiteY1-4" fmla="*/ 0 h 825500"/>
                <a:gd name="connsiteX2-5" fmla="*/ 2692400 w 2692400"/>
                <a:gd name="connsiteY2-6" fmla="*/ 825500 h 825500"/>
                <a:gd name="connsiteX3-7" fmla="*/ 965200 w 2692400"/>
                <a:gd name="connsiteY3-8" fmla="*/ 825500 h 825500"/>
                <a:gd name="connsiteX4-9" fmla="*/ 0 w 2692400"/>
                <a:gd name="connsiteY4-10" fmla="*/ 0 h 8255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692400" h="825500">
                  <a:moveTo>
                    <a:pt x="0" y="0"/>
                  </a:moveTo>
                  <a:lnTo>
                    <a:pt x="2692400" y="0"/>
                  </a:lnTo>
                  <a:lnTo>
                    <a:pt x="2692400" y="825500"/>
                  </a:lnTo>
                  <a:lnTo>
                    <a:pt x="965200" y="825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E41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E419C"/>
                </a:solidFill>
              </a:endParaRPr>
            </a:p>
          </p:txBody>
        </p:sp>
        <p:pic>
          <p:nvPicPr>
            <p:cNvPr id="23" name="图片 22"/>
            <p:cNvPicPr>
              <a:picLocks noChangeAspect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75399" y="39946"/>
              <a:ext cx="754150" cy="756366"/>
            </a:xfrm>
            <a:prstGeom prst="rect">
              <a:avLst/>
            </a:prstGeom>
          </p:spPr>
        </p:pic>
      </p:grpSp>
      <p:sp>
        <p:nvSpPr>
          <p:cNvPr id="24" name="Footer Placeholder 2"/>
          <p:cNvSpPr txBox="1"/>
          <p:nvPr userDrawn="1"/>
        </p:nvSpPr>
        <p:spPr>
          <a:xfrm>
            <a:off x="621030" y="6622415"/>
            <a:ext cx="1556385" cy="173355"/>
          </a:xfrm>
          <a:prstGeom prst="rect">
            <a:avLst/>
          </a:prstGeom>
        </p:spPr>
        <p:txBody>
          <a:bodyPr vert="horz" wrap="square" lIns="0" tIns="0" rIns="0" bIns="0" numCol="1" anchor="ctr" anchorCtr="0" compatLnSpc="1"/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2"/>
                </a:solidFill>
                <a:latin typeface="Calibri" panose="02040503050406030204" pitchFamily="18" charset="0"/>
                <a:ea typeface="+mn-ea"/>
                <a:cs typeface="Calibri" panose="02040503050406030204" pitchFamily="18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40503050406030204" pitchFamily="18" charset="0"/>
                <a:ea typeface="+mn-ea"/>
                <a:cs typeface="Calibri" panose="02040503050406030204" pitchFamily="18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40503050406030204" pitchFamily="18" charset="0"/>
                <a:ea typeface="+mn-ea"/>
                <a:cs typeface="Calibri" panose="02040503050406030204" pitchFamily="18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40503050406030204" pitchFamily="18" charset="0"/>
                <a:ea typeface="+mn-ea"/>
                <a:cs typeface="Calibri" panose="02040503050406030204" pitchFamily="18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40503050406030204" pitchFamily="18" charset="0"/>
                <a:ea typeface="+mn-ea"/>
                <a:cs typeface="Calibri" panose="02040503050406030204" pitchFamily="18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40503050406030204" pitchFamily="18" charset="0"/>
                <a:ea typeface="+mn-ea"/>
                <a:cs typeface="Calibri" panose="02040503050406030204" pitchFamily="18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40503050406030204" pitchFamily="18" charset="0"/>
                <a:ea typeface="+mn-ea"/>
                <a:cs typeface="Calibri" panose="02040503050406030204" pitchFamily="18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40503050406030204" pitchFamily="18" charset="0"/>
                <a:ea typeface="+mn-ea"/>
                <a:cs typeface="Calibri" panose="02040503050406030204" pitchFamily="18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40503050406030204" pitchFamily="18" charset="0"/>
                <a:ea typeface="+mn-ea"/>
                <a:cs typeface="Calibri" panose="02040503050406030204" pitchFamily="18" charset="0"/>
              </a:defRPr>
            </a:lvl9pPr>
          </a:lstStyle>
          <a:p>
            <a:pPr algn="ctr">
              <a:defRPr/>
            </a:pPr>
            <a:r>
              <a:rPr lang="en-US" altLang="zh-CN" sz="1400" dirty="0">
                <a:solidFill>
                  <a:schemeClr val="bg1"/>
                </a:solidFill>
                <a:latin typeface="+mn-ea"/>
                <a:ea typeface="+mn-ea"/>
              </a:rPr>
              <a:t>Fudan NLP Lab</a:t>
            </a:r>
            <a:endParaRPr lang="zh-CN" altLang="zh-CN" sz="140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0" kern="1200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700">
          <a:solidFill>
            <a:schemeClr val="tx2"/>
          </a:solidFill>
          <a:latin typeface="Calibri" panose="02040503050406030204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700">
          <a:solidFill>
            <a:schemeClr val="tx2"/>
          </a:solidFill>
          <a:latin typeface="Calibri" panose="02040503050406030204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700">
          <a:solidFill>
            <a:schemeClr val="tx2"/>
          </a:solidFill>
          <a:latin typeface="Calibri" panose="02040503050406030204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700">
          <a:solidFill>
            <a:schemeClr val="tx2"/>
          </a:solidFill>
          <a:latin typeface="Calibri" panose="02040503050406030204" pitchFamily="18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alibri" panose="02040503050406030204" pitchFamily="18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alibri" panose="02040503050406030204" pitchFamily="18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alibri" panose="02040503050406030204" pitchFamily="18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alibri" panose="02040503050406030204" pitchFamily="18" charset="0"/>
        </a:defRPr>
      </a:lvl9pPr>
    </p:titleStyle>
    <p:bodyStyle>
      <a:lvl1pPr marL="204470" indent="-204470" algn="l" rtl="0" eaLnBrk="1" fontAlgn="base" hangingPunct="1">
        <a:spcBef>
          <a:spcPts val="450"/>
        </a:spcBef>
        <a:spcAft>
          <a:spcPts val="600"/>
        </a:spcAft>
        <a:buClr>
          <a:schemeClr val="accent1"/>
        </a:buClr>
        <a:buSzPct val="76000"/>
        <a:buFont typeface="Wingdings 3" panose="05040102010807070707" pitchFamily="18" charset="2"/>
        <a:buChar char=""/>
        <a:defRPr sz="2400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410845" indent="-204470" algn="l" rtl="0" eaLnBrk="1" fontAlgn="base" hangingPunct="1">
        <a:spcBef>
          <a:spcPts val="375"/>
        </a:spcBef>
        <a:spcAft>
          <a:spcPts val="600"/>
        </a:spcAft>
        <a:buClr>
          <a:schemeClr val="accent2"/>
        </a:buClr>
        <a:buSzPct val="76000"/>
        <a:buFont typeface="Wingdings 3" panose="05040102010807070707" pitchFamily="18" charset="2"/>
        <a:buChar char=""/>
        <a:defRPr sz="2135" kern="1200" baseline="0">
          <a:solidFill>
            <a:srgbClr val="000000"/>
          </a:solidFill>
          <a:latin typeface="+mn-lt"/>
          <a:ea typeface="+mn-ea"/>
          <a:cs typeface="+mn-cs"/>
        </a:defRPr>
      </a:lvl2pPr>
      <a:lvl3pPr marL="616585" indent="-171450" algn="l" rtl="0" eaLnBrk="1" fontAlgn="base" hangingPunct="1">
        <a:spcBef>
          <a:spcPts val="375"/>
        </a:spcBef>
        <a:spcAft>
          <a:spcPct val="0"/>
        </a:spcAft>
        <a:buClr>
          <a:srgbClr val="BCBCBC"/>
        </a:buClr>
        <a:buSzPct val="76000"/>
        <a:buFont typeface="Wingdings 3" panose="05040102010807070707" pitchFamily="18" charset="2"/>
        <a:buChar char=""/>
        <a:defRPr sz="1600" kern="1200" baseline="0">
          <a:solidFill>
            <a:srgbClr val="000000"/>
          </a:solidFill>
          <a:latin typeface="+mn-lt"/>
          <a:ea typeface="+mn-ea"/>
          <a:cs typeface="+mn-cs"/>
        </a:defRPr>
      </a:lvl3pPr>
      <a:lvl4pPr marL="822960" indent="-171450" algn="l" rtl="0" eaLnBrk="1" fontAlgn="base" hangingPunct="1">
        <a:spcBef>
          <a:spcPts val="300"/>
        </a:spcBef>
        <a:spcAft>
          <a:spcPct val="0"/>
        </a:spcAft>
        <a:buClr>
          <a:srgbClr val="CF5716"/>
        </a:buClr>
        <a:buSzPct val="70000"/>
        <a:buFont typeface="Wingdings" panose="05000000000000000000" pitchFamily="2" charset="2"/>
        <a:buChar char="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71450" algn="l" rtl="0" eaLnBrk="1" fontAlgn="base" hangingPunct="1">
        <a:spcBef>
          <a:spcPts val="225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234440" indent="-137160" algn="l" rtl="0" eaLnBrk="1" latinLnBrk="0" hangingPunct="1">
        <a:spcBef>
          <a:spcPts val="225"/>
        </a:spcBef>
        <a:buClr>
          <a:srgbClr val="9FB8CD">
            <a:shade val="75000"/>
          </a:srgbClr>
        </a:buClr>
        <a:buSzPct val="75000"/>
        <a:buFont typeface="Wingdings 3" panose="05040102010807070707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371600" indent="-137160" algn="l" rtl="0" eaLnBrk="1" latinLnBrk="0" hangingPunct="1">
        <a:spcBef>
          <a:spcPts val="225"/>
        </a:spcBef>
        <a:buClr>
          <a:srgbClr val="727CA3">
            <a:shade val="75000"/>
          </a:srgbClr>
        </a:buClr>
        <a:buSzPct val="75000"/>
        <a:buFont typeface="Wingdings 3" panose="05040102010807070707"/>
        <a:buChar char=""/>
        <a:defRPr kumimoji="0" lang="en-US" sz="105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1508760" indent="-137160" algn="l" rtl="0" eaLnBrk="1" latinLnBrk="0" hangingPunct="1">
        <a:spcBef>
          <a:spcPts val="225"/>
        </a:spcBef>
        <a:buClr>
          <a:prstClr val="white">
            <a:shade val="50000"/>
          </a:prstClr>
        </a:buClr>
        <a:buSzPct val="75000"/>
        <a:buFont typeface="Wingdings 3" panose="05040102010807070707"/>
        <a:buChar char=""/>
        <a:defRPr kumimoji="0" lang="en-US" sz="105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1645920" indent="-137160" algn="l" rtl="0" eaLnBrk="1" latinLnBrk="0" hangingPunct="1">
        <a:spcBef>
          <a:spcPts val="225"/>
        </a:spcBef>
        <a:buClr>
          <a:srgbClr val="9FB8CD"/>
        </a:buClr>
        <a:buSzPct val="75000"/>
        <a:buFont typeface="Wingdings 3" panose="05040102010807070707"/>
        <a:buChar char=""/>
        <a:defRPr kumimoji="0" lang="en-US" sz="9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8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9.jpeg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9.jpe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0.png"/><Relationship Id="rId2" Type="http://schemas.microsoft.com/office/2007/relationships/media" Target="../media/media2.mp4"/><Relationship Id="rId1" Type="http://schemas.openxmlformats.org/officeDocument/2006/relationships/video" Target="../media/media2.mp4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1.png"/><Relationship Id="rId2" Type="http://schemas.microsoft.com/office/2007/relationships/media" Target="../media/media3.mp4"/><Relationship Id="rId1" Type="http://schemas.openxmlformats.org/officeDocument/2006/relationships/video" Target="../media/media3.mp4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2.png"/><Relationship Id="rId2" Type="http://schemas.microsoft.com/office/2007/relationships/media" Target="../media/media4.mp4"/><Relationship Id="rId1" Type="http://schemas.openxmlformats.org/officeDocument/2006/relationships/video" Target="../media/media4.mp4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4.xml"/><Relationship Id="rId4" Type="http://schemas.openxmlformats.org/officeDocument/2006/relationships/hyperlink" Target="https://junzhan2000.github.io/AnyGPT.github.io/" TargetMode="External"/><Relationship Id="rId3" Type="http://schemas.openxmlformats.org/officeDocument/2006/relationships/image" Target="../media/image23.png"/><Relationship Id="rId2" Type="http://schemas.microsoft.com/office/2007/relationships/media" Target="../media/media5.mp4"/><Relationship Id="rId1" Type="http://schemas.openxmlformats.org/officeDocument/2006/relationships/video" Target="../media/media5.mp4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4.png"/><Relationship Id="rId2" Type="http://schemas.microsoft.com/office/2007/relationships/media" Target="../media/media6.mp4"/><Relationship Id="rId1" Type="http://schemas.openxmlformats.org/officeDocument/2006/relationships/video" Target="../media/media6.mp4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.xml"/><Relationship Id="rId1" Type="http://schemas.openxmlformats.org/officeDocument/2006/relationships/image" Target="../media/image25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2.xml"/><Relationship Id="rId1" Type="http://schemas.openxmlformats.org/officeDocument/2006/relationships/image" Target="../media/image26.jpe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27.png"/><Relationship Id="rId3" Type="http://schemas.microsoft.com/office/2007/relationships/media" Target="../media/media7.mp4"/><Relationship Id="rId2" Type="http://schemas.openxmlformats.org/officeDocument/2006/relationships/video" Target="../media/media7.mp4"/><Relationship Id="rId1" Type="http://schemas.openxmlformats.org/officeDocument/2006/relationships/tags" Target="../tags/tag3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audio" Target="../media/audio4.wav"/><Relationship Id="rId8" Type="http://schemas.microsoft.com/office/2007/relationships/media" Target="../media/audio3.wav"/><Relationship Id="rId7" Type="http://schemas.openxmlformats.org/officeDocument/2006/relationships/audio" Target="../media/audio3.wav"/><Relationship Id="rId6" Type="http://schemas.microsoft.com/office/2007/relationships/media" Target="../media/audio2.wav"/><Relationship Id="rId5" Type="http://schemas.openxmlformats.org/officeDocument/2006/relationships/audio" Target="../media/audio2.wav"/><Relationship Id="rId4" Type="http://schemas.openxmlformats.org/officeDocument/2006/relationships/image" Target="../media/image28.png"/><Relationship Id="rId3" Type="http://schemas.microsoft.com/office/2007/relationships/media" Target="../media/audio1.wav"/><Relationship Id="rId2" Type="http://schemas.openxmlformats.org/officeDocument/2006/relationships/audio" Target="../media/audio1.wav"/><Relationship Id="rId15" Type="http://schemas.openxmlformats.org/officeDocument/2006/relationships/slideLayout" Target="../slideLayouts/slideLayout4.xml"/><Relationship Id="rId14" Type="http://schemas.openxmlformats.org/officeDocument/2006/relationships/tags" Target="../tags/tag6.xml"/><Relationship Id="rId13" Type="http://schemas.openxmlformats.org/officeDocument/2006/relationships/tags" Target="../tags/tag5.xml"/><Relationship Id="rId12" Type="http://schemas.microsoft.com/office/2007/relationships/media" Target="../media/audio5.wav"/><Relationship Id="rId11" Type="http://schemas.openxmlformats.org/officeDocument/2006/relationships/audio" Target="../media/audio5.wav"/><Relationship Id="rId10" Type="http://schemas.microsoft.com/office/2007/relationships/media" Target="../media/audio4.wav"/><Relationship Id="rId1" Type="http://schemas.openxmlformats.org/officeDocument/2006/relationships/tags" Target="../tags/tag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4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2.pn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5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5.xml"/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47.png"/><Relationship Id="rId5" Type="http://schemas.microsoft.com/office/2007/relationships/media" Target="../media/media9.mp4"/><Relationship Id="rId4" Type="http://schemas.openxmlformats.org/officeDocument/2006/relationships/video" Target="../media/media9.mp4"/><Relationship Id="rId3" Type="http://schemas.openxmlformats.org/officeDocument/2006/relationships/image" Target="../media/image46.png"/><Relationship Id="rId2" Type="http://schemas.microsoft.com/office/2007/relationships/media" Target="../media/media8.mp4"/><Relationship Id="rId1" Type="http://schemas.openxmlformats.org/officeDocument/2006/relationships/video" Target="../media/media8.mp4"/></Relationships>
</file>

<file path=ppt/slides/_rels/slide4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microsoft.com/office/2007/relationships/media" Target="../media/media11.mp4"/><Relationship Id="rId4" Type="http://schemas.openxmlformats.org/officeDocument/2006/relationships/video" Target="../media/media11.mp4"/><Relationship Id="rId3" Type="http://schemas.openxmlformats.org/officeDocument/2006/relationships/image" Target="../media/image48.png"/><Relationship Id="rId2" Type="http://schemas.microsoft.com/office/2007/relationships/media" Target="../media/media10.mp4"/><Relationship Id="rId1" Type="http://schemas.openxmlformats.org/officeDocument/2006/relationships/video" Target="../media/media10.mp4"/></Relationships>
</file>

<file path=ppt/slides/_rels/slide4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0.png"/><Relationship Id="rId3" Type="http://schemas.microsoft.com/office/2007/relationships/media" Target="../media/media12.mp4"/><Relationship Id="rId2" Type="http://schemas.openxmlformats.org/officeDocument/2006/relationships/video" Target="../media/media12.mp4"/><Relationship Id="rId1" Type="http://schemas.openxmlformats.org/officeDocument/2006/relationships/chart" Target="../charts/chart1.xml"/></Relationships>
</file>

<file path=ppt/slides/_rels/slide4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1.png"/><Relationship Id="rId3" Type="http://schemas.microsoft.com/office/2007/relationships/media" Target="../media/media13.mp4"/><Relationship Id="rId2" Type="http://schemas.openxmlformats.org/officeDocument/2006/relationships/video" Target="../media/media13.mp4"/><Relationship Id="rId1" Type="http://schemas.openxmlformats.org/officeDocument/2006/relationships/chart" Target="../charts/chart2.xml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2.png"/><Relationship Id="rId2" Type="http://schemas.microsoft.com/office/2007/relationships/media" Target="../media/media14.mp4"/><Relationship Id="rId1" Type="http://schemas.openxmlformats.org/officeDocument/2006/relationships/video" Target="../media/media14.mp4"/></Relationships>
</file>

<file path=ppt/slides/_rels/slide5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microsoft.com/office/2007/relationships/media" Target="../media/media16.mp4"/><Relationship Id="rId4" Type="http://schemas.openxmlformats.org/officeDocument/2006/relationships/video" Target="../media/media16.mp4"/><Relationship Id="rId3" Type="http://schemas.openxmlformats.org/officeDocument/2006/relationships/image" Target="../media/image53.png"/><Relationship Id="rId2" Type="http://schemas.microsoft.com/office/2007/relationships/media" Target="../media/media15.mp4"/><Relationship Id="rId1" Type="http://schemas.openxmlformats.org/officeDocument/2006/relationships/video" Target="../media/media15.mp4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5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microsoft.com/office/2007/relationships/media" Target="../media/media18.mp4"/><Relationship Id="rId4" Type="http://schemas.openxmlformats.org/officeDocument/2006/relationships/video" Target="../media/media18.mp4"/><Relationship Id="rId3" Type="http://schemas.openxmlformats.org/officeDocument/2006/relationships/image" Target="../media/image56.png"/><Relationship Id="rId2" Type="http://schemas.microsoft.com/office/2007/relationships/media" Target="../media/media17.mp4"/><Relationship Id="rId1" Type="http://schemas.openxmlformats.org/officeDocument/2006/relationships/video" Target="../media/media17.mp4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8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8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22"/>
          <p:cNvSpPr>
            <a:spLocks noGrp="1"/>
          </p:cNvSpPr>
          <p:nvPr>
            <p:ph type="ctrTitle"/>
          </p:nvPr>
        </p:nvSpPr>
        <p:spPr>
          <a:xfrm>
            <a:off x="1524000" y="3308975"/>
            <a:ext cx="9144000" cy="1514475"/>
          </a:xfrm>
        </p:spPr>
        <p:txBody>
          <a:bodyPr/>
          <a:lstStyle/>
          <a:p>
            <a:r>
              <a:rPr lang="en-US" altLang="zh-CN"/>
              <a:t>Toward Unified Multimodal LLMs</a:t>
            </a:r>
            <a:endParaRPr lang="en-US" altLang="zh-CN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Jun Zhan</a:t>
            </a:r>
            <a:endParaRPr lang="en-US" altLang="zh-CN" dirty="0"/>
          </a:p>
          <a:p>
            <a:r>
              <a:rPr lang="en-US" dirty="0"/>
              <a:t>Fudan University</a:t>
            </a:r>
            <a:endParaRPr lang="en-US" dirty="0"/>
          </a:p>
          <a:p>
            <a:fld id="{E7A291B0-97B2-44AB-8222-945C275B7BD9}" type="datetime1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</a:rPr>
              <a:t>PhD Main Works</a:t>
            </a:r>
            <a:r>
              <a:rPr lang="zh-CN" altLang="en-US">
                <a:solidFill>
                  <a:schemeClr val="tx1"/>
                </a:solidFill>
              </a:rPr>
              <a:t>: 端到端的多模态交互</a:t>
            </a:r>
            <a:r>
              <a:rPr lang="zh-CN" altLang="en-US">
                <a:solidFill>
                  <a:schemeClr val="tx1"/>
                </a:solidFill>
              </a:rPr>
              <a:t>模型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9600" y="985000"/>
            <a:ext cx="10972800" cy="380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1600" b="1">
                <a:solidFill>
                  <a:srgbClr val="1F3C88"/>
                </a:solidFill>
              </a:rPr>
              <a:t>▎ 从语音到音视频，从语义建模到全信息建模，从各模态独立表征到跨模态统一表征</a:t>
            </a:r>
            <a:endParaRPr lang="zh-CN" altLang="en-US" sz="1600" b="1">
              <a:solidFill>
                <a:srgbClr val="1F3C88"/>
              </a:solidFill>
            </a:endParaRPr>
          </a:p>
        </p:txBody>
      </p:sp>
      <p:sp>
        <p:nvSpPr>
          <p:cNvPr id="5001" name="表头-时间"/>
          <p:cNvSpPr/>
          <p:nvPr/>
        </p:nvSpPr>
        <p:spPr>
          <a:xfrm>
            <a:off x="700000" y="1420000"/>
            <a:ext cx="88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0" bIns="0" rtlCol="0" anchor="b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1" i="0" dirty="0">
                <a:solidFill>
                  <a:srgbClr val="8C8C8C"/>
                </a:solidFill>
                <a:latin typeface="+mn-ea"/>
                <a:ea typeface="+mn-ea"/>
                <a:cs typeface="+mn-ea"/>
              </a:rPr>
              <a:t>时间</a:t>
            </a:r>
            <a:endParaRPr lang="zh-CN" altLang="en-US" sz="1100" b="1" i="0" dirty="0">
              <a:solidFill>
                <a:srgbClr val="8C8C8C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02" name="表头-工作"/>
          <p:cNvSpPr/>
          <p:nvPr/>
        </p:nvSpPr>
        <p:spPr>
          <a:xfrm>
            <a:off x="1600000" y="1420000"/>
            <a:ext cx="256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0" bIns="0" rtlCol="0" anchor="b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1" i="0" dirty="0">
                <a:solidFill>
                  <a:srgbClr val="8C8C8C"/>
                </a:solidFill>
                <a:latin typeface="+mn-ea"/>
                <a:ea typeface="+mn-ea"/>
                <a:cs typeface="+mn-ea"/>
              </a:rPr>
              <a:t>工作</a:t>
            </a:r>
            <a:endParaRPr lang="zh-CN" altLang="en-US" sz="1100" b="1" i="0" dirty="0">
              <a:solidFill>
                <a:srgbClr val="8C8C8C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03" name="表头-核心内容"/>
          <p:cNvSpPr/>
          <p:nvPr/>
        </p:nvSpPr>
        <p:spPr>
          <a:xfrm>
            <a:off x="4200000" y="1420000"/>
            <a:ext cx="386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0" bIns="0" rtlCol="0" anchor="b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1" i="0" dirty="0">
                <a:solidFill>
                  <a:srgbClr val="8C8C8C"/>
                </a:solidFill>
                <a:latin typeface="+mn-ea"/>
                <a:ea typeface="+mn-ea"/>
                <a:cs typeface="+mn-ea"/>
              </a:rPr>
              <a:t>核心内容</a:t>
            </a:r>
            <a:endParaRPr lang="zh-CN" altLang="en-US" sz="1100" b="1" i="0" dirty="0">
              <a:solidFill>
                <a:srgbClr val="8C8C8C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04" name="表头-发表"/>
          <p:cNvSpPr/>
          <p:nvPr/>
        </p:nvSpPr>
        <p:spPr>
          <a:xfrm>
            <a:off x="8170000" y="1420000"/>
            <a:ext cx="183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1" i="0" dirty="0">
                <a:solidFill>
                  <a:srgbClr val="8C8C8C"/>
                </a:solidFill>
                <a:latin typeface="+mn-ea"/>
                <a:ea typeface="+mn-ea"/>
                <a:cs typeface="+mn-ea"/>
              </a:rPr>
              <a:t>发表</a:t>
            </a:r>
            <a:endParaRPr lang="zh-CN" altLang="en-US" sz="1100" b="1" i="0" dirty="0">
              <a:solidFill>
                <a:srgbClr val="8C8C8C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05" name="表头-引用"/>
          <p:cNvSpPr/>
          <p:nvPr/>
        </p:nvSpPr>
        <p:spPr>
          <a:xfrm>
            <a:off x="10060000" y="1420000"/>
            <a:ext cx="7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1" i="0" dirty="0">
                <a:solidFill>
                  <a:srgbClr val="8C8C8C"/>
                </a:solidFill>
                <a:latin typeface="+mn-ea"/>
                <a:ea typeface="+mn-ea"/>
                <a:cs typeface="+mn-ea"/>
              </a:rPr>
              <a:t>引用</a:t>
            </a:r>
            <a:endParaRPr lang="zh-CN" altLang="en-US" sz="1100" b="1" i="0" dirty="0">
              <a:solidFill>
                <a:srgbClr val="8C8C8C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06" name="表头-GitHub ★"/>
          <p:cNvSpPr/>
          <p:nvPr/>
        </p:nvSpPr>
        <p:spPr>
          <a:xfrm>
            <a:off x="10800000" y="1420000"/>
            <a:ext cx="7824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1" i="0" dirty="0">
                <a:solidFill>
                  <a:srgbClr val="8C8C8C"/>
                </a:solidFill>
                <a:latin typeface="+mn-ea"/>
                <a:ea typeface="+mn-ea"/>
                <a:cs typeface="+mn-ea"/>
              </a:rPr>
              <a:t>GitHub ★</a:t>
            </a:r>
            <a:endParaRPr lang="zh-CN" altLang="en-US" sz="1100" b="1" i="0" dirty="0">
              <a:solidFill>
                <a:srgbClr val="8C8C8C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07" name="表头分隔线"/>
          <p:cNvSpPr/>
          <p:nvPr/>
        </p:nvSpPr>
        <p:spPr>
          <a:xfrm>
            <a:off x="609600" y="1762000"/>
            <a:ext cx="10972800" cy="127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endParaRPr lang="zh-CN" sz="1000"/>
          </a:p>
        </p:txBody>
      </p:sp>
      <p:sp>
        <p:nvSpPr>
          <p:cNvPr id="5008" name="行背景-SpeechGPT"/>
          <p:cNvSpPr/>
          <p:nvPr/>
        </p:nvSpPr>
        <p:spPr>
          <a:xfrm>
            <a:off x="609600" y="1790000"/>
            <a:ext cx="10972800" cy="585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endParaRPr lang="zh-CN" sz="1000"/>
          </a:p>
        </p:txBody>
      </p:sp>
      <p:sp>
        <p:nvSpPr>
          <p:cNvPr id="5009" name="时间-SpeechGPT"/>
          <p:cNvSpPr/>
          <p:nvPr/>
        </p:nvSpPr>
        <p:spPr>
          <a:xfrm>
            <a:off x="700000" y="1790000"/>
            <a:ext cx="880000" cy="585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595959"/>
                </a:solidFill>
                <a:latin typeface="+mn-ea"/>
                <a:ea typeface="+mn-ea"/>
                <a:cs typeface="+mn-ea"/>
              </a:rPr>
              <a:t>2023.05</a:t>
            </a:r>
            <a:endParaRPr lang="zh-CN" altLang="en-US" sz="1200" b="0" i="0" dirty="0">
              <a:solidFill>
                <a:srgbClr val="595959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10" name="名称-SpeechGPT"/>
          <p:cNvSpPr/>
          <p:nvPr/>
        </p:nvSpPr>
        <p:spPr>
          <a:xfrm>
            <a:off x="1600000" y="1790000"/>
            <a:ext cx="2560000" cy="585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i="0" dirty="0">
                <a:solidFill>
                  <a:srgbClr val="262626"/>
                </a:solidFill>
                <a:latin typeface="+mn-ea"/>
                <a:ea typeface="+mn-ea"/>
                <a:cs typeface="+mn-ea"/>
              </a:rPr>
              <a:t>SpeechGPT</a:t>
            </a:r>
            <a:endParaRPr lang="zh-CN" altLang="en-US" sz="1400" b="1" i="0" dirty="0">
              <a:solidFill>
                <a:srgbClr val="262626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11" name="内容-SpeechGPT"/>
          <p:cNvSpPr/>
          <p:nvPr/>
        </p:nvSpPr>
        <p:spPr>
          <a:xfrm>
            <a:off x="4200000" y="1790000"/>
            <a:ext cx="3860000" cy="585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+mn-ea"/>
                <a:ea typeface="+mn-ea"/>
                <a:cs typeface="+mn-ea"/>
              </a:rPr>
              <a:t>基于 semantic token 的语音 LLM</a:t>
            </a:r>
            <a:endParaRPr lang="zh-CN" altLang="en-US" sz="1200" b="0" i="0" dirty="0">
              <a:solidFill>
                <a:srgbClr val="262626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12" name="发表-SpeechGPT"/>
          <p:cNvSpPr/>
          <p:nvPr/>
        </p:nvSpPr>
        <p:spPr>
          <a:xfrm>
            <a:off x="8170000" y="1917500"/>
            <a:ext cx="1830000" cy="330000"/>
          </a:xfrm>
          <a:prstGeom prst="roundRect">
            <a:avLst>
              <a:gd name="adj" fmla="val 50000"/>
            </a:avLst>
          </a:prstGeom>
          <a:solidFill>
            <a:srgbClr val="0E419C"/>
          </a:solidFill>
          <a:ln>
            <a:noFill/>
          </a:ln>
        </p:spPr>
        <p:txBody>
          <a:bodyPr wrap="square" lIns="36000" tIns="0" rIns="3600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50" b="1" i="0" dirty="0">
                <a:solidFill>
                  <a:srgbClr val="FFFFFF"/>
                </a:solidFill>
                <a:latin typeface="+mn-ea"/>
                <a:ea typeface="+mn-ea"/>
                <a:cs typeface="+mn-ea"/>
              </a:rPr>
              <a:t>EMNLP 2023 Findings</a:t>
            </a:r>
            <a:endParaRPr lang="zh-CN" altLang="en-US" sz="1050" b="1" i="0" dirty="0">
              <a:solidFill>
                <a:srgbClr val="FFFFFF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13" name="cite-SpeechGPT"/>
          <p:cNvSpPr/>
          <p:nvPr/>
        </p:nvSpPr>
        <p:spPr>
          <a:xfrm>
            <a:off x="10060000" y="1790000"/>
            <a:ext cx="700000" cy="58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dirty="0">
                <a:solidFill>
                  <a:srgbClr val="262626"/>
                </a:solidFill>
                <a:latin typeface="+mn-ea"/>
                <a:ea typeface="+mn-ea"/>
                <a:cs typeface="+mn-ea"/>
              </a:rPr>
              <a:t>849</a:t>
            </a:r>
            <a:endParaRPr lang="zh-CN" altLang="en-US" sz="1500" b="1" i="0" dirty="0">
              <a:solidFill>
                <a:srgbClr val="262626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14" name="star-SpeechGPT"/>
          <p:cNvSpPr/>
          <p:nvPr/>
        </p:nvSpPr>
        <p:spPr>
          <a:xfrm>
            <a:off x="10800000" y="1790000"/>
            <a:ext cx="782400" cy="58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dirty="0">
                <a:solidFill>
                  <a:srgbClr val="262626"/>
                </a:solidFill>
                <a:latin typeface="+mn-ea"/>
                <a:ea typeface="+mn-ea"/>
                <a:cs typeface="+mn-ea"/>
              </a:rPr>
              <a:t>1.4k</a:t>
            </a:r>
            <a:endParaRPr lang="zh-CN" altLang="en-US" sz="1500" b="1" i="0" dirty="0">
              <a:solidFill>
                <a:srgbClr val="262626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15" name="行背景-SpeechGPT-Gen"/>
          <p:cNvSpPr/>
          <p:nvPr/>
        </p:nvSpPr>
        <p:spPr>
          <a:xfrm>
            <a:off x="609600" y="2410000"/>
            <a:ext cx="10972800" cy="585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endParaRPr lang="zh-CN" sz="1000"/>
          </a:p>
        </p:txBody>
      </p:sp>
      <p:sp>
        <p:nvSpPr>
          <p:cNvPr id="5016" name="时间-SpeechGPT-Gen"/>
          <p:cNvSpPr/>
          <p:nvPr/>
        </p:nvSpPr>
        <p:spPr>
          <a:xfrm>
            <a:off x="700000" y="2410000"/>
            <a:ext cx="880000" cy="585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595959"/>
                </a:solidFill>
                <a:latin typeface="+mn-ea"/>
                <a:ea typeface="+mn-ea"/>
                <a:cs typeface="+mn-ea"/>
              </a:rPr>
              <a:t>2024.01</a:t>
            </a:r>
            <a:endParaRPr lang="zh-CN" altLang="en-US" sz="1200" b="0" i="0" dirty="0">
              <a:solidFill>
                <a:srgbClr val="595959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17" name="名称-SpeechGPT-Gen"/>
          <p:cNvSpPr/>
          <p:nvPr/>
        </p:nvSpPr>
        <p:spPr>
          <a:xfrm>
            <a:off x="1600000" y="2410000"/>
            <a:ext cx="2560000" cy="585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i="0" dirty="0">
                <a:solidFill>
                  <a:srgbClr val="262626"/>
                </a:solidFill>
                <a:latin typeface="+mn-ea"/>
                <a:ea typeface="+mn-ea"/>
                <a:cs typeface="+mn-ea"/>
              </a:rPr>
              <a:t>SpeechGPT-Gen</a:t>
            </a:r>
            <a:endParaRPr lang="zh-CN" altLang="en-US" sz="1400" b="1" i="0" dirty="0">
              <a:solidFill>
                <a:srgbClr val="262626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18" name="内容-SpeechGPT-Gen"/>
          <p:cNvSpPr/>
          <p:nvPr/>
        </p:nvSpPr>
        <p:spPr>
          <a:xfrm>
            <a:off x="4200000" y="2410000"/>
            <a:ext cx="3860000" cy="585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+mn-ea"/>
                <a:ea typeface="+mn-ea"/>
                <a:cs typeface="+mn-ea"/>
              </a:rPr>
              <a:t>semantic 和 acoustic 分离建模的语音 LLM</a:t>
            </a:r>
            <a:endParaRPr lang="zh-CN" altLang="en-US" sz="1200" b="0" i="0" dirty="0">
              <a:solidFill>
                <a:srgbClr val="262626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19" name="发表-SpeechGPT-Gen"/>
          <p:cNvSpPr/>
          <p:nvPr/>
        </p:nvSpPr>
        <p:spPr>
          <a:xfrm>
            <a:off x="8170000" y="2537500"/>
            <a:ext cx="1830000" cy="33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36000" tIns="0" rIns="3600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50" b="1" i="0" dirty="0">
                <a:solidFill>
                  <a:srgbClr val="595959"/>
                </a:solidFill>
                <a:latin typeface="+mn-ea"/>
                <a:ea typeface="+mn-ea"/>
                <a:cs typeface="+mn-ea"/>
              </a:rPr>
              <a:t>arXiv</a:t>
            </a:r>
            <a:endParaRPr lang="zh-CN" altLang="en-US" sz="1050" b="1" i="0" dirty="0">
              <a:solidFill>
                <a:srgbClr val="595959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20" name="cite-SpeechGPT-Gen"/>
          <p:cNvSpPr/>
          <p:nvPr/>
        </p:nvSpPr>
        <p:spPr>
          <a:xfrm>
            <a:off x="10060000" y="2410000"/>
            <a:ext cx="700000" cy="58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dirty="0">
                <a:solidFill>
                  <a:srgbClr val="262626"/>
                </a:solidFill>
                <a:latin typeface="+mn-ea"/>
                <a:ea typeface="+mn-ea"/>
                <a:cs typeface="+mn-ea"/>
              </a:rPr>
              <a:t>60</a:t>
            </a:r>
            <a:endParaRPr lang="zh-CN" altLang="en-US" sz="1500" b="1" i="0" dirty="0">
              <a:solidFill>
                <a:srgbClr val="262626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21" name="star-SpeechGPT-Gen"/>
          <p:cNvSpPr/>
          <p:nvPr/>
        </p:nvSpPr>
        <p:spPr>
          <a:xfrm>
            <a:off x="10800000" y="2410000"/>
            <a:ext cx="782400" cy="58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0" i="0" dirty="0">
                <a:solidFill>
                  <a:srgbClr val="8C8C8C"/>
                </a:solidFill>
                <a:latin typeface="+mn-ea"/>
                <a:ea typeface="+mn-ea"/>
                <a:cs typeface="+mn-ea"/>
              </a:rPr>
              <a:t>同上</a:t>
            </a:r>
            <a:endParaRPr lang="zh-CN" altLang="en-US" sz="1100" b="0" i="0" dirty="0">
              <a:solidFill>
                <a:srgbClr val="8C8C8C"/>
              </a:solidFill>
              <a:latin typeface="+mn-ea"/>
              <a:ea typeface="+mn-ea"/>
              <a:cs typeface="+mn-ea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850" b="0" i="0" dirty="0">
                <a:solidFill>
                  <a:srgbClr val="8C8C8C"/>
                </a:solidFill>
                <a:latin typeface="+mn-ea"/>
                <a:ea typeface="+mn-ea"/>
                <a:cs typeface="+mn-ea"/>
              </a:rPr>
              <a:t>共用仓库</a:t>
            </a:r>
            <a:endParaRPr lang="zh-CN" altLang="en-US" sz="850" b="0" i="0" dirty="0">
              <a:solidFill>
                <a:srgbClr val="8C8C8C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22" name="行背景-AnyGPT"/>
          <p:cNvSpPr/>
          <p:nvPr/>
        </p:nvSpPr>
        <p:spPr>
          <a:xfrm>
            <a:off x="609600" y="3030000"/>
            <a:ext cx="10972800" cy="585000"/>
          </a:xfrm>
          <a:prstGeom prst="rect">
            <a:avLst/>
          </a:prstGeom>
          <a:solidFill>
            <a:srgbClr val="EAF0FA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endParaRPr lang="zh-CN" sz="1000"/>
          </a:p>
        </p:txBody>
      </p:sp>
      <p:sp>
        <p:nvSpPr>
          <p:cNvPr id="5023" name="一作标记-AnyGPT"/>
          <p:cNvSpPr/>
          <p:nvPr/>
        </p:nvSpPr>
        <p:spPr>
          <a:xfrm>
            <a:off x="609600" y="3030000"/>
            <a:ext cx="54000" cy="585000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endParaRPr lang="zh-CN" sz="1000"/>
          </a:p>
        </p:txBody>
      </p:sp>
      <p:sp>
        <p:nvSpPr>
          <p:cNvPr id="5024" name="时间-AnyGPT"/>
          <p:cNvSpPr/>
          <p:nvPr/>
        </p:nvSpPr>
        <p:spPr>
          <a:xfrm>
            <a:off x="700000" y="3030000"/>
            <a:ext cx="880000" cy="585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595959"/>
                </a:solidFill>
                <a:latin typeface="+mn-ea"/>
                <a:ea typeface="+mn-ea"/>
                <a:cs typeface="+mn-ea"/>
              </a:rPr>
              <a:t>2024.02</a:t>
            </a:r>
            <a:endParaRPr lang="zh-CN" altLang="en-US" sz="1200" b="0" i="0" dirty="0">
              <a:solidFill>
                <a:srgbClr val="595959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25" name="名称-AnyGPT"/>
          <p:cNvSpPr/>
          <p:nvPr/>
        </p:nvSpPr>
        <p:spPr>
          <a:xfrm>
            <a:off x="1600000" y="3030000"/>
            <a:ext cx="2560000" cy="585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i="0" dirty="0">
                <a:solidFill>
                  <a:srgbClr val="1F3C88"/>
                </a:solidFill>
                <a:latin typeface="+mn-ea"/>
                <a:ea typeface="+mn-ea"/>
                <a:cs typeface="+mn-ea"/>
              </a:rPr>
              <a:t>AnyGPT</a:t>
            </a:r>
            <a:endParaRPr lang="zh-CN" altLang="en-US" sz="1400" b="1" i="0" dirty="0">
              <a:solidFill>
                <a:srgbClr val="1F3C88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26" name="内容-AnyGPT"/>
          <p:cNvSpPr/>
          <p:nvPr/>
        </p:nvSpPr>
        <p:spPr>
          <a:xfrm>
            <a:off x="4200000" y="3030000"/>
            <a:ext cx="3860000" cy="585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+mn-ea"/>
                <a:ea typeface="+mn-ea"/>
                <a:cs typeface="+mn-ea"/>
              </a:rPr>
              <a:t>基于离散 token，文本、图像、语音、音乐的理解与生成统一 LLM</a:t>
            </a:r>
            <a:endParaRPr lang="zh-CN" altLang="en-US" sz="1200" b="0" i="0" dirty="0">
              <a:solidFill>
                <a:srgbClr val="262626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27" name="发表-AnyGPT"/>
          <p:cNvSpPr/>
          <p:nvPr/>
        </p:nvSpPr>
        <p:spPr>
          <a:xfrm>
            <a:off x="8170000" y="3157500"/>
            <a:ext cx="1830000" cy="330000"/>
          </a:xfrm>
          <a:prstGeom prst="roundRect">
            <a:avLst>
              <a:gd name="adj" fmla="val 50000"/>
            </a:avLst>
          </a:prstGeom>
          <a:solidFill>
            <a:srgbClr val="0E419C"/>
          </a:solidFill>
          <a:ln>
            <a:noFill/>
          </a:ln>
        </p:spPr>
        <p:txBody>
          <a:bodyPr wrap="square" lIns="36000" tIns="0" rIns="3600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50" b="1" i="0" dirty="0">
                <a:solidFill>
                  <a:srgbClr val="FFFFFF"/>
                </a:solidFill>
                <a:latin typeface="+mn-ea"/>
                <a:ea typeface="+mn-ea"/>
                <a:cs typeface="+mn-ea"/>
              </a:rPr>
              <a:t>ACL 2024</a:t>
            </a:r>
            <a:endParaRPr lang="zh-CN" altLang="en-US" sz="1050" b="1" i="0" dirty="0">
              <a:solidFill>
                <a:srgbClr val="FFFFFF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28" name="cite-AnyGPT"/>
          <p:cNvSpPr/>
          <p:nvPr/>
        </p:nvSpPr>
        <p:spPr>
          <a:xfrm>
            <a:off x="10060000" y="3030000"/>
            <a:ext cx="700000" cy="58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dirty="0">
                <a:solidFill>
                  <a:srgbClr val="262626"/>
                </a:solidFill>
                <a:latin typeface="+mn-ea"/>
                <a:ea typeface="+mn-ea"/>
                <a:cs typeface="+mn-ea"/>
              </a:rPr>
              <a:t>344</a:t>
            </a:r>
            <a:endParaRPr lang="zh-CN" altLang="en-US" sz="1500" b="1" i="0" dirty="0">
              <a:solidFill>
                <a:srgbClr val="262626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29" name="star-AnyGPT"/>
          <p:cNvSpPr/>
          <p:nvPr/>
        </p:nvSpPr>
        <p:spPr>
          <a:xfrm>
            <a:off x="10800000" y="3030000"/>
            <a:ext cx="782400" cy="58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dirty="0">
                <a:solidFill>
                  <a:srgbClr val="262626"/>
                </a:solidFill>
                <a:latin typeface="+mn-ea"/>
                <a:ea typeface="+mn-ea"/>
                <a:cs typeface="+mn-ea"/>
              </a:rPr>
              <a:t>888</a:t>
            </a:r>
            <a:endParaRPr lang="zh-CN" altLang="en-US" sz="1500" b="1" i="0" dirty="0">
              <a:solidFill>
                <a:srgbClr val="262626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30" name="行背景-SpeechGPT2.0-preview"/>
          <p:cNvSpPr/>
          <p:nvPr/>
        </p:nvSpPr>
        <p:spPr>
          <a:xfrm>
            <a:off x="609600" y="3650000"/>
            <a:ext cx="10972800" cy="585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endParaRPr lang="zh-CN" sz="1000"/>
          </a:p>
        </p:txBody>
      </p:sp>
      <p:sp>
        <p:nvSpPr>
          <p:cNvPr id="5031" name="时间-SpeechGPT2.0-preview"/>
          <p:cNvSpPr/>
          <p:nvPr/>
        </p:nvSpPr>
        <p:spPr>
          <a:xfrm>
            <a:off x="700000" y="3650000"/>
            <a:ext cx="880000" cy="585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595959"/>
                </a:solidFill>
                <a:latin typeface="+mn-ea"/>
                <a:ea typeface="+mn-ea"/>
                <a:cs typeface="+mn-ea"/>
              </a:rPr>
              <a:t>2025.01</a:t>
            </a:r>
            <a:endParaRPr lang="zh-CN" altLang="en-US" sz="1200" b="0" i="0" dirty="0">
              <a:solidFill>
                <a:srgbClr val="595959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32" name="名称-SpeechGPT2.0-preview"/>
          <p:cNvSpPr/>
          <p:nvPr/>
        </p:nvSpPr>
        <p:spPr>
          <a:xfrm>
            <a:off x="1600000" y="3650000"/>
            <a:ext cx="2560000" cy="585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i="0" dirty="0">
                <a:solidFill>
                  <a:srgbClr val="262626"/>
                </a:solidFill>
                <a:latin typeface="+mn-ea"/>
                <a:ea typeface="+mn-ea"/>
                <a:cs typeface="+mn-ea"/>
              </a:rPr>
              <a:t>SpeechGPT2.0-preview</a:t>
            </a:r>
            <a:endParaRPr lang="zh-CN" altLang="en-US" sz="1400" b="1" i="0" dirty="0">
              <a:solidFill>
                <a:srgbClr val="262626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33" name="内容-SpeechGPT2.0-preview"/>
          <p:cNvSpPr/>
          <p:nvPr/>
        </p:nvSpPr>
        <p:spPr>
          <a:xfrm>
            <a:off x="4200000" y="3650000"/>
            <a:ext cx="3860000" cy="585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+mn-ea"/>
                <a:ea typeface="+mn-ea"/>
                <a:cs typeface="+mn-ea"/>
              </a:rPr>
              <a:t>Global AR + Local AR 的完整语音建模</a:t>
            </a:r>
            <a:endParaRPr lang="zh-CN" altLang="en-US" sz="1200" b="0" i="0" dirty="0">
              <a:solidFill>
                <a:srgbClr val="262626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34" name="发表-SpeechGPT2.0-preview"/>
          <p:cNvSpPr/>
          <p:nvPr/>
        </p:nvSpPr>
        <p:spPr>
          <a:xfrm>
            <a:off x="8170000" y="3777500"/>
            <a:ext cx="1830000" cy="33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36000" tIns="0" rIns="3600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50" b="1" i="0" dirty="0">
                <a:solidFill>
                  <a:srgbClr val="595959"/>
                </a:solidFill>
                <a:latin typeface="+mn-ea"/>
                <a:ea typeface="+mn-ea"/>
                <a:cs typeface="+mn-ea"/>
              </a:rPr>
              <a:t>开源模型</a:t>
            </a:r>
            <a:endParaRPr lang="zh-CN" altLang="en-US" sz="1050" b="1" i="0" dirty="0">
              <a:solidFill>
                <a:srgbClr val="595959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35" name="cite-SpeechGPT2.0-preview"/>
          <p:cNvSpPr/>
          <p:nvPr/>
        </p:nvSpPr>
        <p:spPr>
          <a:xfrm>
            <a:off x="10060000" y="3650000"/>
            <a:ext cx="700000" cy="58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A6A6A6"/>
                </a:solidFill>
                <a:latin typeface="+mn-ea"/>
                <a:ea typeface="+mn-ea"/>
                <a:cs typeface="+mn-ea"/>
              </a:rPr>
              <a:t>—</a:t>
            </a:r>
            <a:endParaRPr lang="zh-CN" altLang="en-US" sz="1300" b="0" i="0" dirty="0">
              <a:solidFill>
                <a:srgbClr val="A6A6A6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36" name="star-SpeechGPT2.0-preview"/>
          <p:cNvSpPr/>
          <p:nvPr/>
        </p:nvSpPr>
        <p:spPr>
          <a:xfrm>
            <a:off x="10800000" y="3650000"/>
            <a:ext cx="782400" cy="58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dirty="0">
                <a:solidFill>
                  <a:srgbClr val="262626"/>
                </a:solidFill>
                <a:latin typeface="+mn-ea"/>
                <a:ea typeface="+mn-ea"/>
                <a:cs typeface="+mn-ea"/>
              </a:rPr>
              <a:t>375</a:t>
            </a:r>
            <a:endParaRPr lang="zh-CN" altLang="en-US" sz="1500" b="1" i="0" dirty="0">
              <a:solidFill>
                <a:srgbClr val="262626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37" name="行背景-VStyle"/>
          <p:cNvSpPr/>
          <p:nvPr/>
        </p:nvSpPr>
        <p:spPr>
          <a:xfrm>
            <a:off x="609600" y="4270000"/>
            <a:ext cx="10972800" cy="585000"/>
          </a:xfrm>
          <a:prstGeom prst="rect">
            <a:avLst/>
          </a:prstGeom>
          <a:solidFill>
            <a:srgbClr val="EAF0FA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endParaRPr lang="zh-CN" sz="1000"/>
          </a:p>
        </p:txBody>
      </p:sp>
      <p:sp>
        <p:nvSpPr>
          <p:cNvPr id="5038" name="一作标记-VStyle"/>
          <p:cNvSpPr/>
          <p:nvPr/>
        </p:nvSpPr>
        <p:spPr>
          <a:xfrm>
            <a:off x="609600" y="4270000"/>
            <a:ext cx="54000" cy="585000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endParaRPr lang="zh-CN" sz="1000"/>
          </a:p>
        </p:txBody>
      </p:sp>
      <p:sp>
        <p:nvSpPr>
          <p:cNvPr id="5039" name="时间-VStyle"/>
          <p:cNvSpPr/>
          <p:nvPr/>
        </p:nvSpPr>
        <p:spPr>
          <a:xfrm>
            <a:off x="700000" y="4270000"/>
            <a:ext cx="880000" cy="585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595959"/>
                </a:solidFill>
                <a:latin typeface="+mn-ea"/>
                <a:ea typeface="+mn-ea"/>
                <a:cs typeface="+mn-ea"/>
              </a:rPr>
              <a:t>2025.08</a:t>
            </a:r>
            <a:endParaRPr lang="zh-CN" altLang="en-US" sz="1200" b="0" i="0" dirty="0">
              <a:solidFill>
                <a:srgbClr val="595959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40" name="名称-VStyle"/>
          <p:cNvSpPr/>
          <p:nvPr/>
        </p:nvSpPr>
        <p:spPr>
          <a:xfrm>
            <a:off x="1600000" y="4270000"/>
            <a:ext cx="2560000" cy="585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i="0" dirty="0">
                <a:solidFill>
                  <a:srgbClr val="1F3C88"/>
                </a:solidFill>
                <a:latin typeface="+mn-ea"/>
                <a:ea typeface="+mn-ea"/>
                <a:cs typeface="+mn-ea"/>
              </a:rPr>
              <a:t>VStyle</a:t>
            </a:r>
            <a:endParaRPr lang="zh-CN" altLang="en-US" sz="1400" b="1" i="0" dirty="0">
              <a:solidFill>
                <a:srgbClr val="1F3C88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41" name="内容-VStyle"/>
          <p:cNvSpPr/>
          <p:nvPr/>
        </p:nvSpPr>
        <p:spPr>
          <a:xfrm>
            <a:off x="4200000" y="4270000"/>
            <a:ext cx="3860000" cy="585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+mn-ea"/>
                <a:ea typeface="+mn-ea"/>
                <a:cs typeface="+mn-ea"/>
              </a:rPr>
              <a:t>语音对话模型 Voice Style Adaptation 能力的 LALM-As-a-Judge 基准</a:t>
            </a:r>
            <a:endParaRPr lang="zh-CN" altLang="en-US" sz="1200" b="0" i="0" dirty="0">
              <a:solidFill>
                <a:srgbClr val="262626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42" name="发表-VStyle"/>
          <p:cNvSpPr/>
          <p:nvPr/>
        </p:nvSpPr>
        <p:spPr>
          <a:xfrm>
            <a:off x="8170000" y="4397500"/>
            <a:ext cx="1830000" cy="330000"/>
          </a:xfrm>
          <a:prstGeom prst="roundRect">
            <a:avLst>
              <a:gd name="adj" fmla="val 50000"/>
            </a:avLst>
          </a:prstGeom>
          <a:solidFill>
            <a:srgbClr val="0E419C"/>
          </a:solidFill>
          <a:ln>
            <a:noFill/>
          </a:ln>
        </p:spPr>
        <p:txBody>
          <a:bodyPr wrap="square" lIns="36000" tIns="0" rIns="3600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50" b="1" i="0" dirty="0">
                <a:solidFill>
                  <a:srgbClr val="FFFFFF"/>
                </a:solidFill>
                <a:latin typeface="+mn-ea"/>
                <a:ea typeface="+mn-ea"/>
                <a:cs typeface="+mn-ea"/>
              </a:rPr>
              <a:t>ICASSP 2026</a:t>
            </a:r>
            <a:endParaRPr lang="zh-CN" altLang="en-US" sz="1050" b="1" i="0" dirty="0">
              <a:solidFill>
                <a:srgbClr val="FFFFFF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43" name="cite-VStyle"/>
          <p:cNvSpPr/>
          <p:nvPr/>
        </p:nvSpPr>
        <p:spPr>
          <a:xfrm>
            <a:off x="10060000" y="4270000"/>
            <a:ext cx="700000" cy="58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dirty="0">
                <a:solidFill>
                  <a:srgbClr val="262626"/>
                </a:solidFill>
                <a:latin typeface="+mn-ea"/>
                <a:ea typeface="+mn-ea"/>
                <a:cs typeface="+mn-ea"/>
              </a:rPr>
              <a:t>11</a:t>
            </a:r>
            <a:endParaRPr lang="zh-CN" altLang="en-US" sz="1500" b="1" i="0" dirty="0">
              <a:solidFill>
                <a:srgbClr val="262626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44" name="star-VStyle"/>
          <p:cNvSpPr/>
          <p:nvPr/>
        </p:nvSpPr>
        <p:spPr>
          <a:xfrm>
            <a:off x="10800000" y="4270000"/>
            <a:ext cx="782400" cy="58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dirty="0">
                <a:solidFill>
                  <a:srgbClr val="262626"/>
                </a:solidFill>
                <a:latin typeface="+mn-ea"/>
                <a:ea typeface="+mn-ea"/>
                <a:cs typeface="+mn-ea"/>
              </a:rPr>
              <a:t>34</a:t>
            </a:r>
            <a:endParaRPr lang="zh-CN" altLang="en-US" sz="1500" b="1" i="0" dirty="0">
              <a:solidFill>
                <a:srgbClr val="262626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45" name="行背景-OmniVAE"/>
          <p:cNvSpPr/>
          <p:nvPr/>
        </p:nvSpPr>
        <p:spPr>
          <a:xfrm>
            <a:off x="609600" y="4890000"/>
            <a:ext cx="10972800" cy="585000"/>
          </a:xfrm>
          <a:prstGeom prst="rect">
            <a:avLst/>
          </a:prstGeom>
          <a:solidFill>
            <a:srgbClr val="EAF0FA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endParaRPr lang="zh-CN" sz="1000"/>
          </a:p>
        </p:txBody>
      </p:sp>
      <p:sp>
        <p:nvSpPr>
          <p:cNvPr id="5046" name="一作标记-OmniVAE"/>
          <p:cNvSpPr/>
          <p:nvPr/>
        </p:nvSpPr>
        <p:spPr>
          <a:xfrm>
            <a:off x="609600" y="4890000"/>
            <a:ext cx="54000" cy="585000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endParaRPr lang="zh-CN" sz="1000"/>
          </a:p>
        </p:txBody>
      </p:sp>
      <p:sp>
        <p:nvSpPr>
          <p:cNvPr id="5047" name="时间-OmniVAE"/>
          <p:cNvSpPr/>
          <p:nvPr/>
        </p:nvSpPr>
        <p:spPr>
          <a:xfrm>
            <a:off x="700000" y="4890000"/>
            <a:ext cx="880000" cy="585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595959"/>
                </a:solidFill>
                <a:latin typeface="+mn-ea"/>
                <a:ea typeface="+mn-ea"/>
                <a:cs typeface="+mn-ea"/>
              </a:rPr>
              <a:t>2026.05</a:t>
            </a:r>
            <a:endParaRPr lang="zh-CN" altLang="en-US" sz="1200" b="0" i="0" dirty="0">
              <a:solidFill>
                <a:srgbClr val="595959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48" name="名称-OmniVAE"/>
          <p:cNvSpPr/>
          <p:nvPr/>
        </p:nvSpPr>
        <p:spPr>
          <a:xfrm>
            <a:off x="1600000" y="4890000"/>
            <a:ext cx="2560000" cy="585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i="0" dirty="0">
                <a:solidFill>
                  <a:srgbClr val="1F3C88"/>
                </a:solidFill>
                <a:latin typeface="+mn-ea"/>
                <a:ea typeface="+mn-ea"/>
                <a:cs typeface="+mn-ea"/>
              </a:rPr>
              <a:t>OmniVAE</a:t>
            </a:r>
            <a:endParaRPr lang="zh-CN" altLang="en-US" sz="1400" b="1" i="0" dirty="0">
              <a:solidFill>
                <a:srgbClr val="1F3C88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49" name="内容-OmniVAE"/>
          <p:cNvSpPr/>
          <p:nvPr/>
        </p:nvSpPr>
        <p:spPr>
          <a:xfrm>
            <a:off x="4200000" y="4890000"/>
            <a:ext cx="3860000" cy="585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+mn-ea"/>
                <a:ea typeface="+mn-ea"/>
                <a:cs typeface="+mn-ea"/>
              </a:rPr>
              <a:t>联合学习音频与视频表征的 VAE</a:t>
            </a:r>
            <a:endParaRPr lang="zh-CN" altLang="en-US" sz="1200" b="0" i="0" dirty="0">
              <a:solidFill>
                <a:srgbClr val="262626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50" name="发表-OmniVAE"/>
          <p:cNvSpPr/>
          <p:nvPr/>
        </p:nvSpPr>
        <p:spPr>
          <a:xfrm>
            <a:off x="8170000" y="5017500"/>
            <a:ext cx="1830000" cy="330000"/>
          </a:xfrm>
          <a:prstGeom prst="roundRect">
            <a:avLst>
              <a:gd name="adj" fmla="val 50000"/>
            </a:avLst>
          </a:prstGeom>
          <a:solidFill>
            <a:srgbClr val="FFF3E3"/>
          </a:solidFill>
          <a:ln w="9525">
            <a:solidFill>
              <a:srgbClr val="E08A2E"/>
            </a:solidFill>
          </a:ln>
        </p:spPr>
        <p:txBody>
          <a:bodyPr wrap="square" lIns="36000" tIns="0" rIns="3600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50" b="1" i="0" dirty="0">
                <a:solidFill>
                  <a:srgbClr val="C0610B"/>
                </a:solidFill>
                <a:latin typeface="+mn-ea"/>
                <a:ea typeface="+mn-ea"/>
                <a:cs typeface="+mn-ea"/>
              </a:rPr>
              <a:t>ICLR (Under Review)</a:t>
            </a:r>
            <a:endParaRPr lang="zh-CN" altLang="en-US" sz="1050" b="1" i="0" dirty="0">
              <a:solidFill>
                <a:srgbClr val="C0610B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51" name="cite-OmniVAE"/>
          <p:cNvSpPr/>
          <p:nvPr/>
        </p:nvSpPr>
        <p:spPr>
          <a:xfrm>
            <a:off x="10060000" y="4890000"/>
            <a:ext cx="700000" cy="58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A6A6A6"/>
                </a:solidFill>
                <a:latin typeface="+mn-ea"/>
                <a:ea typeface="+mn-ea"/>
                <a:cs typeface="+mn-ea"/>
              </a:rPr>
              <a:t>—</a:t>
            </a:r>
            <a:endParaRPr lang="zh-CN" altLang="en-US" sz="1300" b="0" i="0" dirty="0">
              <a:solidFill>
                <a:srgbClr val="A6A6A6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52" name="star-OmniVAE"/>
          <p:cNvSpPr/>
          <p:nvPr/>
        </p:nvSpPr>
        <p:spPr>
          <a:xfrm>
            <a:off x="10800000" y="4890000"/>
            <a:ext cx="782400" cy="58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dirty="0">
                <a:solidFill>
                  <a:srgbClr val="262626"/>
                </a:solidFill>
                <a:latin typeface="+mn-ea"/>
                <a:ea typeface="+mn-ea"/>
                <a:cs typeface="+mn-ea"/>
              </a:rPr>
              <a:t>95</a:t>
            </a:r>
            <a:endParaRPr lang="zh-CN" altLang="en-US" sz="1500" b="1" i="0" dirty="0">
              <a:solidFill>
                <a:srgbClr val="262626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53" name="行背景-SpeechMotionLM"/>
          <p:cNvSpPr/>
          <p:nvPr/>
        </p:nvSpPr>
        <p:spPr>
          <a:xfrm>
            <a:off x="609600" y="5510000"/>
            <a:ext cx="10972800" cy="5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dash"/>
          </a:ln>
        </p:spPr>
        <p:txBody>
          <a:bodyPr wrap="square" lIns="45720" tIns="0" rIns="45720" bIns="0" rtlCol="0" anchor="ctr">
            <a:noAutofit/>
          </a:bodyPr>
          <a:lstStyle/>
          <a:p>
            <a:endParaRPr lang="zh-CN" sz="1000"/>
          </a:p>
        </p:txBody>
      </p:sp>
      <p:sp>
        <p:nvSpPr>
          <p:cNvPr id="5054" name="时间-SpeechMotionLM"/>
          <p:cNvSpPr/>
          <p:nvPr/>
        </p:nvSpPr>
        <p:spPr>
          <a:xfrm>
            <a:off x="700000" y="5510000"/>
            <a:ext cx="880000" cy="585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595959"/>
                </a:solidFill>
                <a:latin typeface="+mn-ea"/>
                <a:ea typeface="+mn-ea"/>
                <a:cs typeface="+mn-ea"/>
              </a:rPr>
              <a:t>Ongoing</a:t>
            </a:r>
            <a:endParaRPr lang="zh-CN" altLang="en-US" sz="1200" b="0" i="0" dirty="0">
              <a:solidFill>
                <a:srgbClr val="595959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55" name="名称-SpeechMotionLM"/>
          <p:cNvSpPr/>
          <p:nvPr/>
        </p:nvSpPr>
        <p:spPr>
          <a:xfrm>
            <a:off x="1600000" y="5510000"/>
            <a:ext cx="2560000" cy="585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i="0" dirty="0">
                <a:solidFill>
                  <a:srgbClr val="262626"/>
                </a:solidFill>
                <a:latin typeface="+mn-ea"/>
                <a:ea typeface="+mn-ea"/>
                <a:cs typeface="+mn-ea"/>
              </a:rPr>
              <a:t>SpeechMotionLM</a:t>
            </a:r>
            <a:endParaRPr lang="zh-CN" altLang="en-US" sz="1400" b="1" i="0" dirty="0">
              <a:solidFill>
                <a:srgbClr val="262626"/>
              </a:solidFill>
              <a:latin typeface="+mn-ea"/>
              <a:ea typeface="+mn-ea"/>
              <a:cs typeface="+mn-ea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8C8C8C"/>
                </a:solidFill>
                <a:latin typeface="+mn-ea"/>
                <a:ea typeface="+mn-ea"/>
                <a:cs typeface="+mn-ea"/>
              </a:rPr>
              <a:t>实习工作</a:t>
            </a:r>
            <a:endParaRPr lang="zh-CN" altLang="en-US" sz="1000" b="0" i="0" dirty="0">
              <a:solidFill>
                <a:srgbClr val="8C8C8C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56" name="内容-SpeechMotionLM"/>
          <p:cNvSpPr/>
          <p:nvPr/>
        </p:nvSpPr>
        <p:spPr>
          <a:xfrm>
            <a:off x="4200000" y="5510000"/>
            <a:ext cx="3860000" cy="585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+mn-ea"/>
                <a:ea typeface="+mn-ea"/>
                <a:cs typeface="+mn-ea"/>
              </a:rPr>
              <a:t>全双工 Speech-Motion LLM —— 语音与 3D 人体的联合建模</a:t>
            </a:r>
            <a:endParaRPr lang="zh-CN" altLang="en-US" sz="1200" b="0" i="0" dirty="0">
              <a:solidFill>
                <a:srgbClr val="262626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57" name="发表-SpeechMotionLM"/>
          <p:cNvSpPr/>
          <p:nvPr/>
        </p:nvSpPr>
        <p:spPr>
          <a:xfrm>
            <a:off x="8170000" y="5637500"/>
            <a:ext cx="1830000" cy="33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08A2E"/>
            </a:solidFill>
            <a:prstDash val="dash"/>
          </a:ln>
        </p:spPr>
        <p:txBody>
          <a:bodyPr wrap="square" lIns="36000" tIns="0" rIns="3600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50" b="1" i="0" dirty="0">
                <a:solidFill>
                  <a:srgbClr val="C0610B"/>
                </a:solidFill>
                <a:latin typeface="+mn-ea"/>
                <a:ea typeface="+mn-ea"/>
                <a:cs typeface="+mn-ea"/>
              </a:rPr>
              <a:t>Target: IC</a:t>
            </a:r>
            <a:r>
              <a:rPr lang="en-US" altLang="zh-CN" sz="1050" b="1" i="0" dirty="0">
                <a:solidFill>
                  <a:srgbClr val="C0610B"/>
                </a:solidFill>
                <a:latin typeface="+mn-ea"/>
                <a:ea typeface="+mn-ea"/>
                <a:cs typeface="+mn-ea"/>
              </a:rPr>
              <a:t>ML</a:t>
            </a:r>
            <a:endParaRPr lang="en-US" altLang="zh-CN" sz="1050" b="1" i="0" dirty="0">
              <a:solidFill>
                <a:srgbClr val="C0610B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58" name="cite-SpeechMotionLM"/>
          <p:cNvSpPr/>
          <p:nvPr/>
        </p:nvSpPr>
        <p:spPr>
          <a:xfrm>
            <a:off x="10060000" y="5510000"/>
            <a:ext cx="700000" cy="58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A6A6A6"/>
                </a:solidFill>
                <a:latin typeface="+mn-ea"/>
                <a:ea typeface="+mn-ea"/>
                <a:cs typeface="+mn-ea"/>
              </a:rPr>
              <a:t>—</a:t>
            </a:r>
            <a:endParaRPr lang="zh-CN" altLang="en-US" sz="1300" b="0" i="0" dirty="0">
              <a:solidFill>
                <a:srgbClr val="A6A6A6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59" name="star-SpeechMotionLM"/>
          <p:cNvSpPr/>
          <p:nvPr/>
        </p:nvSpPr>
        <p:spPr>
          <a:xfrm>
            <a:off x="10800000" y="5510000"/>
            <a:ext cx="782400" cy="58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A6A6A6"/>
                </a:solidFill>
                <a:latin typeface="+mn-ea"/>
                <a:ea typeface="+mn-ea"/>
                <a:cs typeface="+mn-ea"/>
              </a:rPr>
              <a:t>—</a:t>
            </a:r>
            <a:endParaRPr lang="zh-CN" altLang="en-US" sz="1300" b="0" i="0" dirty="0">
              <a:solidFill>
                <a:srgbClr val="A6A6A6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60" name="脚注"/>
          <p:cNvSpPr/>
          <p:nvPr/>
        </p:nvSpPr>
        <p:spPr>
          <a:xfrm>
            <a:off x="609600" y="6155000"/>
            <a:ext cx="109728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0E419C"/>
                </a:solidFill>
                <a:latin typeface="+mn-ea"/>
                <a:ea typeface="+mn-ea"/>
                <a:cs typeface="+mn-ea"/>
              </a:rPr>
              <a:t>■ </a:t>
            </a:r>
            <a:r>
              <a:rPr lang="zh-CN" altLang="en-US" sz="1000" b="0" i="0" dirty="0">
                <a:solidFill>
                  <a:srgbClr val="595959"/>
                </a:solidFill>
                <a:latin typeface="+mn-ea"/>
                <a:ea typeface="+mn-ea"/>
                <a:cs typeface="+mn-ea"/>
              </a:rPr>
              <a:t>蓝色 = 第一作者；其余为合作工作</a:t>
            </a:r>
            <a:r>
              <a:rPr lang="zh-CN" altLang="en-US" sz="1000" b="0" i="0" dirty="0">
                <a:solidFill>
                  <a:srgbClr val="8C8C8C"/>
                </a:solidFill>
                <a:latin typeface="+mn-ea"/>
                <a:ea typeface="+mn-ea"/>
                <a:cs typeface="+mn-ea"/>
              </a:rPr>
              <a:t>      引用数来自 Google Scholar（总引用 2,012），Star 数来自 GitHub，统计于 2026-10-26</a:t>
            </a:r>
            <a:endParaRPr lang="zh-CN" altLang="en-US" sz="1000" b="0" i="0" dirty="0">
              <a:solidFill>
                <a:srgbClr val="8C8C8C"/>
              </a:solidFill>
              <a:latin typeface="+mn-ea"/>
              <a:ea typeface="+mn-ea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Collaborations</a:t>
            </a:r>
            <a:r>
              <a:t>: 参与的高影响力项目</a:t>
            </a:r>
          </a:p>
        </p:txBody>
      </p:sp>
      <p:sp>
        <p:nvSpPr>
          <p:cNvPr id="5063" name="文本框 2"/>
          <p:cNvSpPr txBox="1"/>
          <p:nvPr/>
        </p:nvSpPr>
        <p:spPr>
          <a:xfrm>
            <a:off x="609600" y="985000"/>
            <a:ext cx="10972800" cy="380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1600" b="1">
                <a:solidFill>
                  <a:srgbClr val="1F3C88"/>
                </a:solidFill>
              </a:rPr>
              <a:t>▎ 覆盖对话大模型、预训练数据配比、音乐生成、对话语音合成与音频理解</a:t>
            </a:r>
            <a:endParaRPr lang="zh-CN" altLang="en-US" sz="1600" b="1">
              <a:solidFill>
                <a:srgbClr val="1F3C88"/>
              </a:solidFill>
            </a:endParaRPr>
          </a:p>
        </p:txBody>
      </p:sp>
      <p:sp>
        <p:nvSpPr>
          <p:cNvPr id="5064" name="表头-时间"/>
          <p:cNvSpPr/>
          <p:nvPr/>
        </p:nvSpPr>
        <p:spPr>
          <a:xfrm>
            <a:off x="700000" y="1420000"/>
            <a:ext cx="88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0" bIns="0" rtlCol="0" anchor="b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1" i="0" dirty="0">
                <a:solidFill>
                  <a:srgbClr val="8C8C8C"/>
                </a:solidFill>
                <a:latin typeface="+mn-ea"/>
                <a:ea typeface="+mn-ea"/>
                <a:cs typeface="+mn-ea"/>
              </a:rPr>
              <a:t>时间</a:t>
            </a:r>
            <a:endParaRPr lang="zh-CN" altLang="en-US" sz="1100" b="1" i="0" dirty="0">
              <a:solidFill>
                <a:srgbClr val="8C8C8C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65" name="表头-项目"/>
          <p:cNvSpPr/>
          <p:nvPr/>
        </p:nvSpPr>
        <p:spPr>
          <a:xfrm>
            <a:off x="1600000" y="1420000"/>
            <a:ext cx="256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0" bIns="0" rtlCol="0" anchor="b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1" i="0" dirty="0">
                <a:solidFill>
                  <a:srgbClr val="8C8C8C"/>
                </a:solidFill>
                <a:latin typeface="+mn-ea"/>
                <a:ea typeface="+mn-ea"/>
                <a:cs typeface="+mn-ea"/>
              </a:rPr>
              <a:t>项目</a:t>
            </a:r>
            <a:endParaRPr lang="zh-CN" altLang="en-US" sz="1100" b="1" i="0" dirty="0">
              <a:solidFill>
                <a:srgbClr val="8C8C8C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66" name="表头-核心内容"/>
          <p:cNvSpPr/>
          <p:nvPr/>
        </p:nvSpPr>
        <p:spPr>
          <a:xfrm>
            <a:off x="4200000" y="1420000"/>
            <a:ext cx="386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0" bIns="0" rtlCol="0" anchor="b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1" i="0" dirty="0">
                <a:solidFill>
                  <a:srgbClr val="8C8C8C"/>
                </a:solidFill>
                <a:latin typeface="+mn-ea"/>
                <a:ea typeface="+mn-ea"/>
                <a:cs typeface="+mn-ea"/>
              </a:rPr>
              <a:t>核心内容</a:t>
            </a:r>
            <a:endParaRPr lang="zh-CN" altLang="en-US" sz="1100" b="1" i="0" dirty="0">
              <a:solidFill>
                <a:srgbClr val="8C8C8C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67" name="表头-发表"/>
          <p:cNvSpPr/>
          <p:nvPr/>
        </p:nvSpPr>
        <p:spPr>
          <a:xfrm>
            <a:off x="8170000" y="1420000"/>
            <a:ext cx="183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1" i="0" dirty="0">
                <a:solidFill>
                  <a:srgbClr val="8C8C8C"/>
                </a:solidFill>
                <a:latin typeface="+mn-ea"/>
                <a:ea typeface="+mn-ea"/>
                <a:cs typeface="+mn-ea"/>
              </a:rPr>
              <a:t>发表</a:t>
            </a:r>
            <a:endParaRPr lang="zh-CN" altLang="en-US" sz="1100" b="1" i="0" dirty="0">
              <a:solidFill>
                <a:srgbClr val="8C8C8C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68" name="表头-引用"/>
          <p:cNvSpPr/>
          <p:nvPr/>
        </p:nvSpPr>
        <p:spPr>
          <a:xfrm>
            <a:off x="10060000" y="1420000"/>
            <a:ext cx="7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1" i="0" dirty="0">
                <a:solidFill>
                  <a:srgbClr val="8C8C8C"/>
                </a:solidFill>
                <a:latin typeface="+mn-ea"/>
                <a:ea typeface="+mn-ea"/>
                <a:cs typeface="+mn-ea"/>
              </a:rPr>
              <a:t>引用</a:t>
            </a:r>
            <a:endParaRPr lang="zh-CN" altLang="en-US" sz="1100" b="1" i="0" dirty="0">
              <a:solidFill>
                <a:srgbClr val="8C8C8C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69" name="表头-GitHub ★"/>
          <p:cNvSpPr/>
          <p:nvPr/>
        </p:nvSpPr>
        <p:spPr>
          <a:xfrm>
            <a:off x="10800000" y="1420000"/>
            <a:ext cx="7824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1" i="0" dirty="0">
                <a:solidFill>
                  <a:srgbClr val="8C8C8C"/>
                </a:solidFill>
                <a:latin typeface="+mn-ea"/>
                <a:ea typeface="+mn-ea"/>
                <a:cs typeface="+mn-ea"/>
              </a:rPr>
              <a:t>GitHub ★</a:t>
            </a:r>
            <a:endParaRPr lang="zh-CN" altLang="en-US" sz="1100" b="1" i="0" dirty="0">
              <a:solidFill>
                <a:srgbClr val="8C8C8C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70" name="表头分隔线"/>
          <p:cNvSpPr/>
          <p:nvPr/>
        </p:nvSpPr>
        <p:spPr>
          <a:xfrm>
            <a:off x="609600" y="1762000"/>
            <a:ext cx="10972800" cy="127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endParaRPr lang="zh-CN" sz="1000"/>
          </a:p>
        </p:txBody>
      </p:sp>
      <p:sp>
        <p:nvSpPr>
          <p:cNvPr id="5071" name="行背景-MOSS"/>
          <p:cNvSpPr/>
          <p:nvPr/>
        </p:nvSpPr>
        <p:spPr>
          <a:xfrm>
            <a:off x="609600" y="1790000"/>
            <a:ext cx="10972800" cy="76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endParaRPr lang="zh-CN" sz="1000"/>
          </a:p>
        </p:txBody>
      </p:sp>
      <p:sp>
        <p:nvSpPr>
          <p:cNvPr id="5072" name="时间-MOSS"/>
          <p:cNvSpPr/>
          <p:nvPr/>
        </p:nvSpPr>
        <p:spPr>
          <a:xfrm>
            <a:off x="700000" y="1790000"/>
            <a:ext cx="88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595959"/>
                </a:solidFill>
                <a:latin typeface="+mn-ea"/>
                <a:ea typeface="+mn-ea"/>
                <a:cs typeface="+mn-ea"/>
              </a:rPr>
              <a:t>2023.04</a:t>
            </a:r>
            <a:endParaRPr lang="zh-CN" altLang="en-US" sz="1200" b="0" i="0" dirty="0">
              <a:solidFill>
                <a:srgbClr val="595959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73" name="名称-MOSS"/>
          <p:cNvSpPr/>
          <p:nvPr/>
        </p:nvSpPr>
        <p:spPr>
          <a:xfrm>
            <a:off x="1600000" y="1790000"/>
            <a:ext cx="256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i="0" dirty="0">
                <a:solidFill>
                  <a:srgbClr val="262626"/>
                </a:solidFill>
                <a:latin typeface="+mn-ea"/>
                <a:ea typeface="+mn-ea"/>
                <a:cs typeface="+mn-ea"/>
              </a:rPr>
              <a:t>MOSS</a:t>
            </a:r>
            <a:endParaRPr lang="zh-CN" altLang="en-US" sz="1400" b="1" i="0" dirty="0">
              <a:solidFill>
                <a:srgbClr val="262626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74" name="内容-MOSS"/>
          <p:cNvSpPr/>
          <p:nvPr/>
        </p:nvSpPr>
        <p:spPr>
          <a:xfrm>
            <a:off x="4200000" y="1790000"/>
            <a:ext cx="386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+mn-ea"/>
                <a:ea typeface="+mn-ea"/>
                <a:cs typeface="+mn-ea"/>
              </a:rPr>
              <a:t>复旦开源的插件增强对话大语言模型</a:t>
            </a:r>
            <a:endParaRPr lang="zh-CN" altLang="en-US" sz="1200" b="0" i="0" dirty="0">
              <a:solidFill>
                <a:srgbClr val="262626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75" name="发表-MOSS"/>
          <p:cNvSpPr/>
          <p:nvPr/>
        </p:nvSpPr>
        <p:spPr>
          <a:xfrm>
            <a:off x="8170000" y="2005000"/>
            <a:ext cx="1830000" cy="330000"/>
          </a:xfrm>
          <a:prstGeom prst="roundRect">
            <a:avLst>
              <a:gd name="adj" fmla="val 50000"/>
            </a:avLst>
          </a:prstGeom>
          <a:solidFill>
            <a:srgbClr val="0E419C"/>
          </a:solidFill>
          <a:ln>
            <a:noFill/>
          </a:ln>
        </p:spPr>
        <p:txBody>
          <a:bodyPr wrap="square" lIns="36000" tIns="0" rIns="3600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50" b="1" i="0" dirty="0">
                <a:solidFill>
                  <a:srgbClr val="FFFFFF"/>
                </a:solidFill>
                <a:latin typeface="+mn-ea"/>
                <a:ea typeface="+mn-ea"/>
                <a:cs typeface="+mn-ea"/>
              </a:rPr>
              <a:t>MIR 2024</a:t>
            </a:r>
            <a:endParaRPr lang="zh-CN" altLang="en-US" sz="1050" b="1" i="0" dirty="0">
              <a:solidFill>
                <a:srgbClr val="FFFFFF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76" name="cite-MOSS"/>
          <p:cNvSpPr/>
          <p:nvPr/>
        </p:nvSpPr>
        <p:spPr>
          <a:xfrm>
            <a:off x="10060000" y="1790000"/>
            <a:ext cx="7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dirty="0">
                <a:solidFill>
                  <a:srgbClr val="262626"/>
                </a:solidFill>
                <a:latin typeface="+mn-ea"/>
                <a:ea typeface="+mn-ea"/>
                <a:cs typeface="+mn-ea"/>
              </a:rPr>
              <a:t>163</a:t>
            </a:r>
            <a:endParaRPr lang="zh-CN" altLang="en-US" sz="1500" b="1" i="0" dirty="0">
              <a:solidFill>
                <a:srgbClr val="262626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77" name="star-MOSS"/>
          <p:cNvSpPr/>
          <p:nvPr/>
        </p:nvSpPr>
        <p:spPr>
          <a:xfrm>
            <a:off x="10800000" y="1790000"/>
            <a:ext cx="7824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dirty="0">
                <a:solidFill>
                  <a:srgbClr val="262626"/>
                </a:solidFill>
                <a:latin typeface="+mn-ea"/>
                <a:ea typeface="+mn-ea"/>
                <a:cs typeface="+mn-ea"/>
              </a:rPr>
              <a:t>12.3k</a:t>
            </a:r>
            <a:endParaRPr lang="zh-CN" altLang="en-US" sz="1500" b="1" i="0" dirty="0">
              <a:solidFill>
                <a:srgbClr val="262626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78" name="行背景-Data Mixing Laws"/>
          <p:cNvSpPr/>
          <p:nvPr/>
        </p:nvSpPr>
        <p:spPr>
          <a:xfrm>
            <a:off x="609600" y="2600000"/>
            <a:ext cx="10972800" cy="76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endParaRPr lang="zh-CN" sz="1000"/>
          </a:p>
        </p:txBody>
      </p:sp>
      <p:sp>
        <p:nvSpPr>
          <p:cNvPr id="5079" name="时间-Data Mixing Laws"/>
          <p:cNvSpPr/>
          <p:nvPr/>
        </p:nvSpPr>
        <p:spPr>
          <a:xfrm>
            <a:off x="700000" y="2600000"/>
            <a:ext cx="88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595959"/>
                </a:solidFill>
                <a:latin typeface="+mn-ea"/>
                <a:ea typeface="+mn-ea"/>
                <a:cs typeface="+mn-ea"/>
              </a:rPr>
              <a:t>2024.03</a:t>
            </a:r>
            <a:endParaRPr lang="zh-CN" altLang="en-US" sz="1200" b="0" i="0" dirty="0">
              <a:solidFill>
                <a:srgbClr val="595959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80" name="名称-Data Mixing Laws"/>
          <p:cNvSpPr/>
          <p:nvPr/>
        </p:nvSpPr>
        <p:spPr>
          <a:xfrm>
            <a:off x="1600000" y="2600000"/>
            <a:ext cx="256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i="0" dirty="0">
                <a:solidFill>
                  <a:srgbClr val="262626"/>
                </a:solidFill>
                <a:latin typeface="+mn-ea"/>
                <a:ea typeface="+mn-ea"/>
                <a:cs typeface="+mn-ea"/>
              </a:rPr>
              <a:t>Data Mixing Laws</a:t>
            </a:r>
            <a:endParaRPr lang="zh-CN" altLang="en-US" sz="1400" b="1" i="0" dirty="0">
              <a:solidFill>
                <a:srgbClr val="262626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81" name="内容-Data Mixing Laws"/>
          <p:cNvSpPr/>
          <p:nvPr/>
        </p:nvSpPr>
        <p:spPr>
          <a:xfrm>
            <a:off x="4200000" y="2600000"/>
            <a:ext cx="386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+mn-ea"/>
                <a:ea typeface="+mn-ea"/>
                <a:cs typeface="+mn-ea"/>
              </a:rPr>
              <a:t>通过预测语言建模性能来优化预训练数据配比</a:t>
            </a:r>
            <a:endParaRPr lang="zh-CN" altLang="en-US" sz="1200" b="0" i="0" dirty="0">
              <a:solidFill>
                <a:srgbClr val="262626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82" name="发表-Data Mixing Laws"/>
          <p:cNvSpPr/>
          <p:nvPr/>
        </p:nvSpPr>
        <p:spPr>
          <a:xfrm>
            <a:off x="8170000" y="2815000"/>
            <a:ext cx="1830000" cy="330000"/>
          </a:xfrm>
          <a:prstGeom prst="roundRect">
            <a:avLst>
              <a:gd name="adj" fmla="val 50000"/>
            </a:avLst>
          </a:prstGeom>
          <a:solidFill>
            <a:srgbClr val="0E419C"/>
          </a:solidFill>
          <a:ln>
            <a:noFill/>
          </a:ln>
        </p:spPr>
        <p:txBody>
          <a:bodyPr wrap="square" lIns="36000" tIns="0" rIns="3600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50" b="1" i="0" dirty="0">
                <a:solidFill>
                  <a:srgbClr val="FFFFFF"/>
                </a:solidFill>
                <a:latin typeface="+mn-ea"/>
                <a:ea typeface="+mn-ea"/>
                <a:cs typeface="+mn-ea"/>
              </a:rPr>
              <a:t>ICLR 2025</a:t>
            </a:r>
            <a:endParaRPr lang="zh-CN" altLang="en-US" sz="1050" b="1" i="0" dirty="0">
              <a:solidFill>
                <a:srgbClr val="FFFFFF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83" name="cite-Data Mixing Laws"/>
          <p:cNvSpPr/>
          <p:nvPr/>
        </p:nvSpPr>
        <p:spPr>
          <a:xfrm>
            <a:off x="10060000" y="2600000"/>
            <a:ext cx="7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dirty="0">
                <a:solidFill>
                  <a:srgbClr val="262626"/>
                </a:solidFill>
                <a:latin typeface="+mn-ea"/>
                <a:ea typeface="+mn-ea"/>
                <a:cs typeface="+mn-ea"/>
              </a:rPr>
              <a:t>218</a:t>
            </a:r>
            <a:endParaRPr lang="zh-CN" altLang="en-US" sz="1500" b="1" i="0" dirty="0">
              <a:solidFill>
                <a:srgbClr val="262626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84" name="star-Data Mixing Laws"/>
          <p:cNvSpPr/>
          <p:nvPr/>
        </p:nvSpPr>
        <p:spPr>
          <a:xfrm>
            <a:off x="10800000" y="2600000"/>
            <a:ext cx="7824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dirty="0">
                <a:solidFill>
                  <a:srgbClr val="262626"/>
                </a:solidFill>
                <a:latin typeface="+mn-ea"/>
                <a:ea typeface="+mn-ea"/>
                <a:cs typeface="+mn-ea"/>
              </a:rPr>
              <a:t>113</a:t>
            </a:r>
            <a:endParaRPr lang="zh-CN" altLang="en-US" sz="1500" b="1" i="0" dirty="0">
              <a:solidFill>
                <a:srgbClr val="262626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85" name="行背景-YuE"/>
          <p:cNvSpPr/>
          <p:nvPr/>
        </p:nvSpPr>
        <p:spPr>
          <a:xfrm>
            <a:off x="609600" y="3410000"/>
            <a:ext cx="10972800" cy="76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endParaRPr lang="zh-CN" sz="1000"/>
          </a:p>
        </p:txBody>
      </p:sp>
      <p:sp>
        <p:nvSpPr>
          <p:cNvPr id="5086" name="时间-YuE"/>
          <p:cNvSpPr/>
          <p:nvPr/>
        </p:nvSpPr>
        <p:spPr>
          <a:xfrm>
            <a:off x="700000" y="3410000"/>
            <a:ext cx="88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595959"/>
                </a:solidFill>
                <a:latin typeface="+mn-ea"/>
                <a:ea typeface="+mn-ea"/>
                <a:cs typeface="+mn-ea"/>
              </a:rPr>
              <a:t>2025.01</a:t>
            </a:r>
            <a:endParaRPr lang="zh-CN" altLang="en-US" sz="1200" b="0" i="0" dirty="0">
              <a:solidFill>
                <a:srgbClr val="595959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87" name="名称-YuE"/>
          <p:cNvSpPr/>
          <p:nvPr/>
        </p:nvSpPr>
        <p:spPr>
          <a:xfrm>
            <a:off x="1600000" y="3410000"/>
            <a:ext cx="256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i="0" dirty="0">
                <a:solidFill>
                  <a:srgbClr val="262626"/>
                </a:solidFill>
                <a:latin typeface="+mn-ea"/>
                <a:ea typeface="+mn-ea"/>
                <a:cs typeface="+mn-ea"/>
              </a:rPr>
              <a:t>YuE</a:t>
            </a:r>
            <a:endParaRPr lang="zh-CN" altLang="en-US" sz="1400" b="1" i="0" dirty="0">
              <a:solidFill>
                <a:srgbClr val="262626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88" name="内容-YuE"/>
          <p:cNvSpPr/>
          <p:nvPr/>
        </p:nvSpPr>
        <p:spPr>
          <a:xfrm>
            <a:off x="4200000" y="3410000"/>
            <a:ext cx="386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+mn-ea"/>
                <a:ea typeface="+mn-ea"/>
                <a:cs typeface="+mn-ea"/>
              </a:rPr>
              <a:t>开源长篇歌曲生成基础模型（lyrics-to-song）</a:t>
            </a:r>
            <a:endParaRPr lang="zh-CN" altLang="en-US" sz="1200" b="0" i="0" dirty="0">
              <a:solidFill>
                <a:srgbClr val="262626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89" name="发表-YuE"/>
          <p:cNvSpPr/>
          <p:nvPr/>
        </p:nvSpPr>
        <p:spPr>
          <a:xfrm>
            <a:off x="8170000" y="3625000"/>
            <a:ext cx="1830000" cy="330000"/>
          </a:xfrm>
          <a:prstGeom prst="roundRect">
            <a:avLst>
              <a:gd name="adj" fmla="val 50000"/>
            </a:avLst>
          </a:prstGeom>
          <a:solidFill>
            <a:srgbClr val="0E419C"/>
          </a:solidFill>
          <a:ln>
            <a:noFill/>
          </a:ln>
        </p:spPr>
        <p:txBody>
          <a:bodyPr wrap="square" lIns="36000" tIns="0" rIns="3600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50" b="1" i="0" dirty="0">
                <a:solidFill>
                  <a:srgbClr val="FFFFFF"/>
                </a:solidFill>
                <a:latin typeface="+mn-ea"/>
                <a:ea typeface="+mn-ea"/>
                <a:cs typeface="+mn-ea"/>
              </a:rPr>
              <a:t>ICLR 2026</a:t>
            </a:r>
            <a:endParaRPr lang="zh-CN" altLang="en-US" sz="1050" b="1" i="0" dirty="0">
              <a:solidFill>
                <a:srgbClr val="FFFFFF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90" name="cite-YuE"/>
          <p:cNvSpPr/>
          <p:nvPr/>
        </p:nvSpPr>
        <p:spPr>
          <a:xfrm>
            <a:off x="10060000" y="3410000"/>
            <a:ext cx="7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dirty="0">
                <a:solidFill>
                  <a:srgbClr val="262626"/>
                </a:solidFill>
                <a:latin typeface="+mn-ea"/>
                <a:ea typeface="+mn-ea"/>
                <a:cs typeface="+mn-ea"/>
              </a:rPr>
              <a:t>107</a:t>
            </a:r>
            <a:endParaRPr lang="zh-CN" altLang="en-US" sz="1500" b="1" i="0" dirty="0">
              <a:solidFill>
                <a:srgbClr val="262626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91" name="star-YuE"/>
          <p:cNvSpPr/>
          <p:nvPr/>
        </p:nvSpPr>
        <p:spPr>
          <a:xfrm>
            <a:off x="10800000" y="3410000"/>
            <a:ext cx="7824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dirty="0">
                <a:solidFill>
                  <a:srgbClr val="262626"/>
                </a:solidFill>
                <a:latin typeface="+mn-ea"/>
                <a:ea typeface="+mn-ea"/>
                <a:cs typeface="+mn-ea"/>
              </a:rPr>
              <a:t>12.8k</a:t>
            </a:r>
            <a:endParaRPr lang="zh-CN" altLang="en-US" sz="1500" b="1" i="0" dirty="0">
              <a:solidFill>
                <a:srgbClr val="262626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92" name="行背景-MOSS-TTSD"/>
          <p:cNvSpPr/>
          <p:nvPr/>
        </p:nvSpPr>
        <p:spPr>
          <a:xfrm>
            <a:off x="609600" y="4220000"/>
            <a:ext cx="10972800" cy="76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endParaRPr lang="zh-CN" sz="1000"/>
          </a:p>
        </p:txBody>
      </p:sp>
      <p:sp>
        <p:nvSpPr>
          <p:cNvPr id="5093" name="时间-MOSS-TTSD"/>
          <p:cNvSpPr/>
          <p:nvPr/>
        </p:nvSpPr>
        <p:spPr>
          <a:xfrm>
            <a:off x="700000" y="4220000"/>
            <a:ext cx="88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595959"/>
                </a:solidFill>
                <a:latin typeface="+mn-ea"/>
                <a:ea typeface="+mn-ea"/>
                <a:cs typeface="+mn-ea"/>
              </a:rPr>
              <a:t>2025.06</a:t>
            </a:r>
            <a:endParaRPr lang="zh-CN" altLang="en-US" sz="1200" b="0" i="0" dirty="0">
              <a:solidFill>
                <a:srgbClr val="595959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94" name="名称-MOSS-TTSD"/>
          <p:cNvSpPr/>
          <p:nvPr/>
        </p:nvSpPr>
        <p:spPr>
          <a:xfrm>
            <a:off x="1600000" y="4220000"/>
            <a:ext cx="256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i="0" dirty="0">
                <a:solidFill>
                  <a:srgbClr val="262626"/>
                </a:solidFill>
                <a:latin typeface="+mn-ea"/>
                <a:ea typeface="+mn-ea"/>
                <a:cs typeface="+mn-ea"/>
              </a:rPr>
              <a:t>MOSS-TTSD</a:t>
            </a:r>
            <a:endParaRPr lang="zh-CN" altLang="en-US" sz="1400" b="1" i="0" dirty="0">
              <a:solidFill>
                <a:srgbClr val="262626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95" name="内容-MOSS-TTSD"/>
          <p:cNvSpPr/>
          <p:nvPr/>
        </p:nvSpPr>
        <p:spPr>
          <a:xfrm>
            <a:off x="4200000" y="4220000"/>
            <a:ext cx="386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+mn-ea"/>
                <a:ea typeface="+mn-ea"/>
                <a:cs typeface="+mn-ea"/>
              </a:rPr>
              <a:t>长篇多说话人对话语音合成，支持零样本音色克隆</a:t>
            </a:r>
            <a:endParaRPr lang="zh-CN" altLang="en-US" sz="1200" b="0" i="0" dirty="0">
              <a:solidFill>
                <a:srgbClr val="262626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96" name="发表-MOSS-TTSD"/>
          <p:cNvSpPr/>
          <p:nvPr/>
        </p:nvSpPr>
        <p:spPr>
          <a:xfrm>
            <a:off x="8170000" y="4435000"/>
            <a:ext cx="1830000" cy="33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36000" tIns="0" rIns="3600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50" b="1" i="0" dirty="0">
                <a:solidFill>
                  <a:srgbClr val="595959"/>
                </a:solidFill>
                <a:latin typeface="+mn-ea"/>
                <a:ea typeface="+mn-ea"/>
                <a:cs typeface="+mn-ea"/>
              </a:rPr>
              <a:t>Tech Report 2026</a:t>
            </a:r>
            <a:endParaRPr lang="zh-CN" altLang="en-US" sz="1050" b="1" i="0" dirty="0">
              <a:solidFill>
                <a:srgbClr val="595959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97" name="cite-MOSS-TTSD"/>
          <p:cNvSpPr/>
          <p:nvPr/>
        </p:nvSpPr>
        <p:spPr>
          <a:xfrm>
            <a:off x="10060000" y="4220000"/>
            <a:ext cx="7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dirty="0">
                <a:solidFill>
                  <a:srgbClr val="262626"/>
                </a:solidFill>
                <a:latin typeface="+mn-ea"/>
                <a:ea typeface="+mn-ea"/>
                <a:cs typeface="+mn-ea"/>
              </a:rPr>
              <a:t>8</a:t>
            </a:r>
            <a:endParaRPr lang="zh-CN" altLang="en-US" sz="1500" b="1" i="0" dirty="0">
              <a:solidFill>
                <a:srgbClr val="262626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98" name="star-MOSS-TTSD"/>
          <p:cNvSpPr/>
          <p:nvPr/>
        </p:nvSpPr>
        <p:spPr>
          <a:xfrm>
            <a:off x="10800000" y="4220000"/>
            <a:ext cx="7824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dirty="0">
                <a:solidFill>
                  <a:srgbClr val="262626"/>
                </a:solidFill>
                <a:latin typeface="+mn-ea"/>
                <a:ea typeface="+mn-ea"/>
                <a:cs typeface="+mn-ea"/>
              </a:rPr>
              <a:t>1.4k</a:t>
            </a:r>
            <a:endParaRPr lang="zh-CN" altLang="en-US" sz="1500" b="1" i="0" dirty="0">
              <a:solidFill>
                <a:srgbClr val="262626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099" name="行背景-MOSS-Audio"/>
          <p:cNvSpPr/>
          <p:nvPr/>
        </p:nvSpPr>
        <p:spPr>
          <a:xfrm>
            <a:off x="609600" y="5030000"/>
            <a:ext cx="10972800" cy="76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endParaRPr lang="zh-CN" sz="1000"/>
          </a:p>
        </p:txBody>
      </p:sp>
      <p:sp>
        <p:nvSpPr>
          <p:cNvPr id="5100" name="时间-MOSS-Audio"/>
          <p:cNvSpPr/>
          <p:nvPr/>
        </p:nvSpPr>
        <p:spPr>
          <a:xfrm>
            <a:off x="700000" y="5030000"/>
            <a:ext cx="88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595959"/>
                </a:solidFill>
                <a:latin typeface="+mn-ea"/>
                <a:ea typeface="+mn-ea"/>
                <a:cs typeface="+mn-ea"/>
              </a:rPr>
              <a:t>2026.04</a:t>
            </a:r>
            <a:endParaRPr lang="zh-CN" altLang="en-US" sz="1200" b="0" i="0" dirty="0">
              <a:solidFill>
                <a:srgbClr val="595959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101" name="名称-MOSS-Audio"/>
          <p:cNvSpPr/>
          <p:nvPr/>
        </p:nvSpPr>
        <p:spPr>
          <a:xfrm>
            <a:off x="1600000" y="5030000"/>
            <a:ext cx="256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i="0" dirty="0">
                <a:solidFill>
                  <a:srgbClr val="262626"/>
                </a:solidFill>
                <a:latin typeface="+mn-ea"/>
                <a:ea typeface="+mn-ea"/>
                <a:cs typeface="+mn-ea"/>
              </a:rPr>
              <a:t>MOSS-Audio</a:t>
            </a:r>
            <a:endParaRPr lang="zh-CN" altLang="en-US" sz="1400" b="1" i="0" dirty="0">
              <a:solidFill>
                <a:srgbClr val="262626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102" name="内容-MOSS-Audio"/>
          <p:cNvSpPr/>
          <p:nvPr/>
        </p:nvSpPr>
        <p:spPr>
          <a:xfrm>
            <a:off x="4200000" y="5030000"/>
            <a:ext cx="386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262626"/>
                </a:solidFill>
                <a:latin typeface="+mn-ea"/>
                <a:ea typeface="+mn-ea"/>
                <a:cs typeface="+mn-ea"/>
              </a:rPr>
              <a:t>统一理解语音、环境声与音乐（描述、问答、推理）</a:t>
            </a:r>
            <a:endParaRPr lang="zh-CN" altLang="en-US" sz="1200" b="0" i="0" dirty="0">
              <a:solidFill>
                <a:srgbClr val="262626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103" name="发表-MOSS-Audio"/>
          <p:cNvSpPr/>
          <p:nvPr/>
        </p:nvSpPr>
        <p:spPr>
          <a:xfrm>
            <a:off x="8170000" y="5245000"/>
            <a:ext cx="1830000" cy="33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6A6A6"/>
            </a:solidFill>
          </a:ln>
        </p:spPr>
        <p:txBody>
          <a:bodyPr wrap="square" lIns="36000" tIns="0" rIns="3600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50" b="1" i="0" dirty="0">
                <a:solidFill>
                  <a:srgbClr val="595959"/>
                </a:solidFill>
                <a:latin typeface="+mn-ea"/>
                <a:ea typeface="+mn-ea"/>
                <a:cs typeface="+mn-ea"/>
              </a:rPr>
              <a:t>Tech Report 2026</a:t>
            </a:r>
            <a:endParaRPr lang="zh-CN" altLang="en-US" sz="1050" b="1" i="0" dirty="0">
              <a:solidFill>
                <a:srgbClr val="595959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104" name="cite-MOSS-Audio"/>
          <p:cNvSpPr/>
          <p:nvPr/>
        </p:nvSpPr>
        <p:spPr>
          <a:xfrm>
            <a:off x="10060000" y="5030000"/>
            <a:ext cx="7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dirty="0">
                <a:solidFill>
                  <a:srgbClr val="262626"/>
                </a:solidFill>
                <a:latin typeface="+mn-ea"/>
                <a:ea typeface="+mn-ea"/>
                <a:cs typeface="+mn-ea"/>
              </a:rPr>
              <a:t>36</a:t>
            </a:r>
            <a:endParaRPr lang="zh-CN" altLang="en-US" sz="1500" b="1" i="0" dirty="0">
              <a:solidFill>
                <a:srgbClr val="262626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105" name="star-MOSS-Audio"/>
          <p:cNvSpPr/>
          <p:nvPr/>
        </p:nvSpPr>
        <p:spPr>
          <a:xfrm>
            <a:off x="10800000" y="5030000"/>
            <a:ext cx="7824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dirty="0">
                <a:solidFill>
                  <a:srgbClr val="262626"/>
                </a:solidFill>
                <a:latin typeface="+mn-ea"/>
                <a:ea typeface="+mn-ea"/>
                <a:cs typeface="+mn-ea"/>
              </a:rPr>
              <a:t>693</a:t>
            </a:r>
            <a:endParaRPr lang="zh-CN" altLang="en-US" sz="1500" b="1" i="0" dirty="0">
              <a:solidFill>
                <a:srgbClr val="262626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106" name="脚注"/>
          <p:cNvSpPr/>
          <p:nvPr/>
        </p:nvSpPr>
        <p:spPr>
          <a:xfrm>
            <a:off x="609600" y="5850000"/>
            <a:ext cx="109728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1" i="0" dirty="0">
                <a:solidFill>
                  <a:srgbClr val="595959"/>
                </a:solidFill>
                <a:latin typeface="+mn-ea"/>
                <a:ea typeface="+mn-ea"/>
                <a:cs typeface="+mn-ea"/>
              </a:rPr>
              <a:t>5 个项目合计 GitHub ★ 27k+、引用 532</a:t>
            </a:r>
            <a:r>
              <a:rPr lang="zh-CN" altLang="en-US" sz="1000" b="0" i="0" dirty="0">
                <a:solidFill>
                  <a:srgbClr val="8C8C8C"/>
                </a:solidFill>
                <a:latin typeface="+mn-ea"/>
                <a:ea typeface="+mn-ea"/>
                <a:cs typeface="+mn-ea"/>
              </a:rPr>
              <a:t>      引用数来自 Google Scholar，Star 数来自 GitHub，统计于 2026-10-26 · MIR = Machine Intelligence Research</a:t>
            </a:r>
            <a:endParaRPr lang="zh-CN" altLang="en-US" sz="1000" b="0" i="0" dirty="0">
              <a:solidFill>
                <a:srgbClr val="8C8C8C"/>
              </a:solidFill>
              <a:latin typeface="+mn-ea"/>
              <a:ea typeface="+mn-ea"/>
              <a:cs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22"/>
          <p:cNvSpPr>
            <a:spLocks noGrp="1"/>
          </p:cNvSpPr>
          <p:nvPr>
            <p:ph type="ctrTitle"/>
          </p:nvPr>
        </p:nvSpPr>
        <p:spPr>
          <a:xfrm>
            <a:off x="1524000" y="3308975"/>
            <a:ext cx="9144000" cy="1514475"/>
          </a:xfrm>
        </p:spPr>
        <p:txBody>
          <a:bodyPr/>
          <a:lstStyle/>
          <a:p>
            <a:r>
              <a:rPr lang="en-US" altLang="zh-CN" sz="2400"/>
              <a:t>SpeechGPT: Empowering Large Language Models with Intrinsic Cross‑Modal Conversational Abilities</a:t>
            </a:r>
            <a:endParaRPr lang="en-US" altLang="zh-CN" sz="240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2727325" y="5110031"/>
            <a:ext cx="6737351" cy="1378324"/>
          </a:xfrm>
        </p:spPr>
        <p:txBody>
          <a:bodyPr/>
          <a:lstStyle/>
          <a:p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</a:rPr>
              <a:t>Can LLM unify multimodal understanding and generation?</a:t>
            </a:r>
            <a:endParaRPr lang="en-US" altLang="zh-CN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52401"/>
            <a:ext cx="9906000" cy="685793"/>
          </a:xfrm>
        </p:spPr>
        <p:txBody>
          <a:bodyPr/>
          <a:lstStyle/>
          <a:p>
            <a:r>
              <a:rPr lang="en-US" altLang="zh-CN" dirty="0" err="1"/>
              <a:t>SpeechGPT Overview</a:t>
            </a:r>
            <a:endParaRPr lang="en-US" altLang="zh-CN" dirty="0" err="1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5560" y="1342390"/>
            <a:ext cx="9580245" cy="41725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52401"/>
            <a:ext cx="9906000" cy="685793"/>
          </a:xfrm>
        </p:spPr>
        <p:txBody>
          <a:bodyPr/>
          <a:lstStyle/>
          <a:p>
            <a:r>
              <a:rPr lang="en-US" altLang="zh-CN" dirty="0">
                <a:sym typeface="+mn-ea"/>
              </a:rPr>
              <a:t>SpeechGPT</a:t>
            </a:r>
            <a:r>
              <a:rPr lang="en-US" altLang="zh-CN" dirty="0"/>
              <a:t>: </a:t>
            </a:r>
            <a:r>
              <a:rPr>
                <a:sym typeface="+mn-ea"/>
              </a:rPr>
              <a:t>Self-supervised Representation</a:t>
            </a:r>
            <a:r>
              <a:rPr lang="en-US">
                <a:sym typeface="+mn-ea"/>
              </a:rPr>
              <a:t> </a:t>
            </a:r>
            <a:r>
              <a:rPr>
                <a:sym typeface="+mn-ea"/>
              </a:rPr>
              <a:t>HuBERT</a:t>
            </a:r>
            <a:endParaRPr lang="en-US" altLang="zh-CN" dirty="0" err="1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755" y="995680"/>
            <a:ext cx="11031855" cy="563753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52401"/>
            <a:ext cx="9906000" cy="685793"/>
          </a:xfrm>
        </p:spPr>
        <p:txBody>
          <a:bodyPr/>
          <a:lstStyle/>
          <a:p>
            <a:r>
              <a:rPr lang="en-US" altLang="zh-CN" dirty="0" err="1"/>
              <a:t>SpeechGPT Training</a:t>
            </a:r>
            <a:endParaRPr lang="en-US" altLang="zh-CN" dirty="0" err="1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520" y="1339215"/>
            <a:ext cx="10344150" cy="470281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52401"/>
            <a:ext cx="9906000" cy="685793"/>
          </a:xfrm>
        </p:spPr>
        <p:txBody>
          <a:bodyPr/>
          <a:lstStyle/>
          <a:p>
            <a:r>
              <a:rPr lang="en-US" altLang="zh-CN" dirty="0" err="1"/>
              <a:t>SpeechGPT demo</a:t>
            </a:r>
            <a:endParaRPr lang="en-US" altLang="zh-CN" dirty="0" err="1"/>
          </a:p>
        </p:txBody>
      </p:sp>
      <p:pic>
        <p:nvPicPr>
          <p:cNvPr id="14" name="video_demo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38200" y="1103630"/>
            <a:ext cx="9906000" cy="490347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video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22"/>
          <p:cNvSpPr>
            <a:spLocks noGrp="1"/>
          </p:cNvSpPr>
          <p:nvPr>
            <p:ph type="ctrTitle"/>
          </p:nvPr>
        </p:nvSpPr>
        <p:spPr>
          <a:xfrm>
            <a:off x="1524000" y="3308975"/>
            <a:ext cx="9144000" cy="1514475"/>
          </a:xfrm>
        </p:spPr>
        <p:txBody>
          <a:bodyPr/>
          <a:lstStyle/>
          <a:p>
            <a:r>
              <a:rPr lang="en-US" altLang="zh-CN"/>
              <a:t>AnyGPT: Unified Multimodal LLM with </a:t>
            </a:r>
            <a:br>
              <a:rPr lang="en-US" altLang="zh-CN"/>
            </a:br>
            <a:r>
              <a:rPr lang="en-US" altLang="zh-CN"/>
              <a:t>Discrete Sequence Modeling</a:t>
            </a:r>
            <a:endParaRPr lang="en-US" altLang="zh-CN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2727325" y="5110031"/>
            <a:ext cx="6737351" cy="1378324"/>
          </a:xfrm>
        </p:spPr>
        <p:txBody>
          <a:bodyPr/>
          <a:lstStyle/>
          <a:p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</a:rPr>
              <a:t>Can SpeechGPT be extended to 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</a:rPr>
              <a:t>more modalities</a:t>
            </a:r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</a:rPr>
              <a:t>?</a:t>
            </a:r>
            <a:endParaRPr lang="en-US" altLang="zh-CN" sz="20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</a:rPr>
              <a:t>visual information, other type of audio...</a:t>
            </a:r>
            <a:endParaRPr lang="en-US" altLang="zh-CN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52401"/>
            <a:ext cx="9906000" cy="685793"/>
          </a:xfrm>
        </p:spPr>
        <p:txBody>
          <a:bodyPr/>
          <a:lstStyle/>
          <a:p>
            <a:r>
              <a:rPr lang="en-US" altLang="zh-CN" dirty="0" err="1"/>
              <a:t>AnyGPT: Design</a:t>
            </a:r>
            <a:endParaRPr lang="en-US" altLang="zh-CN" dirty="0" err="1"/>
          </a:p>
        </p:txBody>
      </p:sp>
      <p:pic>
        <p:nvPicPr>
          <p:cNvPr id="4" name="图片 3" descr="model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3005" y="1579880"/>
            <a:ext cx="7154545" cy="4024630"/>
          </a:xfrm>
          <a:prstGeom prst="rect">
            <a:avLst/>
          </a:prstGeom>
        </p:spPr>
      </p:pic>
      <p:sp>
        <p:nvSpPr>
          <p:cNvPr id="7" name="内容占位符 6"/>
          <p:cNvSpPr>
            <a:spLocks noGrp="1"/>
          </p:cNvSpPr>
          <p:nvPr>
            <p:ph sz="quarter" idx="1"/>
          </p:nvPr>
        </p:nvSpPr>
        <p:spPr>
          <a:xfrm>
            <a:off x="609600" y="1046480"/>
            <a:ext cx="4547235" cy="4918075"/>
          </a:xfrm>
        </p:spPr>
        <p:txBody>
          <a:bodyPr/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  <a:cs typeface="Calibri" panose="02040503050406030204" pitchFamily="18" charset="0"/>
              </a:rPr>
              <a:t>Hubert Unit lose too much information</a:t>
            </a:r>
            <a:endParaRPr lang="en-US" altLang="zh-CN" sz="2000" dirty="0">
              <a:latin typeface="+mn-ea"/>
              <a:cs typeface="Calibri" panose="020405030504060302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1775" dirty="0">
                <a:latin typeface="+mn-ea"/>
                <a:cs typeface="Calibri" panose="02040503050406030204" pitchFamily="18" charset="0"/>
                <a:sym typeface="+mn-ea"/>
              </a:rPr>
              <a:t>LLM can’t perceive and generate perceptual information</a:t>
            </a:r>
            <a:endParaRPr lang="en-US" altLang="zh-CN" sz="1775" dirty="0">
              <a:latin typeface="+mn-ea"/>
              <a:cs typeface="Calibri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  <a:cs typeface="Calibri" panose="02040503050406030204" pitchFamily="18" charset="0"/>
                <a:sym typeface="+mn-ea"/>
              </a:rPr>
              <a:t>VQ-VAE tokens keep enough information </a:t>
            </a:r>
            <a:endParaRPr lang="en-US" altLang="zh-CN" sz="2000" dirty="0">
              <a:latin typeface="+mn-ea"/>
              <a:cs typeface="Calibri" panose="02040503050406030204" pitchFamily="18" charset="0"/>
              <a:sym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775" dirty="0">
                <a:latin typeface="+mn-ea"/>
                <a:cs typeface="Calibri" panose="02040503050406030204" pitchFamily="18" charset="0"/>
                <a:sym typeface="+mn-ea"/>
              </a:rPr>
              <a:t>but too hard to train</a:t>
            </a:r>
            <a:endParaRPr lang="en-US" altLang="zh-CN" sz="1775" dirty="0">
              <a:latin typeface="+mn-ea"/>
              <a:cs typeface="Calibri" panose="02040503050406030204" pitchFamily="18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  <a:cs typeface="Calibri" panose="02040503050406030204" pitchFamily="18" charset="0"/>
                <a:sym typeface="+mn-ea"/>
              </a:rPr>
              <a:t>We use a Semantic-Perceptual two-stage Modeling Architecture</a:t>
            </a:r>
            <a:endParaRPr lang="en-US" altLang="zh-CN" sz="2000" dirty="0">
              <a:latin typeface="+mn-ea"/>
              <a:cs typeface="Calibri" panose="020405030504060302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1600" dirty="0">
              <a:latin typeface="+mn-ea"/>
              <a:cs typeface="Calibri" panose="020405030504060302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52401"/>
            <a:ext cx="9906000" cy="685793"/>
          </a:xfrm>
        </p:spPr>
        <p:txBody>
          <a:bodyPr/>
          <a:lstStyle/>
          <a:p>
            <a:r>
              <a:rPr lang="en-US" altLang="zh-CN" dirty="0" err="1"/>
              <a:t>AnyGPT: Overview</a:t>
            </a:r>
            <a:endParaRPr lang="en-US" altLang="zh-CN" dirty="0" err="1"/>
          </a:p>
        </p:txBody>
      </p:sp>
      <p:sp>
        <p:nvSpPr>
          <p:cNvPr id="7" name="内容占位符 6"/>
          <p:cNvSpPr>
            <a:spLocks noGrp="1"/>
          </p:cNvSpPr>
          <p:nvPr>
            <p:ph sz="quarter" idx="1"/>
          </p:nvPr>
        </p:nvSpPr>
        <p:spPr>
          <a:xfrm>
            <a:off x="609600" y="1046480"/>
            <a:ext cx="4164965" cy="3879850"/>
          </a:xfrm>
        </p:spPr>
        <p:txBody>
          <a:bodyPr/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  <a:cs typeface="Calibri" panose="02040503050406030204" pitchFamily="18" charset="0"/>
              </a:rPr>
              <a:t>Multimodal Tokenizers</a:t>
            </a:r>
            <a:endParaRPr lang="en-US" altLang="zh-CN" sz="2000" dirty="0">
              <a:latin typeface="+mn-ea"/>
              <a:cs typeface="Calibri" panose="020405030504060302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latin typeface="+mn-ea"/>
                <a:cs typeface="Calibri" panose="02040503050406030204" pitchFamily="18" charset="0"/>
                <a:sym typeface="+mn-ea"/>
              </a:rPr>
              <a:t>Speech: SpeechTokenizer</a:t>
            </a:r>
            <a:endParaRPr lang="en-US" altLang="zh-CN" sz="1600" dirty="0">
              <a:latin typeface="+mn-ea"/>
              <a:cs typeface="Calibri" panose="02040503050406030204" pitchFamily="18" charset="0"/>
              <a:sym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latin typeface="+mn-ea"/>
                <a:cs typeface="Calibri" panose="02040503050406030204" pitchFamily="18" charset="0"/>
                <a:sym typeface="+mn-ea"/>
              </a:rPr>
              <a:t>Image: Seed</a:t>
            </a:r>
            <a:endParaRPr lang="en-US" altLang="zh-CN" sz="1600" dirty="0">
              <a:latin typeface="+mn-ea"/>
              <a:cs typeface="Calibri" panose="020405030504060302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latin typeface="+mn-ea"/>
                <a:cs typeface="Calibri" panose="02040503050406030204" pitchFamily="18" charset="0"/>
                <a:sym typeface="+mn-ea"/>
              </a:rPr>
              <a:t>Music: Encodec</a:t>
            </a:r>
            <a:endParaRPr lang="en-US" altLang="zh-CN" sz="1600" dirty="0">
              <a:latin typeface="+mn-ea"/>
              <a:cs typeface="Calibri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  <a:cs typeface="Calibri" panose="02040503050406030204" pitchFamily="18" charset="0"/>
              </a:rPr>
              <a:t>Autoregressive LM</a:t>
            </a:r>
            <a:endParaRPr lang="en-US" altLang="zh-CN" sz="2000" dirty="0">
              <a:latin typeface="+mn-ea"/>
              <a:cs typeface="Calibri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  <a:cs typeface="Calibri" panose="02040503050406030204" pitchFamily="18" charset="0"/>
              </a:rPr>
              <a:t>De-Tokenizers</a:t>
            </a:r>
            <a:endParaRPr lang="en-US" altLang="zh-CN" sz="2000" dirty="0">
              <a:latin typeface="+mn-ea"/>
              <a:cs typeface="Calibri" panose="020405030504060302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1575" dirty="0">
                <a:latin typeface="+mn-ea"/>
                <a:cs typeface="Calibri" panose="02040503050406030204" pitchFamily="18" charset="0"/>
                <a:sym typeface="+mn-ea"/>
              </a:rPr>
              <a:t>Speech: Soundstorm+ </a:t>
            </a:r>
            <a:r>
              <a:rPr lang="en-US" altLang="zh-CN" sz="1575" dirty="0">
                <a:latin typeface="+mn-ea"/>
                <a:cs typeface="Calibri" panose="02040503050406030204" pitchFamily="18" charset="0"/>
                <a:sym typeface="+mn-ea"/>
              </a:rPr>
              <a:t>SpeechTokenizer Decoder</a:t>
            </a:r>
            <a:endParaRPr lang="en-US" altLang="zh-CN" sz="1575" dirty="0">
              <a:latin typeface="+mn-ea"/>
              <a:cs typeface="Calibri" panose="020405030504060302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1575" dirty="0">
                <a:latin typeface="+mn-ea"/>
                <a:cs typeface="Calibri" panose="02040503050406030204" pitchFamily="18" charset="0"/>
              </a:rPr>
              <a:t>Image: Diffusion Model</a:t>
            </a:r>
            <a:endParaRPr lang="en-US" altLang="zh-CN" sz="1575" dirty="0">
              <a:latin typeface="+mn-ea"/>
              <a:cs typeface="Calibri" panose="020405030504060302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1575" dirty="0">
                <a:latin typeface="+mn-ea"/>
                <a:cs typeface="Calibri" panose="02040503050406030204" pitchFamily="18" charset="0"/>
              </a:rPr>
              <a:t>Music: Encodec</a:t>
            </a:r>
            <a:endParaRPr lang="en-US" altLang="zh-CN" sz="1575" dirty="0">
              <a:latin typeface="+mn-ea"/>
              <a:cs typeface="Calibri" panose="020405030504060302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4565" y="972185"/>
            <a:ext cx="5846445" cy="25641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6100" y="3670300"/>
            <a:ext cx="4488180" cy="26866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52401"/>
            <a:ext cx="9906000" cy="685793"/>
          </a:xfrm>
        </p:spPr>
        <p:txBody>
          <a:bodyPr/>
          <a:lstStyle/>
          <a:p>
            <a:r>
              <a:rPr lang="en-US" altLang="zh-CN" dirty="0" err="1">
                <a:sym typeface="+mn-ea"/>
              </a:rPr>
              <a:t>Multimodal Alignment Pretraining</a:t>
            </a:r>
            <a:endParaRPr lang="en-US" altLang="zh-CN" dirty="0" err="1"/>
          </a:p>
        </p:txBody>
      </p:sp>
      <p:pic>
        <p:nvPicPr>
          <p:cNvPr id="5" name="图片 4" descr="data_mix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850" y="1045210"/>
            <a:ext cx="2959100" cy="2658110"/>
          </a:xfrm>
          <a:prstGeom prst="rect">
            <a:avLst/>
          </a:prstGeom>
        </p:spPr>
      </p:pic>
      <p:sp>
        <p:nvSpPr>
          <p:cNvPr id="29" name="右箭头 28"/>
          <p:cNvSpPr/>
          <p:nvPr/>
        </p:nvSpPr>
        <p:spPr>
          <a:xfrm>
            <a:off x="3307080" y="3117215"/>
            <a:ext cx="1137285" cy="883919"/>
          </a:xfrm>
          <a:prstGeom prst="rightArrow">
            <a:avLst/>
          </a:prstGeom>
          <a:solidFill>
            <a:schemeClr val="accent1"/>
          </a:solidFill>
        </p:spPr>
        <p:txBody>
          <a:bodyPr wrap="square">
            <a:spAutoFit/>
          </a:bodyPr>
          <a:p>
            <a:endParaRPr lang="zh-CN" altLang="en-US" sz="2400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609600" y="3828415"/>
            <a:ext cx="4023360" cy="2940685"/>
          </a:xfrm>
        </p:spPr>
        <p:txBody>
          <a:bodyPr/>
          <a:p>
            <a:pPr>
              <a:lnSpc>
                <a:spcPct val="100000"/>
              </a:lnSpc>
            </a:pPr>
            <a:r>
              <a:rPr lang="en-US" altLang="zh-CN" sz="1600" dirty="0">
                <a:sym typeface="+mn-ea"/>
              </a:rPr>
              <a:t>Image-to-Text</a:t>
            </a:r>
            <a:endParaRPr lang="en-US" altLang="zh-CN" sz="1600" dirty="0"/>
          </a:p>
          <a:p>
            <a:pPr>
              <a:lnSpc>
                <a:spcPct val="100000"/>
              </a:lnSpc>
            </a:pPr>
            <a:r>
              <a:rPr lang="en-US" altLang="zh-CN" sz="1600" dirty="0"/>
              <a:t>Speech-to-Text</a:t>
            </a:r>
            <a:endParaRPr lang="en-US" altLang="zh-CN" sz="1600" dirty="0"/>
          </a:p>
          <a:p>
            <a:pPr>
              <a:lnSpc>
                <a:spcPct val="100000"/>
              </a:lnSpc>
            </a:pPr>
            <a:r>
              <a:rPr lang="en-US" altLang="zh-CN" sz="1600" dirty="0">
                <a:sym typeface="+mn-ea"/>
              </a:rPr>
              <a:t>Music-to-Text</a:t>
            </a:r>
            <a:endParaRPr lang="en-US" altLang="zh-CN" sz="1600" dirty="0"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en-US" altLang="zh-CN" sz="1600" dirty="0">
                <a:sym typeface="+mn-ea"/>
              </a:rPr>
              <a:t>Text-to-Image</a:t>
            </a:r>
            <a:endParaRPr lang="en-US" altLang="zh-CN" sz="1600" dirty="0"/>
          </a:p>
          <a:p>
            <a:pPr>
              <a:lnSpc>
                <a:spcPct val="100000"/>
              </a:lnSpc>
            </a:pPr>
            <a:r>
              <a:rPr lang="en-US" altLang="zh-CN" sz="1600" dirty="0"/>
              <a:t>Text-to-Speech</a:t>
            </a:r>
            <a:endParaRPr lang="en-US" altLang="zh-CN" sz="1600" dirty="0"/>
          </a:p>
          <a:p>
            <a:pPr>
              <a:lnSpc>
                <a:spcPct val="100000"/>
              </a:lnSpc>
            </a:pPr>
            <a:r>
              <a:rPr lang="en-US" altLang="zh-CN" sz="1600" dirty="0">
                <a:sym typeface="+mn-ea"/>
              </a:rPr>
              <a:t>Text-to-Music</a:t>
            </a:r>
            <a:endParaRPr lang="en-US" altLang="zh-CN" sz="1600" dirty="0"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en-US" altLang="zh-CN" sz="1600" dirty="0">
                <a:sym typeface="+mn-ea"/>
              </a:rPr>
              <a:t>Image-text Interleaved data</a:t>
            </a:r>
            <a:endParaRPr lang="en-US" altLang="zh-CN" sz="1600" dirty="0"/>
          </a:p>
          <a:p>
            <a:pPr>
              <a:lnSpc>
                <a:spcPct val="100000"/>
              </a:lnSpc>
            </a:pPr>
            <a:endParaRPr lang="en-US" altLang="zh-CN" sz="1600" dirty="0"/>
          </a:p>
        </p:txBody>
      </p:sp>
      <p:pic>
        <p:nvPicPr>
          <p:cNvPr id="10" name="图片 9" descr="model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365" y="1464945"/>
            <a:ext cx="7444740" cy="41878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52401"/>
            <a:ext cx="9906000" cy="685793"/>
          </a:xfrm>
        </p:spPr>
        <p:txBody>
          <a:bodyPr/>
          <a:lstStyle/>
          <a:p>
            <a:r>
              <a:rPr lang="en-US" altLang="zh-CN" dirty="0" err="1"/>
              <a:t>Base Model Evaluation</a:t>
            </a:r>
            <a:endParaRPr lang="en-US" altLang="zh-CN" dirty="0" err="1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6070" y="1420000"/>
            <a:ext cx="3818890" cy="292989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20000"/>
            <a:ext cx="3435985" cy="22161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7480" y="4250000"/>
            <a:ext cx="3947160" cy="17621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0000" y="1420000"/>
            <a:ext cx="3715385" cy="178879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250000"/>
            <a:ext cx="3376295" cy="20796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09600" y="1045000"/>
            <a:ext cx="311150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/>
              <a:t>看图说话（</a:t>
            </a:r>
            <a:r>
              <a:rPr lang="en-US" altLang="zh-CN" b="1"/>
              <a:t>Image Caption</a:t>
            </a:r>
            <a:r>
              <a:rPr lang="zh-CN" altLang="en-US" b="1"/>
              <a:t>）</a:t>
            </a:r>
            <a:endParaRPr lang="zh-CN" altLang="en-US" b="1"/>
          </a:p>
        </p:txBody>
      </p:sp>
      <p:sp>
        <p:nvSpPr>
          <p:cNvPr id="10" name="文本框 9"/>
          <p:cNvSpPr txBox="1"/>
          <p:nvPr/>
        </p:nvSpPr>
        <p:spPr>
          <a:xfrm>
            <a:off x="609600" y="3875000"/>
            <a:ext cx="32194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/>
              <a:t>文生图（</a:t>
            </a:r>
            <a:r>
              <a:rPr lang="en-US" altLang="zh-CN" b="1"/>
              <a:t>Image Generation</a:t>
            </a:r>
            <a:r>
              <a:rPr lang="zh-CN" altLang="en-US" b="1"/>
              <a:t>）</a:t>
            </a:r>
            <a:endParaRPr lang="zh-CN" altLang="en-US" b="1"/>
          </a:p>
        </p:txBody>
      </p:sp>
      <p:sp>
        <p:nvSpPr>
          <p:cNvPr id="11" name="文本框 10"/>
          <p:cNvSpPr txBox="1"/>
          <p:nvPr/>
        </p:nvSpPr>
        <p:spPr>
          <a:xfrm>
            <a:off x="4060000" y="1045000"/>
            <a:ext cx="32918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/>
              <a:t>语音识别（</a:t>
            </a:r>
            <a:r>
              <a:rPr lang="en-US" altLang="zh-CN" b="1"/>
              <a:t>ASR</a:t>
            </a:r>
            <a:r>
              <a:rPr lang="zh-CN" altLang="en-US" b="1"/>
              <a:t>）</a:t>
            </a:r>
            <a:endParaRPr lang="zh-CN" altLang="en-US" b="1"/>
          </a:p>
        </p:txBody>
      </p:sp>
      <p:sp>
        <p:nvSpPr>
          <p:cNvPr id="12" name="文本框 11"/>
          <p:cNvSpPr txBox="1"/>
          <p:nvPr/>
        </p:nvSpPr>
        <p:spPr>
          <a:xfrm>
            <a:off x="3967480" y="3875000"/>
            <a:ext cx="36976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b="1"/>
              <a:t>零</a:t>
            </a:r>
            <a:r>
              <a:rPr lang="zh-CN" altLang="en-US" b="1"/>
              <a:t>样本语音</a:t>
            </a:r>
            <a:r>
              <a:rPr lang="zh-CN" altLang="en-US" b="1"/>
              <a:t>合成（</a:t>
            </a:r>
            <a:r>
              <a:rPr lang="en-US" altLang="zh-CN" b="1">
                <a:sym typeface="+mn-ea"/>
              </a:rPr>
              <a:t>Zero-shot TTS</a:t>
            </a:r>
            <a:r>
              <a:rPr lang="zh-CN" altLang="en-US" b="1">
                <a:sym typeface="+mn-ea"/>
              </a:rPr>
              <a:t>）</a:t>
            </a:r>
            <a:endParaRPr lang="zh-CN" altLang="en-US" b="1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926070" y="1045000"/>
            <a:ext cx="388620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1600" b="1">
                <a:sym typeface="+mn-ea"/>
              </a:rPr>
              <a:t>音乐描述</a:t>
            </a:r>
            <a:r>
              <a:rPr lang="en-US" altLang="zh-CN" sz="1600" b="1">
                <a:sym typeface="+mn-ea"/>
              </a:rPr>
              <a:t> &amp; </a:t>
            </a:r>
            <a:r>
              <a:rPr lang="zh-CN" altLang="en-US" sz="1600" b="1">
                <a:sym typeface="+mn-ea"/>
              </a:rPr>
              <a:t>音乐生成</a:t>
            </a:r>
            <a:r>
              <a:rPr lang="en-US" altLang="zh-CN" sz="1600" b="1">
                <a:sym typeface="+mn-ea"/>
              </a:rPr>
              <a:t>(</a:t>
            </a:r>
            <a:r>
              <a:rPr lang="en-US" altLang="zh-CN" sz="1600" b="1">
                <a:sym typeface="+mn-ea"/>
              </a:rPr>
              <a:t>text-to-music)</a:t>
            </a:r>
            <a:endParaRPr lang="en-US" altLang="zh-CN" b="1"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52401"/>
            <a:ext cx="9906000" cy="685793"/>
          </a:xfrm>
        </p:spPr>
        <p:txBody>
          <a:bodyPr/>
          <a:lstStyle/>
          <a:p>
            <a:r>
              <a:rPr lang="en-US" altLang="zh-CN" dirty="0" err="1"/>
              <a:t>Instruction Tuning</a:t>
            </a:r>
            <a:endParaRPr lang="en-US" altLang="zh-CN" dirty="0" err="1"/>
          </a:p>
        </p:txBody>
      </p:sp>
      <p:pic>
        <p:nvPicPr>
          <p:cNvPr id="6" name="图片 5" descr="model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2480" y="1864360"/>
            <a:ext cx="8067040" cy="46570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748790" y="1199515"/>
            <a:ext cx="352996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000" b="1">
                <a:ea typeface="黑体" panose="02010609060101010101" charset="-122"/>
                <a:cs typeface="+mn-lt"/>
              </a:rPr>
              <a:t>Multimodal alignment model</a:t>
            </a:r>
            <a:endParaRPr lang="en-US" altLang="zh-CN" sz="2000" b="1">
              <a:ea typeface="黑体" panose="02010609060101010101" charset="-122"/>
              <a:cs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785610" y="1199515"/>
            <a:ext cx="372999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000" b="1">
                <a:ea typeface="黑体" panose="02010609060101010101" charset="-122"/>
                <a:cs typeface="+mn-lt"/>
              </a:rPr>
              <a:t>Any-to-any generation model</a:t>
            </a:r>
            <a:endParaRPr lang="en-US" altLang="zh-CN" sz="2000" b="1">
              <a:ea typeface="黑体" panose="02010609060101010101" charset="-122"/>
              <a:cs typeface="+mn-lt"/>
            </a:endParaRPr>
          </a:p>
        </p:txBody>
      </p:sp>
      <p:sp>
        <p:nvSpPr>
          <p:cNvPr id="29" name="右箭头 28"/>
          <p:cNvSpPr/>
          <p:nvPr/>
        </p:nvSpPr>
        <p:spPr>
          <a:xfrm>
            <a:off x="5629910" y="1228725"/>
            <a:ext cx="949325" cy="340360"/>
          </a:xfrm>
          <a:prstGeom prst="rightArrow">
            <a:avLst/>
          </a:prstGeom>
          <a:solidFill>
            <a:schemeClr val="accent1"/>
          </a:solidFill>
        </p:spPr>
        <p:txBody>
          <a:bodyPr wrap="none">
            <a:spAutoFit/>
          </a:bodyPr>
          <a:p>
            <a:endParaRPr lang="zh-CN" alt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52401"/>
            <a:ext cx="9906000" cy="685793"/>
          </a:xfrm>
        </p:spPr>
        <p:txBody>
          <a:bodyPr/>
          <a:lstStyle/>
          <a:p>
            <a:r>
              <a:rPr lang="en-US" altLang="zh-CN">
                <a:sym typeface="+mn-ea"/>
              </a:rPr>
              <a:t>AnyInstruct: Any-</a:t>
            </a:r>
            <a:r>
              <a:rPr lang="en-US" altLang="zh-CN">
                <a:sym typeface="+mn-ea"/>
              </a:rPr>
              <a:t>to-any Instruction Dataset</a:t>
            </a:r>
            <a:endParaRPr lang="en-US" altLang="zh-CN" dirty="0" err="1"/>
          </a:p>
        </p:txBody>
      </p:sp>
      <p:sp>
        <p:nvSpPr>
          <p:cNvPr id="24" name="文本框 23"/>
          <p:cNvSpPr txBox="1"/>
          <p:nvPr/>
        </p:nvSpPr>
        <p:spPr>
          <a:xfrm>
            <a:off x="9276715" y="3041650"/>
            <a:ext cx="33337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A</a:t>
            </a:r>
            <a:endParaRPr lang="en-US" altLang="zh-CN"/>
          </a:p>
        </p:txBody>
      </p:sp>
      <p:pic>
        <p:nvPicPr>
          <p:cNvPr id="30" name="图片 29" descr="data_construct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050" y="1874519"/>
            <a:ext cx="11350625" cy="3282950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1748790" y="1199515"/>
            <a:ext cx="352996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000" b="1">
                <a:ea typeface="黑体" panose="02010609060101010101" charset="-122"/>
                <a:cs typeface="+mn-lt"/>
              </a:rPr>
              <a:t>Multimodal alignment model</a:t>
            </a:r>
            <a:endParaRPr lang="en-US" altLang="zh-CN" sz="2000" b="1">
              <a:ea typeface="黑体" panose="02010609060101010101" charset="-122"/>
              <a:cs typeface="+mn-lt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785610" y="1199515"/>
            <a:ext cx="372999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000" b="1">
                <a:ea typeface="黑体" panose="02010609060101010101" charset="-122"/>
                <a:cs typeface="+mn-lt"/>
              </a:rPr>
              <a:t>Any-to-any generation model</a:t>
            </a:r>
            <a:endParaRPr lang="en-US" altLang="zh-CN" sz="2000" b="1">
              <a:ea typeface="黑体" panose="02010609060101010101" charset="-122"/>
              <a:cs typeface="+mn-lt"/>
            </a:endParaRPr>
          </a:p>
        </p:txBody>
      </p:sp>
      <p:sp>
        <p:nvSpPr>
          <p:cNvPr id="37" name="右箭头 36"/>
          <p:cNvSpPr/>
          <p:nvPr/>
        </p:nvSpPr>
        <p:spPr>
          <a:xfrm>
            <a:off x="5629910" y="1228725"/>
            <a:ext cx="949325" cy="340360"/>
          </a:xfrm>
          <a:prstGeom prst="rightArrow">
            <a:avLst/>
          </a:prstGeom>
          <a:solidFill>
            <a:schemeClr val="accent1"/>
          </a:solidFill>
        </p:spPr>
        <p:txBody>
          <a:bodyPr wrap="none">
            <a:spAutoFit/>
          </a:bodyPr>
          <a:p>
            <a:endParaRPr lang="zh-CN" alt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/>
          <p:nvPr>
            <p:ph type="title"/>
          </p:nvPr>
        </p:nvSpPr>
        <p:spPr/>
        <p:txBody>
          <a:bodyPr/>
          <a:p>
            <a:r>
              <a:rPr lang="en-US" altLang="zh-CN"/>
              <a:t>Any-</a:t>
            </a:r>
            <a:r>
              <a:rPr lang="en-US" altLang="zh-CN"/>
              <a:t>to-Any Demo</a:t>
            </a:r>
            <a:endParaRPr lang="en-US" altLang="zh-CN"/>
          </a:p>
        </p:txBody>
      </p:sp>
      <p:pic>
        <p:nvPicPr>
          <p:cNvPr id="7" name="demo1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780387" y="1115568"/>
            <a:ext cx="8630920" cy="47656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/>
          <p:nvPr>
            <p:ph type="title"/>
          </p:nvPr>
        </p:nvSpPr>
        <p:spPr/>
        <p:txBody>
          <a:bodyPr/>
          <a:p>
            <a:r>
              <a:rPr lang="en-US" altLang="zh-CN"/>
              <a:t>Any-</a:t>
            </a:r>
            <a:r>
              <a:rPr lang="en-US" altLang="zh-CN"/>
              <a:t>to-Any Demo</a:t>
            </a:r>
            <a:endParaRPr lang="en-US" altLang="zh-CN"/>
          </a:p>
        </p:txBody>
      </p:sp>
      <p:pic>
        <p:nvPicPr>
          <p:cNvPr id="9" name="demo2-1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770227" y="1115568"/>
            <a:ext cx="8651240" cy="4841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/>
          <p:nvPr>
            <p:ph type="title"/>
          </p:nvPr>
        </p:nvSpPr>
        <p:spPr/>
        <p:txBody>
          <a:bodyPr/>
          <a:p>
            <a:r>
              <a:rPr lang="en-US" altLang="zh-CN"/>
              <a:t>Any-</a:t>
            </a:r>
            <a:r>
              <a:rPr lang="en-US" altLang="zh-CN"/>
              <a:t>to-Any Demo</a:t>
            </a:r>
            <a:endParaRPr lang="en-US" altLang="zh-CN"/>
          </a:p>
        </p:txBody>
      </p:sp>
      <p:pic>
        <p:nvPicPr>
          <p:cNvPr id="2" name="demo3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760385" y="1115568"/>
            <a:ext cx="8670925" cy="48221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/>
          <p:nvPr>
            <p:ph type="title"/>
          </p:nvPr>
        </p:nvSpPr>
        <p:spPr/>
        <p:txBody>
          <a:bodyPr/>
          <a:p>
            <a:r>
              <a:rPr lang="en-US" altLang="zh-CN"/>
              <a:t>Any-</a:t>
            </a:r>
            <a:r>
              <a:rPr lang="en-US" altLang="zh-CN"/>
              <a:t>to-Any Demo</a:t>
            </a:r>
            <a:endParaRPr lang="en-US" altLang="zh-CN"/>
          </a:p>
        </p:txBody>
      </p:sp>
      <p:pic>
        <p:nvPicPr>
          <p:cNvPr id="2" name="demo4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764830" y="1115568"/>
            <a:ext cx="8662035" cy="46640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764830" y="5870448"/>
            <a:ext cx="71596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More cases</a:t>
            </a:r>
            <a:r>
              <a:rPr lang="zh-CN" altLang="en-US"/>
              <a:t>: </a:t>
            </a:r>
            <a:r>
              <a:rPr lang="zh-CN" altLang="en-US">
                <a:hlinkClick r:id="rId4" action="ppaction://hlinkfile"/>
              </a:rPr>
              <a:t>https://junzhan2000.github.io/AnyGPT.github.io/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/>
          <p:nvPr>
            <p:ph type="title"/>
          </p:nvPr>
        </p:nvSpPr>
        <p:spPr/>
        <p:txBody>
          <a:bodyPr/>
          <a:p>
            <a:r>
              <a:rPr lang="en-US" altLang="zh-CN"/>
              <a:t>Any-</a:t>
            </a:r>
            <a:r>
              <a:rPr lang="en-US" altLang="zh-CN"/>
              <a:t>to-Any Demo</a:t>
            </a:r>
            <a:endParaRPr lang="en-US" altLang="zh-CN"/>
          </a:p>
        </p:txBody>
      </p:sp>
      <p:pic>
        <p:nvPicPr>
          <p:cNvPr id="2" name="demonstration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461385" y="1051560"/>
            <a:ext cx="9268925" cy="50292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22"/>
          <p:cNvSpPr>
            <a:spLocks noGrp="1"/>
          </p:cNvSpPr>
          <p:nvPr>
            <p:ph type="ctrTitle"/>
          </p:nvPr>
        </p:nvSpPr>
        <p:spPr>
          <a:xfrm>
            <a:off x="1524000" y="3308975"/>
            <a:ext cx="9144000" cy="1514475"/>
          </a:xfrm>
        </p:spPr>
        <p:txBody>
          <a:bodyPr/>
          <a:lstStyle/>
          <a:p>
            <a:r>
              <a:rPr lang="en-US" altLang="zh-CN"/>
              <a:t>SpeechGPT2:</a:t>
            </a:r>
            <a:br>
              <a:rPr lang="en-US" altLang="zh-CN"/>
            </a:br>
            <a:r>
              <a:rPr lang="en-US" altLang="zh-CN"/>
              <a:t>End-to-End Human-Like Spoken Chatbot</a:t>
            </a:r>
            <a:endParaRPr lang="en-US" altLang="zh-CN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2199005" y="5109845"/>
            <a:ext cx="7794625" cy="1849120"/>
          </a:xfrm>
        </p:spPr>
        <p:txBody>
          <a:bodyPr/>
          <a:lstStyle/>
          <a:p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</a:rPr>
              <a:t>Can we build a 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</a:rPr>
              <a:t>unified model</a:t>
            </a:r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</a:rPr>
              <a:t> to perform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</a:rPr>
              <a:t> end-to-end modeling</a:t>
            </a:r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</a:rPr>
              <a:t> of 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</a:rPr>
              <a:t>complete</a:t>
            </a:r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</a:rPr>
              <a:t> multimodal information?</a:t>
            </a:r>
            <a:endParaRPr lang="en-US" altLang="zh-CN" sz="2000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US" altLang="zh-CN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SpeechGPT2.0-preview </a:t>
            </a:r>
            <a:r>
              <a:rPr lang="en-US" altLang="zh-CN"/>
              <a:t>Codec</a:t>
            </a:r>
            <a:endParaRPr lang="en-US" altLang="zh-CN"/>
          </a:p>
        </p:txBody>
      </p:sp>
      <p:pic>
        <p:nvPicPr>
          <p:cNvPr id="3" name="图片 2" descr="codec_arch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84470" y="2214880"/>
            <a:ext cx="6219825" cy="2428875"/>
          </a:xfrm>
          <a:prstGeom prst="rect">
            <a:avLst/>
          </a:prstGeom>
        </p:spPr>
      </p:pic>
      <p:sp>
        <p:nvSpPr>
          <p:cNvPr id="8" name="内容占位符 7"/>
          <p:cNvSpPr>
            <a:spLocks noGrp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609600" y="1168400"/>
            <a:ext cx="4193540" cy="3930015"/>
          </a:xfrm>
        </p:spPr>
        <p:txBody>
          <a:bodyPr/>
          <a:p>
            <a:pPr>
              <a:lnSpc>
                <a:spcPct val="150000"/>
              </a:lnSpc>
            </a:pPr>
            <a:endParaRPr lang="zh-CN" altLang="en-US" sz="1600" dirty="0"/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2">
                    <a:lumMod val="75000"/>
                  </a:schemeClr>
                </a:solidFill>
                <a:sym typeface="+mn-ea"/>
              </a:rPr>
              <a:t>The representation should be</a:t>
            </a: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  <a:t> lossless, compact</a:t>
            </a:r>
            <a:r>
              <a:rPr lang="en-US" altLang="zh-CN" sz="1600" dirty="0">
                <a:solidFill>
                  <a:schemeClr val="accent2">
                    <a:lumMod val="75000"/>
                  </a:schemeClr>
                </a:solidFill>
                <a:sym typeface="+mn-ea"/>
              </a:rPr>
              <a:t>, and possess </a:t>
            </a: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  <a:t>easily learnable features</a:t>
            </a:r>
            <a:r>
              <a:rPr lang="en-US" altLang="zh-CN" sz="1600" dirty="0">
                <a:solidFill>
                  <a:schemeClr val="accent2">
                    <a:lumMod val="75000"/>
                  </a:schemeClr>
                </a:solidFill>
                <a:sym typeface="+mn-ea"/>
              </a:rPr>
              <a:t> such as semantics.</a:t>
            </a:r>
            <a:endParaRPr lang="zh-CN" altLang="en-US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采用causal CNN和 causal Transformer，支持流式编解码</a:t>
            </a:r>
            <a:endParaRPr lang="zh-CN" altLang="en-US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低tps，25*3 tokens / s</a:t>
            </a:r>
            <a:endParaRPr lang="zh-CN" altLang="en-US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语义-声学联合建模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SpeechGPT2.0-preview Architecture</a:t>
            </a:r>
            <a:endParaRPr lang="en-US" altLang="zh-CN"/>
          </a:p>
        </p:txBody>
      </p:sp>
      <p:pic>
        <p:nvPicPr>
          <p:cNvPr id="5" name="图片 4" descr="sg2_arch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9755" y="1506220"/>
            <a:ext cx="6303645" cy="3845560"/>
          </a:xfrm>
          <a:prstGeom prst="rect">
            <a:avLst/>
          </a:prstGeom>
        </p:spPr>
      </p:pic>
      <p:sp>
        <p:nvSpPr>
          <p:cNvPr id="8" name="内容占位符 7"/>
          <p:cNvSpPr>
            <a:spLocks noGrp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609600" y="1334135"/>
            <a:ext cx="4626610" cy="5074285"/>
          </a:xfrm>
        </p:spPr>
        <p:txBody>
          <a:bodyPr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2">
                    <a:lumMod val="75000"/>
                  </a:schemeClr>
                </a:solidFill>
              </a:rPr>
              <a:t>The model should be able to </a:t>
            </a: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</a:rPr>
              <a:t>effectively model</a:t>
            </a:r>
            <a:r>
              <a:rPr lang="en-US" altLang="zh-CN" sz="1600" dirty="0">
                <a:solidFill>
                  <a:schemeClr val="accent2">
                    <a:lumMod val="75000"/>
                  </a:schemeClr>
                </a:solidFill>
              </a:rPr>
              <a:t> long multimodal sequences and efficiently learn dense low-level features.</a:t>
            </a:r>
            <a:endParaRPr lang="zh-CN" altLang="en-US" sz="1600" dirty="0"/>
          </a:p>
          <a:p>
            <a:pPr>
              <a:lnSpc>
                <a:spcPct val="150000"/>
              </a:lnSpc>
            </a:pPr>
            <a:r>
              <a:rPr lang="en-US" altLang="zh-CN" sz="1600" dirty="0"/>
              <a:t>Global AR for global, high level semantic information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en-US" altLang="zh-CN" sz="1600" dirty="0"/>
              <a:t>Local AR for local context, low level information</a:t>
            </a:r>
            <a:endParaRPr lang="zh-CN" altLang="en-US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高效预测稠密的</a:t>
            </a:r>
            <a:r>
              <a:rPr lang="en-US" altLang="zh-CN" sz="1600" dirty="0"/>
              <a:t>RVQ token</a:t>
            </a:r>
            <a:endParaRPr lang="zh-CN" altLang="en-US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缩小语音和文本序列之间的模态差异</a:t>
            </a:r>
            <a:endParaRPr lang="zh-CN" altLang="en-US" sz="1600" dirty="0"/>
          </a:p>
          <a:p>
            <a:pPr marL="0" indent="0">
              <a:lnSpc>
                <a:spcPct val="150000"/>
              </a:lnSpc>
              <a:buNone/>
            </a:pPr>
            <a:endParaRPr lang="en-US" sz="126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SpeechGPT2.0-preview </a:t>
            </a:r>
            <a:r>
              <a:rPr lang="en-US" altLang="zh-CN"/>
              <a:t>Ability</a:t>
            </a:r>
            <a:endParaRPr lang="en-US" altLang="zh-CN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  <p:custDataLst>
              <p:tags r:id="rId1"/>
            </p:custDataLst>
          </p:nvPr>
        </p:nvSpPr>
        <p:spPr>
          <a:xfrm>
            <a:off x="609600" y="1377950"/>
            <a:ext cx="5103495" cy="4530725"/>
          </a:xfrm>
        </p:spPr>
        <p:txBody>
          <a:bodyPr/>
          <a:p>
            <a:pPr>
              <a:lnSpc>
                <a:spcPct val="150000"/>
              </a:lnSpc>
            </a:pPr>
            <a:r>
              <a:rPr lang="zh-CN" altLang="en-US" sz="1600" dirty="0"/>
              <a:t>预训练数据</a:t>
            </a:r>
            <a:r>
              <a:rPr lang="en-US" altLang="zh-CN" sz="1600" dirty="0"/>
              <a:t>: </a:t>
            </a:r>
            <a:r>
              <a:rPr lang="en-US" altLang="zh-CN" sz="1600" dirty="0">
                <a:sym typeface="+mn-ea"/>
              </a:rPr>
              <a:t>in the wild</a:t>
            </a:r>
            <a:r>
              <a:rPr lang="zh-CN" altLang="en-US" sz="1600" dirty="0">
                <a:sym typeface="+mn-ea"/>
              </a:rPr>
              <a:t>语音</a:t>
            </a:r>
            <a:endParaRPr lang="zh-CN" altLang="en-US" sz="1600" dirty="0">
              <a:sym typeface="+mn-ea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sym typeface="+mn-ea"/>
              </a:rPr>
              <a:t>内容标注：</a:t>
            </a:r>
            <a:r>
              <a:rPr lang="en-US" altLang="zh-CN" sz="1600" dirty="0">
                <a:sym typeface="+mn-ea"/>
              </a:rPr>
              <a:t>ASR</a:t>
            </a:r>
            <a:endParaRPr lang="zh-CN" altLang="en-US" sz="1600" dirty="0"/>
          </a:p>
          <a:p>
            <a:pPr lvl="1">
              <a:lnSpc>
                <a:spcPct val="150000"/>
              </a:lnSpc>
            </a:pPr>
            <a:r>
              <a:rPr lang="en-US" altLang="zh-CN" sz="1600" dirty="0"/>
              <a:t>caption</a:t>
            </a:r>
            <a:r>
              <a:rPr lang="zh-CN" altLang="en-US" sz="1600" dirty="0"/>
              <a:t>标注：</a:t>
            </a:r>
            <a:r>
              <a:rPr lang="en-US" altLang="zh-CN" sz="1600" dirty="0"/>
              <a:t>Gemini</a:t>
            </a:r>
            <a:endParaRPr lang="zh-CN" altLang="en-US" sz="1600" dirty="0"/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sym typeface="+mn-ea"/>
              </a:rPr>
              <a:t>文本语音时间对齐：</a:t>
            </a:r>
            <a:r>
              <a:rPr lang="en-US" altLang="zh-CN" sz="1600" dirty="0">
                <a:sym typeface="+mn-ea"/>
              </a:rPr>
              <a:t>TorchFA</a:t>
            </a:r>
            <a:endParaRPr lang="en-US" altLang="zh-CN" sz="1600" dirty="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/>
              <a:t>对话数据</a:t>
            </a:r>
            <a:endParaRPr lang="zh-CN" altLang="en-US" sz="1600" dirty="0"/>
          </a:p>
          <a:p>
            <a:pPr lvl="1">
              <a:lnSpc>
                <a:spcPct val="150000"/>
              </a:lnSpc>
            </a:pPr>
            <a:r>
              <a:rPr lang="zh-CN" altLang="en-US" sz="1420" dirty="0"/>
              <a:t>口语化</a:t>
            </a:r>
            <a:endParaRPr lang="zh-CN" altLang="en-US" sz="1420" dirty="0"/>
          </a:p>
          <a:p>
            <a:pPr lvl="1">
              <a:lnSpc>
                <a:spcPct val="150000"/>
              </a:lnSpc>
            </a:pPr>
            <a:r>
              <a:rPr lang="zh-CN" altLang="en-US" sz="1420" dirty="0"/>
              <a:t>风格、</a:t>
            </a:r>
            <a:r>
              <a:rPr lang="zh-CN" altLang="en-US" sz="1420" dirty="0"/>
              <a:t>情感转换</a:t>
            </a:r>
            <a:endParaRPr lang="zh-CN" altLang="en-US" sz="1420" dirty="0"/>
          </a:p>
          <a:p>
            <a:pPr lvl="1">
              <a:lnSpc>
                <a:spcPct val="150000"/>
              </a:lnSpc>
            </a:pPr>
            <a:r>
              <a:rPr lang="zh-CN" altLang="en-US" sz="1420" dirty="0"/>
              <a:t>角色</a:t>
            </a:r>
            <a:r>
              <a:rPr lang="zh-CN" altLang="en-US" sz="1420" dirty="0"/>
              <a:t>扮演</a:t>
            </a:r>
            <a:endParaRPr lang="zh-CN" altLang="en-US" sz="1420" dirty="0"/>
          </a:p>
          <a:p>
            <a:pPr lvl="1">
              <a:lnSpc>
                <a:spcPct val="150000"/>
              </a:lnSpc>
            </a:pPr>
            <a:endParaRPr lang="zh-CN" altLang="en-US" sz="1420" dirty="0"/>
          </a:p>
        </p:txBody>
      </p:sp>
      <p:pic>
        <p:nvPicPr>
          <p:cNvPr id="3" name="sg2_demo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863840" y="1029970"/>
            <a:ext cx="2366645" cy="47974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Improved TTS</a:t>
            </a:r>
            <a:endParaRPr lang="en-US" altLang="zh-CN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  <p:custDataLst>
              <p:tags r:id="rId1"/>
            </p:custDataLst>
          </p:nvPr>
        </p:nvSpPr>
        <p:spPr>
          <a:xfrm>
            <a:off x="609600" y="985000"/>
            <a:ext cx="8700000" cy="380000"/>
          </a:xfrm>
        </p:spPr>
        <p:txBody>
          <a:bodyPr/>
          <a:p>
            <a:r>
              <a:rPr lang="zh-CN" altLang="en-US" sz="1600" dirty="0"/>
              <a:t>副语言学</a:t>
            </a:r>
            <a:r>
              <a:rPr lang="en-US" altLang="zh-CN" sz="1600" dirty="0"/>
              <a:t>token</a:t>
            </a:r>
            <a:r>
              <a:rPr lang="zh-CN" altLang="en-US" sz="1600" dirty="0"/>
              <a:t>控制：笑声、重读、停顿</a:t>
            </a:r>
            <a:r>
              <a:rPr lang="zh-CN" altLang="en-US" sz="1600" dirty="0"/>
              <a:t>等</a:t>
            </a:r>
            <a:endParaRPr lang="zh-CN" altLang="en-US" sz="1600" dirty="0"/>
          </a:p>
        </p:txBody>
      </p:sp>
      <p:graphicFrame>
        <p:nvGraphicFramePr>
          <p:cNvPr id="6" name="表格 5"/>
          <p:cNvGraphicFramePr/>
          <p:nvPr/>
        </p:nvGraphicFramePr>
        <p:xfrm>
          <a:off x="764540" y="1360000"/>
          <a:ext cx="85344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7200"/>
                <a:gridCol w="426720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Text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Speech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You went to the party [laughter] even though I explicitly told you not to</a:t>
                      </a:r>
                      <a:r>
                        <a:rPr lang="en-US" altLang="zh-CN" sz="1200">
                          <a:sym typeface="+mn-ea"/>
                        </a:rPr>
                        <a:t>?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Going to the moon is a challenging task that requires a lot of planning and resources [laughter]</a:t>
                      </a: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You went to the party [laughter] even though I explicitly told you not to?_2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953885" y="1758780"/>
            <a:ext cx="392430" cy="345440"/>
          </a:xfrm>
          <a:prstGeom prst="rect">
            <a:avLst/>
          </a:prstGeom>
        </p:spPr>
      </p:pic>
      <p:pic>
        <p:nvPicPr>
          <p:cNvPr id="5" name="Going to the moon is a challenging task that requires a lot of planning and resources [laughter]._5(1)">
            <a:hlinkClick r:id="" action="ppaction://media"/>
          </p:cNvPr>
          <p:cNvPicPr/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953885" y="2251540"/>
            <a:ext cx="392430" cy="344805"/>
          </a:xfrm>
          <a:prstGeom prst="rect">
            <a:avLst/>
          </a:prstGeom>
        </p:spPr>
      </p:pic>
      <p:graphicFrame>
        <p:nvGraphicFramePr>
          <p:cNvPr id="11" name="表格 10"/>
          <p:cNvGraphicFramePr/>
          <p:nvPr/>
        </p:nvGraphicFramePr>
        <p:xfrm>
          <a:off x="764540" y="3110000"/>
          <a:ext cx="8534400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7200"/>
                <a:gridCol w="426720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Text </a:t>
                      </a:r>
                      <a:r>
                        <a:rPr lang="en-US" altLang="zh-CN"/>
                        <a:t>Instruction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Speech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说话者情绪激动却努力保持理性，语气中带着如释重负的欣喜，言语间流露出难以抑制的兴奋之情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sz="1200">
                          <a:sym typeface="+mn-ea"/>
                        </a:rPr>
                        <a:t>说话人以学术探讨的语气娓娓道来，语速平缓且富有逻辑，体现出一位研究者的严谨与开放态度</a:t>
                      </a:r>
                      <a:endParaRPr lang="zh-CN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2" name="14_说话人以学术探讨的语气娓娓道来，语速平缓且富有逻辑，体现出一位研究者的严谨与开放态度 (1)">
            <a:hlinkClick r:id="" action="ppaction://media"/>
          </p:cNvPr>
          <p:cNvPicPr/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953885" y="3983760"/>
            <a:ext cx="392430" cy="381000"/>
          </a:xfrm>
          <a:prstGeom prst="rect">
            <a:avLst/>
          </a:prstGeom>
        </p:spPr>
      </p:pic>
      <p:pic>
        <p:nvPicPr>
          <p:cNvPr id="13" name="11_说话者情绪激动却努力保持理性，语气中带着如释重负的欣喜，言语间流露出难以抑制的兴奋之情 (1)">
            <a:hlinkClick r:id="" action="ppaction://media"/>
          </p:cNvPr>
          <p:cNvPicPr/>
          <p:nvPr>
            <a:audioFile r:link="rId9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953885" y="3567200"/>
            <a:ext cx="392430" cy="344805"/>
          </a:xfrm>
          <a:prstGeom prst="rect">
            <a:avLst/>
          </a:prstGeom>
        </p:spPr>
      </p:pic>
      <p:graphicFrame>
        <p:nvGraphicFramePr>
          <p:cNvPr id="14" name="表格 13"/>
          <p:cNvGraphicFramePr/>
          <p:nvPr/>
        </p:nvGraphicFramePr>
        <p:xfrm>
          <a:off x="760095" y="4880000"/>
          <a:ext cx="8543290" cy="102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6565"/>
                <a:gridCol w="427672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Text 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Speech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[</a:t>
                      </a:r>
                      <a:r>
                        <a:rPr lang="zh-CN" altLang="en-US" sz="1200"/>
                        <a:t>S1</a:t>
                      </a:r>
                      <a:r>
                        <a:rPr lang="en-US" altLang="zh-CN" sz="1200"/>
                        <a:t>]</a:t>
                      </a:r>
                      <a:r>
                        <a:rPr lang="zh-CN" altLang="en-US" sz="1200"/>
                        <a:t>你觉得这个方案怎么样？</a:t>
                      </a:r>
                      <a:r>
                        <a:rPr lang="en-US" altLang="zh-CN" sz="1200"/>
                        <a:t>[</a:t>
                      </a:r>
                      <a:r>
                        <a:rPr lang="zh-CN" altLang="en-US" sz="1200"/>
                        <a:t>S2</a:t>
                      </a:r>
                      <a:r>
                        <a:rPr lang="en-US" altLang="zh-CN" sz="1200"/>
                        <a:t>]</a:t>
                      </a:r>
                      <a:r>
                        <a:rPr lang="zh-CN" altLang="en-US" sz="1200"/>
                        <a:t>整体还不错，但是</a:t>
                      </a:r>
                      <a:r>
                        <a:rPr lang="en-US" altLang="zh-CN" sz="1200"/>
                        <a:t>[</a:t>
                      </a:r>
                      <a:r>
                        <a:rPr lang="zh-CN" altLang="en-US" sz="1200"/>
                        <a:t>S1</a:t>
                      </a:r>
                      <a:r>
                        <a:rPr lang="en-US" altLang="zh-CN" sz="1200"/>
                        <a:t>]</a:t>
                      </a:r>
                      <a:r>
                        <a:rPr lang="zh-CN" altLang="en-US" sz="1200"/>
                        <a:t>时间安排有问题？</a:t>
                      </a:r>
                      <a:r>
                        <a:rPr lang="en-US" altLang="zh-CN" sz="1200"/>
                        <a:t>[</a:t>
                      </a:r>
                      <a:r>
                        <a:rPr lang="zh-CN" altLang="en-US" sz="1200"/>
                        <a:t>S2</a:t>
                      </a:r>
                      <a:r>
                        <a:rPr lang="en-US" altLang="zh-CN" sz="1200"/>
                        <a:t>]</a:t>
                      </a:r>
                      <a:r>
                        <a:rPr lang="zh-CN" altLang="en-US" sz="1200"/>
                        <a:t>嗯，而且预算也</a:t>
                      </a:r>
                      <a:r>
                        <a:rPr lang="en-US" altLang="zh-CN" sz="1200"/>
                        <a:t>[</a:t>
                      </a:r>
                      <a:r>
                        <a:rPr lang="zh-CN" altLang="en-US" sz="1200"/>
                        <a:t>S1</a:t>
                      </a:r>
                      <a:r>
                        <a:rPr lang="en-US" altLang="zh-CN" sz="1200"/>
                        <a:t>]</a:t>
                      </a:r>
                      <a:r>
                        <a:rPr lang="zh-CN" altLang="en-US" sz="1200"/>
                        <a:t>太高了是吧？</a:t>
                      </a:r>
                      <a:r>
                        <a:rPr lang="en-US" altLang="zh-CN" sz="1200"/>
                        <a:t>[</a:t>
                      </a:r>
                      <a:r>
                        <a:rPr lang="zh-CN" altLang="en-US" sz="1200"/>
                        <a:t>S2</a:t>
                      </a:r>
                      <a:r>
                        <a:rPr lang="en-US" altLang="zh-CN" sz="1200"/>
                        <a:t>]</a:t>
                      </a:r>
                      <a:r>
                        <a:rPr lang="zh-CN" altLang="en-US" sz="1200"/>
                        <a:t>对，如果能减少一些</a:t>
                      </a:r>
                      <a:r>
                        <a:rPr lang="en-US" altLang="zh-CN" sz="1200"/>
                        <a:t>[</a:t>
                      </a:r>
                      <a:r>
                        <a:rPr lang="zh-CN" altLang="en-US" sz="1200"/>
                        <a:t>S1</a:t>
                      </a:r>
                      <a:r>
                        <a:rPr lang="en-US" altLang="zh-CN" sz="1200"/>
                        <a:t>]</a:t>
                      </a:r>
                      <a:r>
                        <a:rPr lang="zh-CN" altLang="en-US" sz="1200"/>
                        <a:t>不必要的开支？</a:t>
                      </a:r>
                      <a:r>
                        <a:rPr lang="en-US" altLang="zh-CN" sz="1200"/>
                        <a:t>[</a:t>
                      </a:r>
                      <a:r>
                        <a:rPr lang="zh-CN" altLang="en-US" sz="1200"/>
                        <a:t>S2</a:t>
                      </a:r>
                      <a:r>
                        <a:rPr lang="en-US" altLang="zh-CN" sz="1200"/>
                        <a:t>]</a:t>
                      </a:r>
                      <a:r>
                        <a:rPr lang="zh-CN" altLang="en-US" sz="1200"/>
                        <a:t>没错，就是这个意思。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5" name="S1你觉得这个方案怎么样？S2整体还不错，但是S1时间安排有问题？S2嗯，而且预算也S1太高了是吧？S2对，如果能减少一些S1不必要的开支？S2没错，就是这个意思。">
            <a:hlinkClick r:id="" action="ppaction://media"/>
          </p:cNvPr>
          <p:cNvPicPr/>
          <p:nvPr>
            <a:audioFile r:link="rId11"/>
            <p:extLst>
              <p:ext uri="{DAA4B4D4-6D71-4841-9C94-3DE7FCFB9230}">
                <p14:media xmlns:p14="http://schemas.microsoft.com/office/powerpoint/2010/main" r:embed="rId1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031990" y="5379745"/>
            <a:ext cx="392430" cy="381000"/>
          </a:xfrm>
          <a:prstGeom prst="rect">
            <a:avLst/>
          </a:prstGeom>
        </p:spPr>
      </p:pic>
      <p:sp>
        <p:nvSpPr>
          <p:cNvPr id="5061" name="内容占位符 7-1"/>
          <p:cNvSpPr>
            <a:spLocks noGrp="1"/>
          </p:cNvSpPr>
          <p:nvPr>
            <p:ph sz="quarter" idx="1"/>
            <p:custDataLst>
              <p:tags r:id="rId13"/>
            </p:custDataLst>
          </p:nvPr>
        </p:nvSpPr>
        <p:spPr>
          <a:xfrm>
            <a:off x="609600" y="2745000"/>
            <a:ext cx="8700000" cy="380000"/>
          </a:xfrm>
        </p:spPr>
        <p:txBody>
          <a:bodyPr/>
          <a:p>
            <a:r>
              <a:rPr lang="zh-CN" altLang="en-US" sz="1600" dirty="0"/>
              <a:t>文本指令控制的</a:t>
            </a:r>
            <a:r>
              <a:rPr lang="en-US" altLang="zh-CN" sz="1600" dirty="0"/>
              <a:t>TTS</a:t>
            </a:r>
            <a:endParaRPr lang="en-US" altLang="zh-CN" sz="1600" dirty="0"/>
          </a:p>
        </p:txBody>
      </p:sp>
      <p:sp>
        <p:nvSpPr>
          <p:cNvPr id="5062" name="内容占位符 7-2"/>
          <p:cNvSpPr>
            <a:spLocks noGrp="1"/>
          </p:cNvSpPr>
          <p:nvPr>
            <p:ph sz="quarter" idx="1"/>
            <p:custDataLst>
              <p:tags r:id="rId14"/>
            </p:custDataLst>
          </p:nvPr>
        </p:nvSpPr>
        <p:spPr>
          <a:xfrm>
            <a:off x="609600" y="4515000"/>
            <a:ext cx="8700000" cy="380000"/>
          </a:xfrm>
        </p:spPr>
        <p:txBody>
          <a:bodyPr/>
          <a:p>
            <a:r>
              <a:rPr lang="zh-CN" altLang="en-US" sz="1600" dirty="0"/>
              <a:t>对话</a:t>
            </a:r>
            <a:r>
              <a:rPr lang="en-US" altLang="zh-CN" sz="1600" dirty="0"/>
              <a:t>TTS</a:t>
            </a:r>
            <a:endParaRPr lang="en-US" altLang="zh-CN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audio>
              <p:cMediaNode>
                <p:cTn id="2" fill="hold" display="1">
                  <p:stCondLst>
                    <p:cond delay="indefinite"/>
                  </p:stCondLst>
                  <p:endCondLst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>
                <p:cTn id="3" fill="hold" display="1">
                  <p:stCondLst>
                    <p:cond delay="indefinite"/>
                  </p:stCondLst>
                  <p:endCondLst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>
                <p:cTn id="4" fill="hold" display="1">
                  <p:stCondLst>
                    <p:cond delay="indefinite"/>
                  </p:stCondLst>
                  <p:endCondLst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  <p:audio>
              <p:cMediaNode>
                <p:cTn id="5" fill="hold" display="1">
                  <p:stCondLst>
                    <p:cond delay="indefinite"/>
                  </p:stCondLst>
                  <p:endCondLst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  <p:audio>
              <p:cMediaNode>
                <p:cTn id="6" fill="hold" display="1">
                  <p:stCondLst>
                    <p:cond delay="indefinite"/>
                  </p:stCondLst>
                  <p:endCondLst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VStyle: A Benchmark For Voice Style Adaptation With Spoken Instructions</a:t>
            </a:r>
            <a:endParaRPr lang="en-US" altLang="zh-CN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2199005" y="5109845"/>
            <a:ext cx="7794625" cy="1849120"/>
          </a:xfrm>
        </p:spPr>
        <p:txBody>
          <a:bodyPr/>
          <a:lstStyle/>
          <a:p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</a:rPr>
              <a:t>How can we construct an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</a:rPr>
              <a:t> automated</a:t>
            </a:r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</a:rPr>
              <a:t> and 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</a:rPr>
              <a:t>quantitative</a:t>
            </a:r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</a:rPr>
              <a:t> evaluation benchmark for end-to-end generation?</a:t>
            </a:r>
            <a:endParaRPr lang="en-US" altLang="zh-CN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Motivation</a:t>
            </a:r>
            <a:endParaRPr lang="en-US" altLang="zh-CN"/>
          </a:p>
        </p:txBody>
      </p:sp>
      <p:sp>
        <p:nvSpPr>
          <p:cNvPr id="4" name="内容占位符 3"/>
          <p:cNvSpPr>
            <a:spLocks noGrp="1"/>
          </p:cNvSpPr>
          <p:nvPr>
            <p:ph sz="quarter" idx="1"/>
          </p:nvPr>
        </p:nvSpPr>
        <p:spPr>
          <a:xfrm>
            <a:off x="753745" y="1484630"/>
            <a:ext cx="4481195" cy="4379595"/>
          </a:xfrm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/>
          <a:lstStyle/>
          <a:p>
            <a:pPr marL="0" indent="0" eaLnBrk="0" latinLnBrk="0">
              <a:lnSpc>
                <a:spcPct val="110000"/>
              </a:lnSpc>
              <a:spcBef>
                <a:spcPts val="800"/>
              </a:spcBef>
              <a:buNone/>
            </a:pPr>
            <a:r>
              <a:rPr lang="en-US" altLang="zh-CN" b="1"/>
              <a:t>Goal &amp; Challenge</a:t>
            </a:r>
            <a:endParaRPr lang="en-US" altLang="zh-CN" b="1"/>
          </a:p>
          <a:p>
            <a:pPr>
              <a:lnSpc>
                <a:spcPct val="110000"/>
              </a:lnSpc>
            </a:pPr>
            <a:r>
              <a:rPr lang="en-US" altLang="zh-CN"/>
              <a:t>Goal: Train a speech model for voice transformation based on arbitrary human instructions</a:t>
            </a:r>
            <a:endParaRPr lang="en-US" altLang="zh-CN"/>
          </a:p>
          <a:p>
            <a:pPr>
              <a:lnSpc>
                <a:spcPct val="110000"/>
              </a:lnSpc>
            </a:pPr>
            <a:r>
              <a:rPr lang="en-US" altLang="zh-CN"/>
              <a:t>Challenges: </a:t>
            </a:r>
            <a:endParaRPr lang="en-US" altLang="zh-CN"/>
          </a:p>
          <a:p>
            <a:pPr lvl="1">
              <a:lnSpc>
                <a:spcPct val="110000"/>
              </a:lnSpc>
            </a:pPr>
            <a:r>
              <a:rPr lang="en-US" altLang="zh-CN"/>
              <a:t>Evaluating multimodal generation models is difficult</a:t>
            </a:r>
            <a:endParaRPr lang="en-US" altLang="zh-CN"/>
          </a:p>
          <a:p>
            <a:pPr lvl="1">
              <a:lnSpc>
                <a:spcPct val="110000"/>
              </a:lnSpc>
            </a:pPr>
            <a:r>
              <a:rPr lang="en-US" altLang="zh-CN"/>
              <a:t>Human evaluation is unstable and labor-intensive</a:t>
            </a:r>
            <a:endParaRPr lang="en-US" altLang="zh-CN"/>
          </a:p>
        </p:txBody>
      </p:sp>
      <p:sp>
        <p:nvSpPr>
          <p:cNvPr id="5" name="内容占位符 3"/>
          <p:cNvSpPr>
            <a:spLocks noGrp="1"/>
          </p:cNvSpPr>
          <p:nvPr/>
        </p:nvSpPr>
        <p:spPr>
          <a:xfrm>
            <a:off x="6672580" y="1484630"/>
            <a:ext cx="4689475" cy="4379595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vert="horz" wrap="square" lIns="91440" tIns="45720" rIns="91440" bIns="45720" numCol="1" anchor="t" anchorCtr="0" compatLnSpc="1"/>
          <a:lstStyle>
            <a:lvl1pPr marL="204470" indent="-204470" algn="l" rtl="0" eaLnBrk="1" fontAlgn="base" hangingPunct="1">
              <a:spcBef>
                <a:spcPts val="450"/>
              </a:spcBef>
              <a:spcAft>
                <a:spcPts val="60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400" kern="1200" baseline="0">
                <a:solidFill>
                  <a:srgbClr val="000000"/>
                </a:solidFill>
                <a:latin typeface="+mn-lt"/>
                <a:ea typeface="华文楷体" panose="02010600040101010101" pitchFamily="2" charset="-122"/>
                <a:cs typeface="+mn-cs"/>
              </a:defRPr>
            </a:lvl1pPr>
            <a:lvl2pPr marL="410845" indent="-204470" algn="l" rtl="0" eaLnBrk="1" fontAlgn="base" hangingPunct="1">
              <a:spcBef>
                <a:spcPts val="375"/>
              </a:spcBef>
              <a:spcAft>
                <a:spcPts val="600"/>
              </a:spcAft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135" kern="1200" baseline="0">
                <a:solidFill>
                  <a:srgbClr val="000000"/>
                </a:solidFill>
                <a:latin typeface="+mn-lt"/>
                <a:ea typeface="华文楷体" panose="02010600040101010101" pitchFamily="2" charset="-122"/>
                <a:cs typeface="+mn-cs"/>
              </a:defRPr>
            </a:lvl2pPr>
            <a:lvl3pPr marL="616585" indent="-171450" algn="l" rtl="0" eaLnBrk="1" fontAlgn="base" hangingPunct="1">
              <a:spcBef>
                <a:spcPts val="375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1600" kern="1200" baseline="0">
                <a:solidFill>
                  <a:srgbClr val="000000"/>
                </a:solidFill>
                <a:latin typeface="+mn-lt"/>
                <a:ea typeface="华文楷体" panose="02010600040101010101" pitchFamily="2" charset="-122"/>
                <a:cs typeface="+mn-cs"/>
              </a:defRPr>
            </a:lvl3pPr>
            <a:lvl4pPr marL="822960" indent="-17145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CF5716"/>
              </a:buClr>
              <a:buSzPct val="70000"/>
              <a:buFont typeface="Wingdings" panose="05000000000000000000" pitchFamily="2" charset="2"/>
              <a:buChar char=""/>
              <a:defRPr sz="1200" kern="1200" baseline="0">
                <a:solidFill>
                  <a:schemeClr val="tx1"/>
                </a:solidFill>
                <a:latin typeface="+mn-lt"/>
                <a:ea typeface="华文楷体" panose="02010600040101010101" pitchFamily="2" charset="-122"/>
                <a:cs typeface="+mn-cs"/>
              </a:defRPr>
            </a:lvl4pPr>
            <a:lvl5pPr marL="1028700" indent="-171450" algn="l" rtl="0" eaLnBrk="1" fontAlgn="base" hangingPunct="1">
              <a:spcBef>
                <a:spcPts val="225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400" kern="1200" baseline="0">
                <a:solidFill>
                  <a:schemeClr val="tx1"/>
                </a:solidFill>
                <a:latin typeface="+mn-lt"/>
                <a:ea typeface="华文楷体" panose="02010600040101010101" pitchFamily="2" charset="-122"/>
                <a:cs typeface="+mn-cs"/>
              </a:defRPr>
            </a:lvl5pPr>
            <a:lvl6pPr marL="1234440" indent="-137160" algn="l" rtl="0" eaLnBrk="1" latinLnBrk="0" hangingPunct="1">
              <a:spcBef>
                <a:spcPts val="225"/>
              </a:spcBef>
              <a:buClr>
                <a:srgbClr val="9FB8CD">
                  <a:shade val="75000"/>
                </a:srgbClr>
              </a:buClr>
              <a:buSzPct val="75000"/>
              <a:buFont typeface="Wingdings 3" panose="05040102010807070707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137160" algn="l" rtl="0" eaLnBrk="1" latinLnBrk="0" hangingPunct="1">
              <a:spcBef>
                <a:spcPts val="225"/>
              </a:spcBef>
              <a:buClr>
                <a:srgbClr val="727CA3">
                  <a:shade val="75000"/>
                </a:srgbClr>
              </a:buClr>
              <a:buSzPct val="75000"/>
              <a:buFont typeface="Wingdings 3" panose="05040102010807070707"/>
              <a:buChar char=""/>
              <a:defRPr kumimoji="0" lang="en-US" sz="105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08760" indent="-137160" algn="l" rtl="0" eaLnBrk="1" latinLnBrk="0" hangingPunct="1">
              <a:spcBef>
                <a:spcPts val="225"/>
              </a:spcBef>
              <a:buClr>
                <a:prstClr val="white">
                  <a:shade val="50000"/>
                </a:prstClr>
              </a:buClr>
              <a:buSzPct val="75000"/>
              <a:buFont typeface="Wingdings 3" panose="05040102010807070707"/>
              <a:buChar char=""/>
              <a:defRPr kumimoji="0" lang="en-US" sz="105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37160" algn="l" rtl="0" eaLnBrk="1" latinLnBrk="0" hangingPunct="1">
              <a:spcBef>
                <a:spcPts val="225"/>
              </a:spcBef>
              <a:buClr>
                <a:srgbClr val="9FB8CD"/>
              </a:buClr>
              <a:buSzPct val="75000"/>
              <a:buFont typeface="Wingdings 3" panose="05040102010807070707"/>
              <a:buChar char=""/>
              <a:defRPr kumimoji="0" lang="en-US" sz="9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altLang="zh-CN" b="1"/>
              <a:t>Our Solution: VStyle Benchmark</a:t>
            </a:r>
            <a:endParaRPr lang="en-US" altLang="zh-CN" b="1"/>
          </a:p>
          <a:p>
            <a:pPr>
              <a:lnSpc>
                <a:spcPct val="110000"/>
              </a:lnSpc>
            </a:pPr>
            <a:r>
              <a:rPr lang="en-US" altLang="zh-CN"/>
              <a:t>Leverages LALMs' strong audio understanding ability</a:t>
            </a:r>
            <a:endParaRPr lang="en-US" altLang="zh-CN"/>
          </a:p>
          <a:p>
            <a:pPr>
              <a:lnSpc>
                <a:spcPct val="110000"/>
              </a:lnSpc>
            </a:pPr>
            <a:r>
              <a:rPr lang="en-US" altLang="zh-CN"/>
              <a:t>Covers multiple instruction types</a:t>
            </a:r>
            <a:endParaRPr lang="en-US" altLang="zh-CN"/>
          </a:p>
          <a:p>
            <a:pPr>
              <a:lnSpc>
                <a:spcPct val="110000"/>
              </a:lnSpc>
            </a:pPr>
            <a:r>
              <a:rPr lang="en-US" altLang="zh-CN"/>
              <a:t>Assesses three hierarchical dimensions: textual adherence, stylistic adherence, and overall naturalness.</a:t>
            </a:r>
            <a:endParaRPr lang="en-US" altLang="zh-CN"/>
          </a:p>
        </p:txBody>
      </p:sp>
      <p:sp>
        <p:nvSpPr>
          <p:cNvPr id="7" name="右箭头 6"/>
          <p:cNvSpPr/>
          <p:nvPr/>
        </p:nvSpPr>
        <p:spPr>
          <a:xfrm>
            <a:off x="5521960" y="3500755"/>
            <a:ext cx="863600" cy="431800"/>
          </a:xfrm>
          <a:prstGeom prst="rightArrow">
            <a:avLst/>
          </a:prstGeom>
          <a:solidFill>
            <a:schemeClr val="bg1">
              <a:lumMod val="65000"/>
            </a:schemeClr>
          </a:solidFill>
        </p:spPr>
        <p:txBody>
          <a:bodyPr wrap="none">
            <a:spAutoFit/>
          </a:bodyPr>
          <a:p>
            <a:endParaRPr lang="zh-CN" altLang="en-US" sz="2400" dirty="0"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Overview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1"/>
          </p:nvPr>
        </p:nvSpPr>
        <p:spPr>
          <a:xfrm>
            <a:off x="868680" y="4004945"/>
            <a:ext cx="2743200" cy="2449195"/>
          </a:xfrm>
        </p:spPr>
        <p:txBody>
          <a:bodyPr/>
          <a:lstStyle/>
          <a:p>
            <a:r>
              <a:rPr lang="en-US" altLang="zh-CN"/>
              <a:t>Acoustic-Attributes</a:t>
            </a:r>
            <a:endParaRPr lang="en-US" altLang="zh-CN"/>
          </a:p>
          <a:p>
            <a:pPr lvl="1"/>
            <a:r>
              <a:rPr lang="en-US" altLang="zh-CN"/>
              <a:t>age, gender</a:t>
            </a:r>
            <a:endParaRPr lang="en-US" altLang="zh-CN"/>
          </a:p>
          <a:p>
            <a:pPr lvl="1"/>
            <a:r>
              <a:rPr lang="en-US" altLang="zh-CN"/>
              <a:t>speaking rate, pitch, loudness, and emotion.</a:t>
            </a:r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60" y="1052195"/>
            <a:ext cx="10763250" cy="2597150"/>
          </a:xfrm>
          <a:prstGeom prst="rect">
            <a:avLst/>
          </a:prstGeom>
        </p:spPr>
      </p:pic>
      <p:sp>
        <p:nvSpPr>
          <p:cNvPr id="5" name="内容占位符 3"/>
          <p:cNvSpPr>
            <a:spLocks noGrp="1"/>
          </p:cNvSpPr>
          <p:nvPr/>
        </p:nvSpPr>
        <p:spPr>
          <a:xfrm>
            <a:off x="3611880" y="4004945"/>
            <a:ext cx="2743200" cy="24491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204470" indent="-204470" algn="l" rtl="0" eaLnBrk="1" fontAlgn="base" hangingPunct="1">
              <a:spcBef>
                <a:spcPts val="450"/>
              </a:spcBef>
              <a:spcAft>
                <a:spcPts val="60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400" kern="1200" baseline="0">
                <a:solidFill>
                  <a:srgbClr val="000000"/>
                </a:solidFill>
                <a:latin typeface="+mn-lt"/>
                <a:ea typeface="华文楷体" panose="02010600040101010101" pitchFamily="2" charset="-122"/>
                <a:cs typeface="+mn-cs"/>
              </a:defRPr>
            </a:lvl1pPr>
            <a:lvl2pPr marL="410845" indent="-204470" algn="l" rtl="0" eaLnBrk="1" fontAlgn="base" hangingPunct="1">
              <a:spcBef>
                <a:spcPts val="375"/>
              </a:spcBef>
              <a:spcAft>
                <a:spcPts val="600"/>
              </a:spcAft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135" kern="1200" baseline="0">
                <a:solidFill>
                  <a:srgbClr val="000000"/>
                </a:solidFill>
                <a:latin typeface="+mn-lt"/>
                <a:ea typeface="华文楷体" panose="02010600040101010101" pitchFamily="2" charset="-122"/>
                <a:cs typeface="+mn-cs"/>
              </a:defRPr>
            </a:lvl2pPr>
            <a:lvl3pPr marL="616585" indent="-171450" algn="l" rtl="0" eaLnBrk="1" fontAlgn="base" hangingPunct="1">
              <a:spcBef>
                <a:spcPts val="375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1600" kern="1200" baseline="0">
                <a:solidFill>
                  <a:srgbClr val="000000"/>
                </a:solidFill>
                <a:latin typeface="+mn-lt"/>
                <a:ea typeface="华文楷体" panose="02010600040101010101" pitchFamily="2" charset="-122"/>
                <a:cs typeface="+mn-cs"/>
              </a:defRPr>
            </a:lvl3pPr>
            <a:lvl4pPr marL="822960" indent="-17145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CF5716"/>
              </a:buClr>
              <a:buSzPct val="70000"/>
              <a:buFont typeface="Wingdings" panose="05000000000000000000" pitchFamily="2" charset="2"/>
              <a:buChar char=""/>
              <a:defRPr sz="1200" kern="1200" baseline="0">
                <a:solidFill>
                  <a:schemeClr val="tx1"/>
                </a:solidFill>
                <a:latin typeface="+mn-lt"/>
                <a:ea typeface="华文楷体" panose="02010600040101010101" pitchFamily="2" charset="-122"/>
                <a:cs typeface="+mn-cs"/>
              </a:defRPr>
            </a:lvl4pPr>
            <a:lvl5pPr marL="1028700" indent="-171450" algn="l" rtl="0" eaLnBrk="1" fontAlgn="base" hangingPunct="1">
              <a:spcBef>
                <a:spcPts val="225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400" kern="1200" baseline="0">
                <a:solidFill>
                  <a:schemeClr val="tx1"/>
                </a:solidFill>
                <a:latin typeface="+mn-lt"/>
                <a:ea typeface="华文楷体" panose="02010600040101010101" pitchFamily="2" charset="-122"/>
                <a:cs typeface="+mn-cs"/>
              </a:defRPr>
            </a:lvl5pPr>
            <a:lvl6pPr marL="1234440" indent="-137160" algn="l" rtl="0" eaLnBrk="1" latinLnBrk="0" hangingPunct="1">
              <a:spcBef>
                <a:spcPts val="225"/>
              </a:spcBef>
              <a:buClr>
                <a:srgbClr val="9FB8CD">
                  <a:shade val="75000"/>
                </a:srgbClr>
              </a:buClr>
              <a:buSzPct val="75000"/>
              <a:buFont typeface="Wingdings 3" panose="05040102010807070707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137160" algn="l" rtl="0" eaLnBrk="1" latinLnBrk="0" hangingPunct="1">
              <a:spcBef>
                <a:spcPts val="225"/>
              </a:spcBef>
              <a:buClr>
                <a:srgbClr val="727CA3">
                  <a:shade val="75000"/>
                </a:srgbClr>
              </a:buClr>
              <a:buSzPct val="75000"/>
              <a:buFont typeface="Wingdings 3" panose="05040102010807070707"/>
              <a:buChar char=""/>
              <a:defRPr kumimoji="0" lang="en-US" sz="105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08760" indent="-137160" algn="l" rtl="0" eaLnBrk="1" latinLnBrk="0" hangingPunct="1">
              <a:spcBef>
                <a:spcPts val="225"/>
              </a:spcBef>
              <a:buClr>
                <a:prstClr val="white">
                  <a:shade val="50000"/>
                </a:prstClr>
              </a:buClr>
              <a:buSzPct val="75000"/>
              <a:buFont typeface="Wingdings 3" panose="05040102010807070707"/>
              <a:buChar char=""/>
              <a:defRPr kumimoji="0" lang="en-US" sz="105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37160" algn="l" rtl="0" eaLnBrk="1" latinLnBrk="0" hangingPunct="1">
              <a:spcBef>
                <a:spcPts val="225"/>
              </a:spcBef>
              <a:buClr>
                <a:srgbClr val="9FB8CD"/>
              </a:buClr>
              <a:buSzPct val="75000"/>
              <a:buFont typeface="Wingdings 3" panose="05040102010807070707"/>
              <a:buChar char=""/>
              <a:defRPr kumimoji="0" lang="en-US" sz="9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Natural Language Instructions</a:t>
            </a:r>
            <a:endParaRPr lang="en-US" altLang="zh-CN"/>
          </a:p>
          <a:p>
            <a:pPr lvl="1"/>
            <a:r>
              <a:rPr lang="en-US" altLang="zh-CN"/>
              <a:t>emotion</a:t>
            </a:r>
            <a:endParaRPr lang="en-US" altLang="zh-CN"/>
          </a:p>
          <a:p>
            <a:pPr lvl="1"/>
            <a:r>
              <a:rPr lang="en-US" altLang="zh-CN"/>
              <a:t>style</a:t>
            </a:r>
            <a:endParaRPr lang="en-US" altLang="zh-CN"/>
          </a:p>
          <a:p>
            <a:pPr lvl="1"/>
            <a:r>
              <a:rPr lang="en-US" altLang="zh-CN"/>
              <a:t>variation</a:t>
            </a:r>
            <a:endParaRPr lang="en-US" altLang="zh-CN"/>
          </a:p>
        </p:txBody>
      </p:sp>
      <p:sp>
        <p:nvSpPr>
          <p:cNvPr id="6" name="内容占位符 3"/>
          <p:cNvSpPr>
            <a:spLocks noGrp="1"/>
          </p:cNvSpPr>
          <p:nvPr/>
        </p:nvSpPr>
        <p:spPr>
          <a:xfrm>
            <a:off x="6355080" y="4004945"/>
            <a:ext cx="2743200" cy="24491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204470" indent="-204470" algn="l" rtl="0" eaLnBrk="1" fontAlgn="base" hangingPunct="1">
              <a:spcBef>
                <a:spcPts val="450"/>
              </a:spcBef>
              <a:spcAft>
                <a:spcPts val="60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400" kern="1200" baseline="0">
                <a:solidFill>
                  <a:srgbClr val="000000"/>
                </a:solidFill>
                <a:latin typeface="+mn-lt"/>
                <a:ea typeface="华文楷体" panose="02010600040101010101" pitchFamily="2" charset="-122"/>
                <a:cs typeface="+mn-cs"/>
              </a:defRPr>
            </a:lvl1pPr>
            <a:lvl2pPr marL="410845" indent="-204470" algn="l" rtl="0" eaLnBrk="1" fontAlgn="base" hangingPunct="1">
              <a:spcBef>
                <a:spcPts val="375"/>
              </a:spcBef>
              <a:spcAft>
                <a:spcPts val="600"/>
              </a:spcAft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135" kern="1200" baseline="0">
                <a:solidFill>
                  <a:srgbClr val="000000"/>
                </a:solidFill>
                <a:latin typeface="+mn-lt"/>
                <a:ea typeface="华文楷体" panose="02010600040101010101" pitchFamily="2" charset="-122"/>
                <a:cs typeface="+mn-cs"/>
              </a:defRPr>
            </a:lvl2pPr>
            <a:lvl3pPr marL="616585" indent="-171450" algn="l" rtl="0" eaLnBrk="1" fontAlgn="base" hangingPunct="1">
              <a:spcBef>
                <a:spcPts val="375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1600" kern="1200" baseline="0">
                <a:solidFill>
                  <a:srgbClr val="000000"/>
                </a:solidFill>
                <a:latin typeface="+mn-lt"/>
                <a:ea typeface="华文楷体" panose="02010600040101010101" pitchFamily="2" charset="-122"/>
                <a:cs typeface="+mn-cs"/>
              </a:defRPr>
            </a:lvl3pPr>
            <a:lvl4pPr marL="822960" indent="-17145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CF5716"/>
              </a:buClr>
              <a:buSzPct val="70000"/>
              <a:buFont typeface="Wingdings" panose="05000000000000000000" pitchFamily="2" charset="2"/>
              <a:buChar char=""/>
              <a:defRPr sz="1200" kern="1200" baseline="0">
                <a:solidFill>
                  <a:schemeClr val="tx1"/>
                </a:solidFill>
                <a:latin typeface="+mn-lt"/>
                <a:ea typeface="华文楷体" panose="02010600040101010101" pitchFamily="2" charset="-122"/>
                <a:cs typeface="+mn-cs"/>
              </a:defRPr>
            </a:lvl4pPr>
            <a:lvl5pPr marL="1028700" indent="-171450" algn="l" rtl="0" eaLnBrk="1" fontAlgn="base" hangingPunct="1">
              <a:spcBef>
                <a:spcPts val="225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400" kern="1200" baseline="0">
                <a:solidFill>
                  <a:schemeClr val="tx1"/>
                </a:solidFill>
                <a:latin typeface="+mn-lt"/>
                <a:ea typeface="华文楷体" panose="02010600040101010101" pitchFamily="2" charset="-122"/>
                <a:cs typeface="+mn-cs"/>
              </a:defRPr>
            </a:lvl5pPr>
            <a:lvl6pPr marL="1234440" indent="-137160" algn="l" rtl="0" eaLnBrk="1" latinLnBrk="0" hangingPunct="1">
              <a:spcBef>
                <a:spcPts val="225"/>
              </a:spcBef>
              <a:buClr>
                <a:srgbClr val="9FB8CD">
                  <a:shade val="75000"/>
                </a:srgbClr>
              </a:buClr>
              <a:buSzPct val="75000"/>
              <a:buFont typeface="Wingdings 3" panose="05040102010807070707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137160" algn="l" rtl="0" eaLnBrk="1" latinLnBrk="0" hangingPunct="1">
              <a:spcBef>
                <a:spcPts val="225"/>
              </a:spcBef>
              <a:buClr>
                <a:srgbClr val="727CA3">
                  <a:shade val="75000"/>
                </a:srgbClr>
              </a:buClr>
              <a:buSzPct val="75000"/>
              <a:buFont typeface="Wingdings 3" panose="05040102010807070707"/>
              <a:buChar char=""/>
              <a:defRPr kumimoji="0" lang="en-US" sz="105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08760" indent="-137160" algn="l" rtl="0" eaLnBrk="1" latinLnBrk="0" hangingPunct="1">
              <a:spcBef>
                <a:spcPts val="225"/>
              </a:spcBef>
              <a:buClr>
                <a:prstClr val="white">
                  <a:shade val="50000"/>
                </a:prstClr>
              </a:buClr>
              <a:buSzPct val="75000"/>
              <a:buFont typeface="Wingdings 3" panose="05040102010807070707"/>
              <a:buChar char=""/>
              <a:defRPr kumimoji="0" lang="en-US" sz="105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37160" algn="l" rtl="0" eaLnBrk="1" latinLnBrk="0" hangingPunct="1">
              <a:spcBef>
                <a:spcPts val="225"/>
              </a:spcBef>
              <a:buClr>
                <a:srgbClr val="9FB8CD"/>
              </a:buClr>
              <a:buSzPct val="75000"/>
              <a:buFont typeface="Wingdings 3" panose="05040102010807070707"/>
              <a:buChar char=""/>
              <a:defRPr kumimoji="0" lang="en-US" sz="9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Role-Playing</a:t>
            </a:r>
            <a:endParaRPr lang="en-US" altLang="zh-CN"/>
          </a:p>
          <a:p>
            <a:pPr lvl="1"/>
            <a:r>
              <a:rPr lang="en-US" altLang="zh-CN"/>
              <a:t>scenario</a:t>
            </a:r>
            <a:endParaRPr lang="en-US" altLang="zh-CN"/>
          </a:p>
          <a:p>
            <a:pPr lvl="1"/>
            <a:r>
              <a:rPr lang="en-US" altLang="zh-CN"/>
              <a:t>character</a:t>
            </a:r>
            <a:endParaRPr lang="en-US" altLang="zh-CN"/>
          </a:p>
        </p:txBody>
      </p:sp>
      <p:sp>
        <p:nvSpPr>
          <p:cNvPr id="8" name="内容占位符 3"/>
          <p:cNvSpPr>
            <a:spLocks noGrp="1"/>
          </p:cNvSpPr>
          <p:nvPr/>
        </p:nvSpPr>
        <p:spPr>
          <a:xfrm>
            <a:off x="9098280" y="4004945"/>
            <a:ext cx="2743200" cy="24491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204470" indent="-204470" algn="l" rtl="0" eaLnBrk="1" fontAlgn="base" hangingPunct="1">
              <a:spcBef>
                <a:spcPts val="450"/>
              </a:spcBef>
              <a:spcAft>
                <a:spcPts val="60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400" kern="1200" baseline="0">
                <a:solidFill>
                  <a:srgbClr val="000000"/>
                </a:solidFill>
                <a:latin typeface="+mn-lt"/>
                <a:ea typeface="华文楷体" panose="02010600040101010101" pitchFamily="2" charset="-122"/>
                <a:cs typeface="+mn-cs"/>
              </a:defRPr>
            </a:lvl1pPr>
            <a:lvl2pPr marL="410845" indent="-204470" algn="l" rtl="0" eaLnBrk="1" fontAlgn="base" hangingPunct="1">
              <a:spcBef>
                <a:spcPts val="375"/>
              </a:spcBef>
              <a:spcAft>
                <a:spcPts val="600"/>
              </a:spcAft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135" kern="1200" baseline="0">
                <a:solidFill>
                  <a:srgbClr val="000000"/>
                </a:solidFill>
                <a:latin typeface="+mn-lt"/>
                <a:ea typeface="华文楷体" panose="02010600040101010101" pitchFamily="2" charset="-122"/>
                <a:cs typeface="+mn-cs"/>
              </a:defRPr>
            </a:lvl2pPr>
            <a:lvl3pPr marL="616585" indent="-171450" algn="l" rtl="0" eaLnBrk="1" fontAlgn="base" hangingPunct="1">
              <a:spcBef>
                <a:spcPts val="375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1600" kern="1200" baseline="0">
                <a:solidFill>
                  <a:srgbClr val="000000"/>
                </a:solidFill>
                <a:latin typeface="+mn-lt"/>
                <a:ea typeface="华文楷体" panose="02010600040101010101" pitchFamily="2" charset="-122"/>
                <a:cs typeface="+mn-cs"/>
              </a:defRPr>
            </a:lvl3pPr>
            <a:lvl4pPr marL="822960" indent="-17145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CF5716"/>
              </a:buClr>
              <a:buSzPct val="70000"/>
              <a:buFont typeface="Wingdings" panose="05000000000000000000" pitchFamily="2" charset="2"/>
              <a:buChar char=""/>
              <a:defRPr sz="1200" kern="1200" baseline="0">
                <a:solidFill>
                  <a:schemeClr val="tx1"/>
                </a:solidFill>
                <a:latin typeface="+mn-lt"/>
                <a:ea typeface="华文楷体" panose="02010600040101010101" pitchFamily="2" charset="-122"/>
                <a:cs typeface="+mn-cs"/>
              </a:defRPr>
            </a:lvl4pPr>
            <a:lvl5pPr marL="1028700" indent="-171450" algn="l" rtl="0" eaLnBrk="1" fontAlgn="base" hangingPunct="1">
              <a:spcBef>
                <a:spcPts val="225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400" kern="1200" baseline="0">
                <a:solidFill>
                  <a:schemeClr val="tx1"/>
                </a:solidFill>
                <a:latin typeface="+mn-lt"/>
                <a:ea typeface="华文楷体" panose="02010600040101010101" pitchFamily="2" charset="-122"/>
                <a:cs typeface="+mn-cs"/>
              </a:defRPr>
            </a:lvl5pPr>
            <a:lvl6pPr marL="1234440" indent="-137160" algn="l" rtl="0" eaLnBrk="1" latinLnBrk="0" hangingPunct="1">
              <a:spcBef>
                <a:spcPts val="225"/>
              </a:spcBef>
              <a:buClr>
                <a:srgbClr val="9FB8CD">
                  <a:shade val="75000"/>
                </a:srgbClr>
              </a:buClr>
              <a:buSzPct val="75000"/>
              <a:buFont typeface="Wingdings 3" panose="05040102010807070707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137160" algn="l" rtl="0" eaLnBrk="1" latinLnBrk="0" hangingPunct="1">
              <a:spcBef>
                <a:spcPts val="225"/>
              </a:spcBef>
              <a:buClr>
                <a:srgbClr val="727CA3">
                  <a:shade val="75000"/>
                </a:srgbClr>
              </a:buClr>
              <a:buSzPct val="75000"/>
              <a:buFont typeface="Wingdings 3" panose="05040102010807070707"/>
              <a:buChar char=""/>
              <a:defRPr kumimoji="0" lang="en-US" sz="105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08760" indent="-137160" algn="l" rtl="0" eaLnBrk="1" latinLnBrk="0" hangingPunct="1">
              <a:spcBef>
                <a:spcPts val="225"/>
              </a:spcBef>
              <a:buClr>
                <a:prstClr val="white">
                  <a:shade val="50000"/>
                </a:prstClr>
              </a:buClr>
              <a:buSzPct val="75000"/>
              <a:buFont typeface="Wingdings 3" panose="05040102010807070707"/>
              <a:buChar char=""/>
              <a:defRPr kumimoji="0" lang="en-US" sz="105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37160" algn="l" rtl="0" eaLnBrk="1" latinLnBrk="0" hangingPunct="1">
              <a:spcBef>
                <a:spcPts val="225"/>
              </a:spcBef>
              <a:buClr>
                <a:srgbClr val="9FB8CD"/>
              </a:buClr>
              <a:buSzPct val="75000"/>
              <a:buFont typeface="Wingdings 3" panose="05040102010807070707"/>
              <a:buChar char=""/>
              <a:defRPr kumimoji="0" lang="en-US" sz="9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Implicit Empathy</a:t>
            </a:r>
            <a:endParaRPr lang="en-US" altLang="zh-CN"/>
          </a:p>
          <a:p>
            <a:pPr lvl="1"/>
            <a:r>
              <a:rPr lang="en-US" altLang="zh-CN"/>
              <a:t>anger</a:t>
            </a:r>
            <a:endParaRPr lang="en-US" altLang="zh-CN"/>
          </a:p>
          <a:p>
            <a:pPr lvl="1"/>
            <a:r>
              <a:rPr lang="en-US" altLang="zh-CN"/>
              <a:t>anxiety and fear 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sadness </a:t>
            </a:r>
            <a:endParaRPr lang="en-US" altLang="zh-CN">
              <a:sym typeface="+mn-ea"/>
            </a:endParaRPr>
          </a:p>
          <a:p>
            <a:pPr lvl="1"/>
            <a:r>
              <a:rPr lang="en-US" altLang="zh-CN">
                <a:sym typeface="+mn-ea"/>
              </a:rPr>
              <a:t>joy and excitement</a:t>
            </a:r>
            <a:endParaRPr lang="en-US" altLang="zh-CN"/>
          </a:p>
          <a:p>
            <a:pPr lvl="1"/>
            <a:endParaRPr lang="en-US" altLang="zh-CN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Evaluation Pipe</a:t>
            </a:r>
            <a:r>
              <a:rPr lang="en-US" altLang="zh-CN"/>
              <a:t>line</a:t>
            </a:r>
            <a:endParaRPr lang="en-US" altLang="zh-CN"/>
          </a:p>
        </p:txBody>
      </p:sp>
      <p:sp>
        <p:nvSpPr>
          <p:cNvPr id="4" name="内容占位符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/>
              <a:t>Three hierarchical dimensions:</a:t>
            </a:r>
            <a:endParaRPr lang="en-US" altLang="zh-CN"/>
          </a:p>
          <a:p>
            <a:pPr lvl="1"/>
            <a:r>
              <a:rPr lang="en-US" altLang="zh-CN"/>
              <a:t>Textual Adherence – correctness of generated content</a:t>
            </a:r>
            <a:endParaRPr lang="en-US" altLang="zh-CN"/>
          </a:p>
          <a:p>
            <a:pPr lvl="1"/>
            <a:r>
              <a:rPr lang="en-US" altLang="zh-CN"/>
              <a:t>Stylistic Adherence – appropriateness of style, tone, or emotion</a:t>
            </a:r>
            <a:endParaRPr lang="en-US" altLang="zh-CN"/>
          </a:p>
          <a:p>
            <a:pPr lvl="1"/>
            <a:r>
              <a:rPr lang="en-US" altLang="zh-CN"/>
              <a:t>Overall Naturalness – human-likeness and fluidity of speech</a:t>
            </a:r>
            <a:endParaRPr lang="en-US" altLang="zh-CN"/>
          </a:p>
          <a:p>
            <a:r>
              <a:rPr lang="en-US" altLang="zh-CN"/>
              <a:t>Scoring Process (5-Point MOS Scale)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815" y="3572510"/>
            <a:ext cx="11309350" cy="226695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Evaluation Resul</a:t>
            </a:r>
            <a:r>
              <a:rPr lang="en-US" altLang="zh-CN"/>
              <a:t>ts</a:t>
            </a:r>
            <a:endParaRPr lang="en-US" altLang="zh-CN"/>
          </a:p>
        </p:txBody>
      </p:sp>
      <p:sp>
        <p:nvSpPr>
          <p:cNvPr id="4" name="内容占位符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/>
              <a:t>Significant performance gap between open-source and commercial models</a:t>
            </a:r>
            <a:endParaRPr lang="en-US" altLang="zh-CN"/>
          </a:p>
          <a:p>
            <a:r>
              <a:rPr lang="en-US" altLang="zh-CN"/>
              <a:t>Variation across task categories</a:t>
            </a:r>
            <a:endParaRPr lang="en-US" altLang="zh-CN"/>
          </a:p>
          <a:p>
            <a:r>
              <a:rPr lang="en-US" altLang="zh-CN"/>
              <a:t>Language preference among models</a:t>
            </a:r>
            <a:endParaRPr lang="en-US" altLang="zh-CN"/>
          </a:p>
        </p:txBody>
      </p: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2712567" y="2943225"/>
            <a:ext cx="6766560" cy="357441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Evaluation Resul</a:t>
            </a:r>
            <a:r>
              <a:rPr lang="en-US" altLang="zh-CN"/>
              <a:t>ts</a:t>
            </a:r>
            <a:endParaRPr lang="en-US" altLang="zh-CN"/>
          </a:p>
        </p:txBody>
      </p:sp>
      <p:sp>
        <p:nvSpPr>
          <p:cNvPr id="4" name="内容占位符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/>
              <a:t>Significant performance gap between open-source and commercial models</a:t>
            </a:r>
            <a:endParaRPr lang="en-US" altLang="zh-CN"/>
          </a:p>
          <a:p>
            <a:r>
              <a:rPr lang="en-US" altLang="zh-CN"/>
              <a:t>Variation across task categories</a:t>
            </a:r>
            <a:endParaRPr lang="en-US" altLang="zh-CN"/>
          </a:p>
          <a:p>
            <a:r>
              <a:rPr lang="en-US" altLang="zh-CN"/>
              <a:t>Language preference among models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8627" y="2922905"/>
            <a:ext cx="6314440" cy="344043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Evaluation Consistency Analysis</a:t>
            </a:r>
            <a:endParaRPr lang="en-US" altLang="zh-CN"/>
          </a:p>
        </p:txBody>
      </p:sp>
      <p:sp>
        <p:nvSpPr>
          <p:cNvPr id="4" name="内容占位符 3"/>
          <p:cNvSpPr>
            <a:spLocks noGrp="1"/>
          </p:cNvSpPr>
          <p:nvPr>
            <p:ph sz="quarter" idx="1"/>
          </p:nvPr>
        </p:nvSpPr>
        <p:spPr>
          <a:xfrm>
            <a:off x="609600" y="990600"/>
            <a:ext cx="10518140" cy="4846320"/>
          </a:xfrm>
        </p:spPr>
        <p:txBody>
          <a:bodyPr/>
          <a:lstStyle/>
          <a:p>
            <a:r>
              <a:rPr lang="en-US" altLang="zh-CN"/>
              <a:t>Assess the consistency between model scores and human evaluations</a:t>
            </a:r>
            <a:endParaRPr lang="en-US" altLang="zh-CN"/>
          </a:p>
          <a:p>
            <a:pPr lvl="1"/>
            <a:r>
              <a:rPr lang="en-US" altLang="zh-CN"/>
              <a:t>Five expert annotators </a:t>
            </a:r>
            <a:endParaRPr lang="en-US" altLang="zh-CN"/>
          </a:p>
          <a:p>
            <a:pPr lvl="1"/>
            <a:r>
              <a:rPr lang="en-US" altLang="zh-CN"/>
              <a:t>Follow the same evaluation guidelines</a:t>
            </a:r>
            <a:endParaRPr lang="en-US" altLang="zh-CN"/>
          </a:p>
          <a:p>
            <a:pPr lvl="1"/>
            <a:r>
              <a:rPr lang="en-US" altLang="zh-CN"/>
              <a:t>Spearman’s correlation coefficient</a:t>
            </a:r>
            <a:endParaRPr lang="en-US" altLang="zh-CN"/>
          </a:p>
          <a:p>
            <a:r>
              <a:rPr lang="en-US" altLang="zh-CN"/>
              <a:t>Key Findings</a:t>
            </a:r>
            <a:endParaRPr lang="en-US" altLang="zh-CN"/>
          </a:p>
          <a:p>
            <a:pPr lvl="1"/>
            <a:r>
              <a:rPr lang="en-US" altLang="zh-CN"/>
              <a:t>Model–human correlations are close to inter-human agreement levels</a:t>
            </a:r>
            <a:endParaRPr lang="en-US" altLang="zh-CN"/>
          </a:p>
          <a:p>
            <a:pPr lvl="1"/>
            <a:r>
              <a:rPr lang="en-US" altLang="zh-CN"/>
              <a:t>The model reliably captures human evaluation patterns across languages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1395" y="4509135"/>
            <a:ext cx="4654550" cy="16891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22"/>
          <p:cNvSpPr>
            <a:spLocks noGrp="1"/>
          </p:cNvSpPr>
          <p:nvPr>
            <p:ph type="ctrTitle"/>
          </p:nvPr>
        </p:nvSpPr>
        <p:spPr>
          <a:xfrm>
            <a:off x="1524000" y="3308975"/>
            <a:ext cx="9144000" cy="1514475"/>
          </a:xfrm>
        </p:spPr>
        <p:txBody>
          <a:bodyPr/>
          <a:lstStyle/>
          <a:p>
            <a:r>
              <a:rPr lang="en-US" altLang="zh-CN"/>
              <a:t>OmniVAE: An Audio-Video VAE with Cross-Modal Alignment for Joint Generation</a:t>
            </a:r>
            <a:endParaRPr lang="en-US" altLang="zh-CN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2727325" y="5110031"/>
            <a:ext cx="6737351" cy="1378324"/>
          </a:xfrm>
        </p:spPr>
        <p:txBody>
          <a:bodyPr/>
          <a:lstStyle/>
          <a:p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</a:rPr>
              <a:t>Can we use a unified tokenizer for audio and video representation?</a:t>
            </a:r>
            <a:endParaRPr lang="en-US" altLang="zh-CN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52401"/>
            <a:ext cx="9906000" cy="685793"/>
          </a:xfrm>
        </p:spPr>
        <p:txBody>
          <a:bodyPr/>
          <a:lstStyle/>
          <a:p>
            <a:r>
              <a:rPr lang="en-US" altLang="zh-CN" dirty="0" err="1"/>
              <a:t>OmniVAE: Motivation</a:t>
            </a:r>
            <a:endParaRPr lang="en-US" altLang="zh-CN" dirty="0" err="1"/>
          </a:p>
        </p:txBody>
      </p:sp>
      <p:pic>
        <p:nvPicPr>
          <p:cNvPr id="6" name="图片 5" descr="motivat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9245" y="1012825"/>
            <a:ext cx="9033510" cy="508508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52401"/>
            <a:ext cx="9906000" cy="685793"/>
          </a:xfrm>
        </p:spPr>
        <p:txBody>
          <a:bodyPr/>
          <a:lstStyle/>
          <a:p>
            <a:r>
              <a:rPr lang="en-US" altLang="en-US" dirty="0"/>
              <a:t>OmniVAE: </a:t>
            </a:r>
            <a:r>
              <a:rPr lang="en-US" altLang="en-US" dirty="0"/>
              <a:t>Motivation</a:t>
            </a:r>
            <a:endParaRPr lang="en-US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"/>
          </p:nvPr>
        </p:nvSpPr>
        <p:spPr>
          <a:xfrm>
            <a:off x="612648" y="932688"/>
            <a:ext cx="10966673" cy="1170432"/>
          </a:xfrm>
        </p:spPr>
        <p:txBody>
          <a:bodyPr wrap="square" lIns="0" tIns="18288" rIns="0" bIns="18288" anchor="t">
            <a:noAutofit/>
          </a:bodyPr>
          <a:p>
            <a:pPr>
              <a:lnSpc>
                <a:spcPct val="130000"/>
              </a:lnSpc>
              <a:spcBef>
                <a:spcPts val="0"/>
              </a:spcBef>
            </a:pPr>
            <a:endParaRPr lang="en-US" sz="1600" b="0"/>
          </a:p>
          <a:p>
            <a:pPr>
              <a:lnSpc>
                <a:spcPct val="130000"/>
              </a:lnSpc>
              <a:spcBef>
                <a:spcPts val="0"/>
              </a:spcBef>
            </a:pPr>
            <a:endParaRPr lang="en-US" sz="1600" b="0"/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US" sz="1600" b="0"/>
              <a:t>Video2Audio Models often use sync feature as input</a:t>
            </a:r>
            <a:endParaRPr lang="en-US" sz="1600" b="0"/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en-US" sz="1420">
                <a:sym typeface="+mn-ea"/>
              </a:rPr>
              <a:t>MMAudio, Hunyuan-Video-Foley</a:t>
            </a:r>
            <a:endParaRPr lang="en-US" sz="1420" b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8840" y="1179195"/>
            <a:ext cx="5902325" cy="42303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790" y="2514600"/>
            <a:ext cx="4406900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52401"/>
            <a:ext cx="9906000" cy="685793"/>
          </a:xfrm>
        </p:spPr>
        <p:txBody>
          <a:bodyPr/>
          <a:lstStyle/>
          <a:p>
            <a:r>
              <a:rPr lang="en-US" altLang="en-US" dirty="0"/>
              <a:t>OmniVAE: Overview</a:t>
            </a:r>
            <a:endParaRPr lang="en-US" altLang="zh-CN" dirty="0" err="1"/>
          </a:p>
        </p:txBody>
      </p:sp>
      <p:sp>
        <p:nvSpPr>
          <p:cNvPr id="7" name="内容占位符 6"/>
          <p:cNvSpPr>
            <a:spLocks noGrp="1"/>
          </p:cNvSpPr>
          <p:nvPr>
            <p:ph sz="quarter" idx="1"/>
          </p:nvPr>
        </p:nvSpPr>
        <p:spPr>
          <a:xfrm>
            <a:off x="612648" y="932688"/>
            <a:ext cx="10966673" cy="1170432"/>
          </a:xfrm>
        </p:spPr>
        <p:txBody>
          <a:bodyPr wrap="square" lIns="0" tIns="18288" rIns="0" bIns="18288" anchor="t">
            <a:noAutofit/>
          </a:bodyPr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US" sz="1600" b="0"/>
              <a:t>Semantic distillation: gives every latent a stable semantic anchor</a:t>
            </a:r>
            <a:endParaRPr lang="en-US" sz="1600" b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600" b="0"/>
              <a:t>Segment-level alignment: from clip-level relevance to fine-grained local correspondence</a:t>
            </a:r>
            <a:endParaRPr lang="en-US" sz="1600" b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956" y="1810512"/>
            <a:ext cx="10830057" cy="472744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52401"/>
            <a:ext cx="9906000" cy="685793"/>
          </a:xfrm>
        </p:spPr>
        <p:txBody>
          <a:bodyPr/>
          <a:lstStyle/>
          <a:p>
            <a:r>
              <a:rPr lang="en-US" altLang="en-US" dirty="0"/>
              <a:t>OmniVAE: Negative Sample Selection</a:t>
            </a:r>
            <a:endParaRPr lang="en-US" altLang="zh-CN" dirty="0" err="1"/>
          </a:p>
        </p:txBody>
      </p:sp>
      <p:pic>
        <p:nvPicPr>
          <p:cNvPr id="4" name="图片 3" descr="79b4e1d1-78d3-4c4d-88b8-c5a643f94d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7200" y="1250950"/>
            <a:ext cx="8736965" cy="491744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52401"/>
            <a:ext cx="9906000" cy="685793"/>
          </a:xfrm>
        </p:spPr>
        <p:txBody>
          <a:bodyPr/>
          <a:lstStyle/>
          <a:p>
            <a:r>
              <a:rPr lang="en-US" altLang="zh-CN" dirty="0" err="1"/>
              <a:t>OmniVAE: Data Pipeline</a:t>
            </a:r>
            <a:endParaRPr lang="en-US" altLang="zh-CN" dirty="0" err="1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535" y="1097280"/>
            <a:ext cx="10588625" cy="463486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52401"/>
            <a:ext cx="9906000" cy="685793"/>
          </a:xfrm>
        </p:spPr>
        <p:txBody>
          <a:bodyPr/>
          <a:lstStyle/>
          <a:p>
            <a:r>
              <a:rPr lang="en-US" altLang="zh-CN" dirty="0" err="1"/>
              <a:t>OmniVAE: Data Pipeline</a:t>
            </a:r>
            <a:endParaRPr lang="en-US" altLang="zh-CN" dirty="0" err="1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0702" y="1097280"/>
            <a:ext cx="975029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52401"/>
            <a:ext cx="9906000" cy="685793"/>
          </a:xfrm>
        </p:spPr>
        <p:txBody>
          <a:bodyPr/>
          <a:lstStyle/>
          <a:p>
            <a:r>
              <a:rPr lang="en-US" altLang="zh-CN" dirty="0" err="1"/>
              <a:t>OmniVAE: Data Pipeline</a:t>
            </a:r>
            <a:endParaRPr lang="en-US" altLang="zh-CN" dirty="0" err="1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422" y="1097280"/>
            <a:ext cx="10102850" cy="52324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52401"/>
            <a:ext cx="9906000" cy="685793"/>
          </a:xfrm>
        </p:spPr>
        <p:txBody>
          <a:bodyPr/>
          <a:lstStyle/>
          <a:p>
            <a:r>
              <a:rPr lang="en-US" altLang="en-US" dirty="0"/>
              <a:t>OmniVAE: </a:t>
            </a:r>
            <a:r>
              <a:rPr lang="en-US" altLang="en-US" dirty="0"/>
              <a:t>Reconstruction</a:t>
            </a:r>
            <a:endParaRPr lang="en-US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"/>
          </p:nvPr>
        </p:nvSpPr>
        <p:spPr>
          <a:xfrm>
            <a:off x="612648" y="1066673"/>
            <a:ext cx="10966673" cy="475488"/>
          </a:xfrm>
        </p:spPr>
        <p:txBody>
          <a:bodyPr wrap="square" lIns="0" tIns="18288" rIns="0" bIns="18288" anchor="t">
            <a:noAutofit/>
          </a:bodyPr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US" sz="1600" b="0"/>
              <a:t>Adding the alignment objectives leaves audio and video reconstruction essentially on par with the reconstruction-only baseline.</a:t>
            </a:r>
            <a:endParaRPr lang="en-US" sz="1600" b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5940" y="1627632"/>
            <a:ext cx="7512685" cy="466915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52401"/>
            <a:ext cx="9906000" cy="685793"/>
          </a:xfrm>
        </p:spPr>
        <p:txBody>
          <a:bodyPr/>
          <a:lstStyle/>
          <a:p>
            <a:r>
              <a:rPr lang="en-US" altLang="en-US" dirty="0"/>
              <a:t>OmniVAE: </a:t>
            </a:r>
            <a:r>
              <a:rPr lang="en-US" altLang="en-US" dirty="0"/>
              <a:t>Audio-Video Desync</a:t>
            </a:r>
            <a:endParaRPr lang="en-US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1104" y="987552"/>
            <a:ext cx="9509760" cy="2646418"/>
          </a:xfrm>
          <a:prstGeom prst="rect">
            <a:avLst/>
          </a:prstGeom>
        </p:spPr>
      </p:pic>
      <p:pic>
        <p:nvPicPr>
          <p:cNvPr id="4" name="Picture 3" descr="s35_chart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8583" y="3749039"/>
            <a:ext cx="4614529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52401"/>
            <a:ext cx="9906000" cy="685793"/>
          </a:xfrm>
        </p:spPr>
        <p:txBody>
          <a:bodyPr/>
          <a:lstStyle/>
          <a:p>
            <a:r>
              <a:rPr lang="en-US" altLang="en-US" dirty="0"/>
              <a:t>OmniVAE: Text-to-Audio-Video</a:t>
            </a:r>
            <a:endParaRPr lang="en-US" altLang="zh-CN" dirty="0" err="1"/>
          </a:p>
        </p:txBody>
      </p:sp>
      <p:sp>
        <p:nvSpPr>
          <p:cNvPr id="7" name="内容占位符 6"/>
          <p:cNvSpPr>
            <a:spLocks noGrp="1"/>
          </p:cNvSpPr>
          <p:nvPr>
            <p:ph sz="quarter" idx="1"/>
          </p:nvPr>
        </p:nvSpPr>
        <p:spPr>
          <a:xfrm>
            <a:off x="612648" y="932688"/>
            <a:ext cx="10966673" cy="475488"/>
          </a:xfrm>
        </p:spPr>
        <p:txBody>
          <a:bodyPr wrap="square" lIns="0" tIns="18288" rIns="0" bIns="18288" anchor="t">
            <a:noAutofit/>
          </a:bodyPr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US" sz="1600" b="0"/>
              <a:t>Evaluated on three axes: audio-video alignment, audio generation quality, and video generation quality.</a:t>
            </a:r>
            <a:endParaRPr lang="en-US" sz="1600" b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0288" y="1371600"/>
            <a:ext cx="9671391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3308975"/>
            <a:ext cx="9144000" cy="1514475"/>
          </a:xfrm>
        </p:spPr>
        <p:txBody>
          <a:bodyPr/>
          <a:lstStyle/>
          <a:p>
            <a:r>
              <a:rPr lang="en-US" altLang="zh-CN"/>
              <a:t>SpeechMotionLM:</a:t>
            </a:r>
            <a:br>
              <a:rPr lang="en-US" altLang="zh-CN"/>
            </a:br>
            <a:r>
              <a:rPr lang="en-US" altLang="zh-CN"/>
              <a:t>A Full-Duplex Speech-Motion LLM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828800" y="5029200"/>
            <a:ext cx="8534400" cy="1378324"/>
          </a:xfrm>
        </p:spPr>
        <p:txBody>
          <a:bodyPr/>
          <a:lstStyle/>
          <a:p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</a:rPr>
              <a:t>Can one full-duplex model listen, see, talk — and move its face and body?</a:t>
            </a:r>
            <a:endParaRPr lang="en-US" altLang="zh-CN" sz="20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altLang="zh-CN" sz="1400" dirty="0">
                <a:solidFill>
                  <a:srgbClr val="7F7F7F"/>
                </a:solidFill>
              </a:rPr>
              <a:t>Internship project · Seamless Next · status as of 2026-10-20</a:t>
            </a:r>
            <a:endParaRPr lang="en-US" altLang="zh-CN" sz="1400" dirty="0">
              <a:solidFill>
                <a:srgbClr val="7F7F7F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52401"/>
            <a:ext cx="9906000" cy="685793"/>
          </a:xfrm>
        </p:spPr>
        <p:txBody>
          <a:bodyPr/>
          <a:lstStyle/>
          <a:p>
            <a:r>
              <a:rPr lang="en-US" altLang="en-US" dirty="0"/>
              <a:t>End-to-end: one model listens, talks and moves</a:t>
            </a:r>
            <a:endParaRPr lang="en-US" altLang="zh-CN" dirty="0" err="1"/>
          </a:p>
        </p:txBody>
      </p:sp>
      <p:sp>
        <p:nvSpPr>
          <p:cNvPr id="7" name="内容占位符 6"/>
          <p:cNvSpPr>
            <a:spLocks noGrp="1"/>
          </p:cNvSpPr>
          <p:nvPr>
            <p:ph sz="quarter" idx="1"/>
          </p:nvPr>
        </p:nvSpPr>
        <p:spPr>
          <a:xfrm>
            <a:off x="612648" y="1005840"/>
            <a:ext cx="5349240" cy="3200400"/>
          </a:xfrm>
        </p:spPr>
        <p:txBody>
          <a:bodyPr wrap="square" lIns="0" tIns="18288" rIns="0" bIns="18288" anchor="t">
            <a:noAutofit/>
          </a:bodyPr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US" sz="2000"/>
              <a:t>Overview</a:t>
            </a:r>
            <a:endParaRPr lang="en-US" sz="200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600" b="0"/>
              <a:t>Full-duplex speech-motion LLM that jointly models speech and 3D human motion (body, hands, face)</a:t>
            </a:r>
            <a:endParaRPr lang="en-US" sz="1600" b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600" b="0"/>
              <a:t>Case 1 (right): the user only talks; the model answers with voice, face and body</a:t>
            </a:r>
            <a:endParaRPr lang="en-US" sz="1600" b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600" b="0"/>
              <a:t>Case 2 (below): the model also sees the user's face and body through the camera</a:t>
            </a:r>
            <a:endParaRPr lang="en-US" sz="1600" b="0"/>
          </a:p>
        </p:txBody>
      </p:sp>
      <p:pic>
        <p:nvPicPr>
          <p:cNvPr id="14" name="wo_visual_input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172200" y="1024128"/>
            <a:ext cx="5440680" cy="31089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172200" y="4142232"/>
            <a:ext cx="54864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1050" b="1" i="0">
                <a:solidFill>
                  <a:srgbClr val="1F3A5F"/>
                </a:solidFill>
                <a:latin typeface="Calibri"/>
              </a:rPr>
              <a:t>▲ Case 1  ·  </a:t>
            </a:r>
            <a:r>
              <a:rPr sz="1050" b="0" i="0">
                <a:solidFill>
                  <a:srgbClr val="222222"/>
                </a:solidFill>
                <a:latin typeface="Calibri"/>
              </a:rPr>
              <a:t>speech in → speech + face + body out</a:t>
            </a:r>
            <a:endParaRPr sz="1050" b="0" i="0">
              <a:solidFill>
                <a:srgbClr val="222222"/>
              </a:solidFill>
              <a:latin typeface="Calibri"/>
            </a:endParaRPr>
          </a:p>
        </p:txBody>
      </p:sp>
      <p:pic>
        <p:nvPicPr>
          <p:cNvPr id="16" name="w_v_input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12648" y="4389120"/>
            <a:ext cx="9098280" cy="188138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829800" y="4526280"/>
            <a:ext cx="1920240" cy="1463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1000" b="1" i="0">
                <a:solidFill>
                  <a:srgbClr val="1F3A5F"/>
                </a:solidFill>
                <a:latin typeface="Calibri"/>
              </a:rPr>
              <a:t>◀ Case 2</a:t>
            </a:r>
            <a:endParaRPr sz="1000" b="1" i="0">
              <a:solidFill>
                <a:srgbClr val="1F3A5F"/>
              </a:solidFill>
              <a:latin typeface="Calibri"/>
            </a:endParaRPr>
          </a:p>
          <a:p>
            <a:r>
              <a:rPr sz="1000" b="0" i="0">
                <a:solidFill>
                  <a:srgbClr val="222222"/>
                </a:solidFill>
                <a:latin typeface="Calibri"/>
              </a:rPr>
              <a:t>left to right: the user's camera, the face and body read from it, then the model's face and body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09600" y="152401"/>
            <a:ext cx="9906000" cy="685793"/>
          </a:xfrm>
          <a:prstGeom prst="rect">
            <a:avLst/>
          </a:prstGeom>
          <a:noFill/>
        </p:spPr>
        <p:txBody>
          <a:bodyPr wrap="square" lIns="91440" tIns="45720" rIns="91440" bIns="45720" anchor="b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+mj-lt"/>
                <a:ea typeface="+mj-ea"/>
              </a:rPr>
              <a:t>Understands the user's face and body</a:t>
            </a:r>
            <a:endParaRPr sz="2600" b="0">
              <a:solidFill>
                <a:srgbClr val="000000"/>
              </a:solidFill>
              <a:latin typeface="+mj-lt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64464" y="950000"/>
            <a:ext cx="11131614" cy="266065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  <a:latin typeface="Calibri"/>
              </a:rPr>
              <a:t>A user encoder feeds the camera's face and body into the frozen speech LM, which answers in words</a:t>
            </a:r>
            <a:endParaRPr sz="15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11798" y="1298448"/>
            <a:ext cx="11384280" cy="1481328"/>
          </a:xfrm>
          <a:prstGeom prst="roundRect">
            <a:avLst>
              <a:gd name="adj" fmla="val 4000"/>
            </a:avLst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958" y="1335024"/>
            <a:ext cx="1828800" cy="1816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 b="1" i="0">
                <a:solidFill>
                  <a:srgbClr val="1F3A5F"/>
                </a:solidFill>
                <a:latin typeface="Calibri"/>
              </a:rPr>
              <a:t>MODEL SETUP</a:t>
            </a:r>
            <a:endParaRPr sz="950" b="1" i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172518" y="1389888"/>
            <a:ext cx="237744" cy="137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838" y="1325880"/>
            <a:ext cx="640080" cy="17399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Calibri"/>
              </a:rPr>
              <a:t>trained</a:t>
            </a:r>
            <a:endParaRPr sz="9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995478" y="1389888"/>
            <a:ext cx="237744" cy="137160"/>
          </a:xfrm>
          <a:prstGeom prst="roundRect">
            <a:avLst>
              <a:gd name="adj" fmla="val 10000"/>
            </a:avLst>
          </a:prstGeom>
          <a:solidFill>
            <a:srgbClr val="ECECEC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798" y="1325880"/>
            <a:ext cx="548640" cy="17399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Calibri"/>
              </a:rPr>
              <a:t>frozen</a:t>
            </a:r>
            <a:endParaRPr sz="9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48958" y="1627631"/>
            <a:ext cx="1463040" cy="4983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35577A"/>
                </a:solidFill>
                <a:latin typeface="Calibri"/>
              </a:rPr>
              <a:t>User's voice</a:t>
            </a:r>
            <a:endParaRPr sz="1050" b="1" i="0">
              <a:solidFill>
                <a:srgbClr val="35577A"/>
              </a:solidFill>
              <a:latin typeface="Calibri"/>
            </a:endParaRPr>
          </a:p>
          <a:p>
            <a:pPr algn="ctr"/>
            <a:r>
              <a:rPr sz="850" b="0" i="0">
                <a:solidFill>
                  <a:srgbClr val="595959"/>
                </a:solidFill>
                <a:latin typeface="Calibri"/>
              </a:rPr>
              <a:t>a question, then a 3 s pause</a:t>
            </a:r>
            <a:endParaRPr sz="8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48958" y="2189987"/>
            <a:ext cx="1463040" cy="4983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6A5D7B"/>
                </a:solidFill>
                <a:latin typeface="Calibri"/>
              </a:rPr>
              <a:t>User's face + body</a:t>
            </a:r>
            <a:endParaRPr sz="1050" b="1" i="0">
              <a:solidFill>
                <a:srgbClr val="6A5D7B"/>
              </a:solidFill>
              <a:latin typeface="Calibri"/>
            </a:endParaRPr>
          </a:p>
          <a:p>
            <a:pPr algn="ctr"/>
            <a:r>
              <a:rPr sz="850" b="0" i="0">
                <a:solidFill>
                  <a:srgbClr val="595959"/>
                </a:solidFill>
                <a:latin typeface="Calibri"/>
              </a:rPr>
              <a:t>raw parameters from video</a:t>
            </a:r>
            <a:endParaRPr sz="8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438718" y="1627631"/>
            <a:ext cx="1508760" cy="498348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222222"/>
                </a:solidFill>
                <a:latin typeface="Calibri"/>
              </a:rPr>
              <a:t>Audio codec</a:t>
            </a:r>
            <a:endParaRPr sz="1050" b="1" i="0">
              <a:solidFill>
                <a:srgbClr val="222222"/>
              </a:solidFill>
              <a:latin typeface="Calibri"/>
            </a:endParaRPr>
          </a:p>
          <a:p>
            <a:pPr algn="ctr"/>
            <a:r>
              <a:rPr sz="850" b="0" i="0">
                <a:solidFill>
                  <a:srgbClr val="595959"/>
                </a:solidFill>
                <a:latin typeface="Calibri"/>
              </a:rPr>
              <a:t>Mimi</a:t>
            </a:r>
            <a:endParaRPr sz="8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438718" y="2189987"/>
            <a:ext cx="1508760" cy="4983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6A5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6A5D7B"/>
                </a:solidFill>
                <a:latin typeface="Calibri"/>
              </a:rPr>
              <a:t>User encoder</a:t>
            </a:r>
            <a:endParaRPr sz="1050" b="1" i="0">
              <a:solidFill>
                <a:srgbClr val="6A5D7B"/>
              </a:solidFill>
              <a:latin typeface="Calibri"/>
            </a:endParaRPr>
          </a:p>
          <a:p>
            <a:pPr algn="ctr"/>
            <a:r>
              <a:rPr sz="850" b="0" i="0">
                <a:solidFill>
                  <a:srgbClr val="595959"/>
                </a:solidFill>
                <a:latin typeface="Calibri"/>
              </a:rPr>
              <a:t>causal · 10 layers · 0.67 B</a:t>
            </a:r>
            <a:endParaRPr sz="850" b="0" i="0">
              <a:solidFill>
                <a:srgbClr val="595959"/>
              </a:solidFill>
              <a:latin typeface="Calibri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2011998" y="1876805"/>
            <a:ext cx="426720" cy="0"/>
          </a:xfrm>
          <a:prstGeom prst="line">
            <a:avLst/>
          </a:prstGeom>
          <a:ln w="1397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011998" y="2439161"/>
            <a:ext cx="426720" cy="0"/>
          </a:xfrm>
          <a:prstGeom prst="line">
            <a:avLst/>
          </a:prstGeom>
          <a:ln w="1397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374198" y="1883664"/>
            <a:ext cx="1463040" cy="5486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222222"/>
                </a:solidFill>
                <a:latin typeface="Calibri"/>
              </a:rPr>
              <a:t>7B speech LM</a:t>
            </a:r>
            <a:endParaRPr sz="1050" b="1" i="0">
              <a:solidFill>
                <a:srgbClr val="222222"/>
              </a:solidFill>
              <a:latin typeface="Calibri"/>
            </a:endParaRPr>
          </a:p>
          <a:p>
            <a:pPr algn="ctr"/>
            <a:r>
              <a:rPr sz="850" b="0" i="0">
                <a:solidFill>
                  <a:srgbClr val="595959"/>
                </a:solidFill>
                <a:latin typeface="Calibri"/>
              </a:rPr>
              <a:t>Moshi</a:t>
            </a:r>
            <a:endParaRPr sz="850" b="0" i="0">
              <a:solidFill>
                <a:srgbClr val="595959"/>
              </a:solidFill>
              <a:latin typeface="Calibri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947478" y="1876805"/>
            <a:ext cx="192023" cy="0"/>
          </a:xfrm>
          <a:prstGeom prst="line">
            <a:avLst/>
          </a:prstGeom>
          <a:ln w="1270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947478" y="2439161"/>
            <a:ext cx="192023" cy="0"/>
          </a:xfrm>
          <a:prstGeom prst="line">
            <a:avLst/>
          </a:prstGeom>
          <a:ln w="1270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139501" y="1876805"/>
            <a:ext cx="0" cy="562356"/>
          </a:xfrm>
          <a:prstGeom prst="line">
            <a:avLst/>
          </a:prstGeom>
          <a:ln w="1270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139501" y="2157984"/>
            <a:ext cx="234697" cy="0"/>
          </a:xfrm>
          <a:prstGeom prst="line">
            <a:avLst/>
          </a:prstGeom>
          <a:ln w="1397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263958" y="1883664"/>
            <a:ext cx="132588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9C7A2B"/>
                </a:solidFill>
                <a:latin typeface="Calibri"/>
              </a:rPr>
              <a:t>Text answer</a:t>
            </a:r>
            <a:endParaRPr sz="1050" b="1" i="0">
              <a:solidFill>
                <a:srgbClr val="9C7A2B"/>
              </a:solidFill>
              <a:latin typeface="Calibri"/>
            </a:endParaRPr>
          </a:p>
          <a:p>
            <a:pPr algn="ctr"/>
            <a:r>
              <a:rPr sz="850" b="0" i="0">
                <a:solidFill>
                  <a:srgbClr val="595959"/>
                </a:solidFill>
                <a:latin typeface="Calibri"/>
              </a:rPr>
              <a:t>the LM's text stream</a:t>
            </a:r>
            <a:endParaRPr sz="850" b="0" i="0">
              <a:solidFill>
                <a:srgbClr val="595959"/>
              </a:solidFill>
              <a:latin typeface="Calibri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5837238" y="2157984"/>
            <a:ext cx="426720" cy="0"/>
          </a:xfrm>
          <a:prstGeom prst="line">
            <a:avLst/>
          </a:prstGeom>
          <a:ln w="1397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745285" y="1426464"/>
            <a:ext cx="10972" cy="122529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4158" y="1488567"/>
            <a:ext cx="3840479" cy="110109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sz="900" b="1" i="0">
                <a:solidFill>
                  <a:srgbClr val="1F3A5F"/>
                </a:solidFill>
                <a:latin typeface="Calibri"/>
              </a:rPr>
              <a:t>Conditions  </a:t>
            </a:r>
            <a:r>
              <a:rPr sz="900" b="0" i="0">
                <a:solidFill>
                  <a:srgbClr val="222222"/>
                </a:solidFill>
                <a:latin typeface="Calibri"/>
              </a:rPr>
              <a:t>encoder output added to the LM input, starting at zero · the system's own voice is taken out of the input</a:t>
            </a:r>
            <a:endParaRPr sz="900" b="0" i="0">
              <a:solidFill>
                <a:srgbClr val="222222"/>
              </a:solidFill>
              <a:latin typeface="Calibri"/>
            </a:endParaRPr>
          </a:p>
          <a:p>
            <a:pPr algn="l">
              <a:spcAft>
                <a:spcPts val="250"/>
              </a:spcAft>
            </a:pPr>
            <a:r>
              <a:rPr sz="900" b="1" i="0">
                <a:solidFill>
                  <a:srgbClr val="1F3A5F"/>
                </a:solidFill>
                <a:latin typeface="Calibri"/>
              </a:rPr>
              <a:t>Trained  </a:t>
            </a:r>
            <a:r>
              <a:rPr sz="900" b="0" i="0">
                <a:solidFill>
                  <a:srgbClr val="222222"/>
                </a:solidFill>
                <a:latin typeface="Calibri"/>
              </a:rPr>
              <a:t>only the user encoder</a:t>
            </a:r>
            <a:endParaRPr sz="900" b="0" i="0">
              <a:solidFill>
                <a:srgbClr val="222222"/>
              </a:solidFill>
              <a:latin typeface="Calibri"/>
            </a:endParaRPr>
          </a:p>
          <a:p>
            <a:pPr algn="l">
              <a:spcAft>
                <a:spcPts val="250"/>
              </a:spcAft>
            </a:pPr>
            <a:r>
              <a:rPr sz="900" b="1" i="0">
                <a:solidFill>
                  <a:srgbClr val="1F3A5F"/>
                </a:solidFill>
                <a:latin typeface="Calibri"/>
              </a:rPr>
              <a:t>Frozen  </a:t>
            </a:r>
            <a:r>
              <a:rPr sz="900" b="0" i="0">
                <a:solidFill>
                  <a:srgbClr val="222222"/>
                </a:solidFill>
                <a:latin typeface="Calibri"/>
              </a:rPr>
              <a:t>the 7B LM and its depth decoder · the spoken answer is not trained</a:t>
            </a:r>
            <a:endParaRPr sz="900" b="0" i="0">
              <a:solidFill>
                <a:srgbClr val="222222"/>
              </a:solidFill>
              <a:latin typeface="Calibri"/>
            </a:endParaRPr>
          </a:p>
          <a:p>
            <a:pPr algn="l">
              <a:spcAft>
                <a:spcPts val="250"/>
              </a:spcAft>
            </a:pPr>
            <a:r>
              <a:rPr sz="900" b="1" i="0">
                <a:solidFill>
                  <a:srgbClr val="1F3A5F"/>
                </a:solidFill>
                <a:latin typeface="Calibri"/>
              </a:rPr>
              <a:t>Data  </a:t>
            </a:r>
            <a:r>
              <a:rPr sz="900" b="0" i="0">
                <a:solidFill>
                  <a:srgbClr val="222222"/>
                </a:solidFill>
                <a:latin typeface="Calibri"/>
              </a:rPr>
              <a:t>body : face = 50 : 50 · body: 790 k motion descriptions, 4 sources · face: 333 k real-face dialogues in 3 tasks</a:t>
            </a:r>
            <a:endParaRPr sz="9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11798" y="2898648"/>
            <a:ext cx="5669280" cy="2197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Results  ·  one model, all tasks  ·  one seed</a:t>
            </a:r>
            <a:endParaRPr sz="1200" b="1" i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11798" y="3136392"/>
            <a:ext cx="5669280" cy="3124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  <a:latin typeface="Calibri"/>
              </a:rPr>
              <a:t>BLEU-4</a:t>
            </a:r>
            <a:r>
              <a:rPr sz="900" b="0" i="0">
                <a:solidFill>
                  <a:srgbClr val="595959"/>
                </a:solidFill>
                <a:latin typeface="Calibri"/>
              </a:rPr>
              <a:t> word overlap   ·   </a:t>
            </a:r>
            <a:r>
              <a:rPr sz="900" b="1" i="0">
                <a:solidFill>
                  <a:srgbClr val="222222"/>
                </a:solidFill>
                <a:latin typeface="Calibri"/>
              </a:rPr>
              <a:t>BERTScore</a:t>
            </a:r>
            <a:r>
              <a:rPr sz="900" b="0" i="0">
                <a:solidFill>
                  <a:srgbClr val="595959"/>
                </a:solidFill>
                <a:latin typeface="Calibri"/>
              </a:rPr>
              <a:t> meaning overlap   ·   </a:t>
            </a:r>
            <a:r>
              <a:rPr sz="900" b="1" i="0">
                <a:solidFill>
                  <a:srgbClr val="222222"/>
                </a:solidFill>
                <a:latin typeface="Calibri"/>
              </a:rPr>
              <a:t>emotion named</a:t>
            </a:r>
            <a:r>
              <a:rPr sz="900" b="0" i="0">
                <a:solidFill>
                  <a:srgbClr val="595959"/>
                </a:solidFill>
                <a:latin typeface="Calibri"/>
              </a:rPr>
              <a:t> the answer has the right emotion word</a:t>
            </a:r>
            <a:endParaRPr sz="9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66661" y="3410458"/>
            <a:ext cx="1783079" cy="173990"/>
          </a:xfrm>
          <a:prstGeom prst="rect">
            <a:avLst/>
          </a:prstGeom>
          <a:noFill/>
        </p:spPr>
        <p:txBody>
          <a:bodyPr wrap="square" lIns="36576" tIns="18288" rIns="36576" bIns="18288" anchor="b">
            <a:spAutoFit/>
          </a:bodyPr>
          <a:lstStyle/>
          <a:p>
            <a:pPr algn="l"/>
            <a:r>
              <a:rPr sz="900" b="1" i="0">
                <a:solidFill>
                  <a:srgbClr val="595959"/>
                </a:solidFill>
                <a:latin typeface="Calibri"/>
              </a:rPr>
              <a:t>What the user asks</a:t>
            </a:r>
            <a:endParaRPr sz="900" b="1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341182" y="3410458"/>
            <a:ext cx="411480" cy="173990"/>
          </a:xfrm>
          <a:prstGeom prst="rect">
            <a:avLst/>
          </a:prstGeom>
          <a:noFill/>
        </p:spPr>
        <p:txBody>
          <a:bodyPr wrap="square" lIns="36576" tIns="18288" rIns="36576" bIns="18288" anchor="b">
            <a:spAutoFit/>
          </a:bodyPr>
          <a:lstStyle/>
          <a:p>
            <a:pPr algn="ctr"/>
            <a:r>
              <a:rPr sz="900" b="1" i="0">
                <a:solidFill>
                  <a:srgbClr val="595959"/>
                </a:solidFill>
                <a:latin typeface="Calibri"/>
              </a:rPr>
              <a:t>Clips</a:t>
            </a:r>
            <a:endParaRPr sz="900" b="1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844102" y="3410458"/>
            <a:ext cx="1005839" cy="173990"/>
          </a:xfrm>
          <a:prstGeom prst="rect">
            <a:avLst/>
          </a:prstGeom>
          <a:noFill/>
        </p:spPr>
        <p:txBody>
          <a:bodyPr wrap="square" lIns="36576" tIns="18288" rIns="36576" bIns="18288" anchor="b">
            <a:spAutoFit/>
          </a:bodyPr>
          <a:lstStyle/>
          <a:p>
            <a:pPr algn="l"/>
            <a:r>
              <a:rPr sz="900" b="1" i="0">
                <a:solidFill>
                  <a:srgbClr val="595959"/>
                </a:solidFill>
                <a:latin typeface="Calibri"/>
              </a:rPr>
              <a:t>Metric</a:t>
            </a:r>
            <a:endParaRPr sz="900" b="1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941381" y="3410458"/>
            <a:ext cx="411480" cy="173990"/>
          </a:xfrm>
          <a:prstGeom prst="rect">
            <a:avLst/>
          </a:prstGeom>
          <a:noFill/>
        </p:spPr>
        <p:txBody>
          <a:bodyPr wrap="square" lIns="36576" tIns="18288" rIns="36576" bIns="18288" anchor="b">
            <a:spAutoFit/>
          </a:bodyPr>
          <a:lstStyle/>
          <a:p>
            <a:pPr algn="ctr"/>
            <a:r>
              <a:rPr sz="900" b="1" i="0">
                <a:solidFill>
                  <a:srgbClr val="595959"/>
                </a:solidFill>
                <a:latin typeface="Calibri"/>
              </a:rPr>
              <a:t>Ours</a:t>
            </a:r>
            <a:endParaRPr sz="900" b="1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444301" y="3410458"/>
            <a:ext cx="1600200" cy="173990"/>
          </a:xfrm>
          <a:prstGeom prst="rect">
            <a:avLst/>
          </a:prstGeom>
          <a:noFill/>
        </p:spPr>
        <p:txBody>
          <a:bodyPr wrap="square" lIns="36576" tIns="18288" rIns="36576" bIns="18288" anchor="b">
            <a:spAutoFit/>
          </a:bodyPr>
          <a:lstStyle/>
          <a:p>
            <a:pPr algn="l"/>
            <a:r>
              <a:rPr sz="900" b="1" i="0">
                <a:solidFill>
                  <a:srgbClr val="595959"/>
                </a:solidFill>
                <a:latin typeface="Calibri"/>
              </a:rPr>
              <a:t>Read it against</a:t>
            </a:r>
            <a:endParaRPr sz="900" b="1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11798" y="3611880"/>
            <a:ext cx="566927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11798" y="3657600"/>
            <a:ext cx="5669279" cy="274320"/>
          </a:xfrm>
          <a:prstGeom prst="roundRect">
            <a:avLst>
              <a:gd name="adj" fmla="val 10000"/>
            </a:avLst>
          </a:prstGeom>
          <a:solidFill>
            <a:srgbClr val="F2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4950" y="3700145"/>
            <a:ext cx="1764791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6A5D7B"/>
                </a:solidFill>
                <a:latin typeface="Calibri"/>
              </a:rPr>
              <a:t>Body · what am I doing?</a:t>
            </a:r>
            <a:endParaRPr sz="1000" b="1" i="0">
              <a:solidFill>
                <a:srgbClr val="6A5D7B"/>
              </a:solidFill>
              <a:latin typeface="Calibr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359470" y="3700145"/>
            <a:ext cx="393192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Calibri"/>
              </a:rPr>
              <a:t>675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862390" y="3700145"/>
            <a:ext cx="987552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BLEU-4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959670" y="3700145"/>
            <a:ext cx="393192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1" i="0">
                <a:solidFill>
                  <a:srgbClr val="6A5D7B"/>
                </a:solidFill>
                <a:latin typeface="Calibri"/>
              </a:rPr>
              <a:t>.118</a:t>
            </a:r>
            <a:endParaRPr sz="1000" b="1" i="0">
              <a:solidFill>
                <a:srgbClr val="6A5D7B"/>
              </a:solidFill>
              <a:latin typeface="Calibr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462589" y="3700145"/>
            <a:ext cx="1581912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rewrites .107 *  ·  e2e .147 §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411798" y="3968496"/>
            <a:ext cx="5669279" cy="274320"/>
          </a:xfrm>
          <a:prstGeom prst="roundRect">
            <a:avLst>
              <a:gd name="adj" fmla="val 10000"/>
            </a:avLst>
          </a:prstGeom>
          <a:solidFill>
            <a:srgbClr val="F2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4950" y="4011041"/>
            <a:ext cx="1764791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endParaRPr sz="1000" b="1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359470" y="4011041"/>
            <a:ext cx="393192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862390" y="4011041"/>
            <a:ext cx="987552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BERTScore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959670" y="4011041"/>
            <a:ext cx="393192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1" i="0">
                <a:solidFill>
                  <a:srgbClr val="6A5D7B"/>
                </a:solidFill>
                <a:latin typeface="Calibri"/>
              </a:rPr>
              <a:t>.774</a:t>
            </a:r>
            <a:endParaRPr sz="1000" b="1" i="0">
              <a:solidFill>
                <a:srgbClr val="6A5D7B"/>
              </a:solidFill>
              <a:latin typeface="Calibri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462589" y="4011041"/>
            <a:ext cx="1581912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e2e .780 §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411798" y="4279392"/>
            <a:ext cx="5669279" cy="274320"/>
          </a:xfrm>
          <a:prstGeom prst="roundRect">
            <a:avLst>
              <a:gd name="adj" fmla="val 10000"/>
            </a:avLst>
          </a:prstGeom>
          <a:solidFill>
            <a:srgbClr val="F8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4950" y="4245102"/>
            <a:ext cx="1764791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B0573A"/>
                </a:solidFill>
                <a:latin typeface="Calibri"/>
              </a:rPr>
              <a:t>Face · what's my expression?</a:t>
            </a:r>
            <a:endParaRPr sz="1000" b="1" i="0">
              <a:solidFill>
                <a:srgbClr val="B0573A"/>
              </a:solidFill>
              <a:latin typeface="Calibri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359470" y="4321937"/>
            <a:ext cx="393192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Calibri"/>
              </a:rPr>
              <a:t>256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862390" y="4321937"/>
            <a:ext cx="987552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emotion named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959670" y="4321937"/>
            <a:ext cx="393192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1" i="0">
                <a:solidFill>
                  <a:srgbClr val="B0573A"/>
                </a:solidFill>
                <a:latin typeface="Calibri"/>
              </a:rPr>
              <a:t>.40</a:t>
            </a:r>
            <a:endParaRPr sz="1000" b="1" i="0">
              <a:solidFill>
                <a:srgbClr val="B0573A"/>
              </a:solidFill>
              <a:latin typeface="Calibri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462589" y="4321937"/>
            <a:ext cx="1581912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411798" y="4590288"/>
            <a:ext cx="5669279" cy="274320"/>
          </a:xfrm>
          <a:prstGeom prst="roundRect">
            <a:avLst>
              <a:gd name="adj" fmla="val 10000"/>
            </a:avLst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84950" y="4632833"/>
            <a:ext cx="1764791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F3A5F"/>
                </a:solidFill>
                <a:latin typeface="Calibri"/>
              </a:rPr>
              <a:t>Emotion, 10 classes †</a:t>
            </a:r>
            <a:endParaRPr sz="1000" b="1" i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359470" y="4632833"/>
            <a:ext cx="393192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Calibri"/>
              </a:rPr>
              <a:t>2,068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862390" y="4632833"/>
            <a:ext cx="987552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accuracy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959670" y="4632833"/>
            <a:ext cx="393192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1" i="0">
                <a:solidFill>
                  <a:srgbClr val="1F3A5F"/>
                </a:solidFill>
                <a:latin typeface="Calibri"/>
              </a:rPr>
              <a:t>.66</a:t>
            </a:r>
            <a:endParaRPr sz="1000" b="1" i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462589" y="4632833"/>
            <a:ext cx="1581912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most common class: .12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411798" y="4901183"/>
            <a:ext cx="5669279" cy="274320"/>
          </a:xfrm>
          <a:prstGeom prst="roundRect">
            <a:avLst>
              <a:gd name="adj" fmla="val 10000"/>
            </a:avLst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84950" y="4943728"/>
            <a:ext cx="1764791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F3A5F"/>
                </a:solidFill>
                <a:latin typeface="Calibri"/>
              </a:rPr>
              <a:t>Emotion · S2D's 7 classes †</a:t>
            </a:r>
            <a:endParaRPr sz="1000" b="1" i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2359470" y="4943728"/>
            <a:ext cx="393192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Calibri"/>
              </a:rPr>
              <a:t>1,543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2862390" y="4943728"/>
            <a:ext cx="987552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accuracy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3959670" y="4943728"/>
            <a:ext cx="393192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1" i="0">
                <a:solidFill>
                  <a:srgbClr val="1F3A5F"/>
                </a:solidFill>
                <a:latin typeface="Calibri"/>
              </a:rPr>
              <a:t>.66</a:t>
            </a:r>
            <a:endParaRPr sz="1000" b="1" i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462589" y="4943728"/>
            <a:ext cx="1581912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S2D ‡: .47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411798" y="5266943"/>
            <a:ext cx="5669280" cy="7404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595959"/>
                </a:solidFill>
                <a:latin typeface="Calibri"/>
              </a:rPr>
              <a:t>* one LLM-rewritten reference scored against the others — not a human ceiling</a:t>
            </a:r>
            <a:endParaRPr sz="850" b="0" i="0">
              <a:solidFill>
                <a:srgbClr val="595959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595959"/>
                </a:solidFill>
                <a:latin typeface="Calibri"/>
              </a:rPr>
              <a:t>† a separate 9B vision-language model on face crops · best checkpoint picked on the test set</a:t>
            </a:r>
            <a:endParaRPr sz="850" b="0" i="0">
              <a:solidFill>
                <a:srgbClr val="595959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595959"/>
                </a:solidFill>
                <a:latin typeface="Calibri"/>
              </a:rPr>
              <a:t>‡ S2D: a public, pretrained video facial-expression recognizer (IEEE TAC 2024), run as-is · scored on the 1,543 clips labelled with one of its 7 emotions</a:t>
            </a:r>
            <a:endParaRPr sz="850" b="0" i="0">
              <a:solidFill>
                <a:srgbClr val="595959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595959"/>
                </a:solidFill>
                <a:latin typeface="Calibri"/>
              </a:rPr>
              <a:t>§ same test after the encoder is merged into the newest end-to-end model (speech + face + body, offline test, one seed)</a:t>
            </a:r>
            <a:endParaRPr sz="8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6263958" y="2898648"/>
            <a:ext cx="5532120" cy="16824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73686" y="2971800"/>
            <a:ext cx="5312664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6A5D7B"/>
                </a:solidFill>
                <a:latin typeface="Calibri"/>
              </a:rPr>
              <a:t>BODY  ·  the user performs a motion and asks what it is</a:t>
            </a:r>
            <a:endParaRPr sz="1000" b="1" i="0">
              <a:solidFill>
                <a:srgbClr val="6A5D7B"/>
              </a:solidFill>
              <a:latin typeface="Calibri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9235440" y="3182112"/>
            <a:ext cx="2487168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6A5D7B"/>
                </a:solidFill>
                <a:latin typeface="Calibri"/>
              </a:rPr>
              <a:t>Model  </a:t>
            </a:r>
            <a:r>
              <a:rPr sz="850" b="0" i="1">
                <a:solidFill>
                  <a:srgbClr val="222222"/>
                </a:solidFill>
                <a:latin typeface="Calibri"/>
              </a:rPr>
              <a:t>You're walking forward with your arms out to the sides on a tightrope.</a:t>
            </a:r>
            <a:endParaRPr sz="950" b="0" i="1">
              <a:solidFill>
                <a:srgbClr val="222222"/>
              </a:solidFill>
              <a:latin typeface="Calibri"/>
            </a:endParaRPr>
          </a:p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595959"/>
                </a:solidFill>
                <a:latin typeface="Calibri"/>
              </a:rPr>
              <a:t>Reference  </a:t>
            </a:r>
            <a:r>
              <a:rPr sz="850" b="0" i="1">
                <a:solidFill>
                  <a:srgbClr val="222222"/>
                </a:solidFill>
                <a:latin typeface="Calibri"/>
              </a:rPr>
              <a:t>You are walking forward with your arms stretched out to the sides, balancing as if on a tightrope.</a:t>
            </a:r>
            <a:endParaRPr sz="950" b="0" i="1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6263958" y="4672584"/>
            <a:ext cx="5532120" cy="16824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73686" y="4745736"/>
            <a:ext cx="5312664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B0573A"/>
                </a:solidFill>
                <a:latin typeface="Calibri"/>
              </a:rPr>
              <a:t>FACE  ·  “What's my expression?”</a:t>
            </a:r>
            <a:endParaRPr sz="1000" b="1" i="0">
              <a:solidFill>
                <a:srgbClr val="B0573A"/>
              </a:solidFill>
              <a:latin typeface="Calibri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9235440" y="4956048"/>
            <a:ext cx="2487168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6A5D7B"/>
                </a:solidFill>
                <a:latin typeface="Calibri"/>
              </a:rPr>
              <a:t>Model  </a:t>
            </a:r>
            <a:r>
              <a:rPr sz="850" b="0" i="1">
                <a:solidFill>
                  <a:srgbClr val="222222"/>
                </a:solidFill>
                <a:latin typeface="Calibri"/>
              </a:rPr>
              <a:t>You look absolutely disgusted. Your wrinkled nose and crinkled mouth show clear distaste.</a:t>
            </a:r>
            <a:endParaRPr sz="950" b="0" i="1">
              <a:solidFill>
                <a:srgbClr val="222222"/>
              </a:solidFill>
              <a:latin typeface="Calibri"/>
            </a:endParaRPr>
          </a:p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595959"/>
                </a:solidFill>
                <a:latin typeface="Calibri"/>
              </a:rPr>
              <a:t>Reference  </a:t>
            </a:r>
            <a:r>
              <a:rPr sz="850" b="0" i="1">
                <a:solidFill>
                  <a:srgbClr val="222222"/>
                </a:solidFill>
                <a:latin typeface="Calibri"/>
              </a:rPr>
              <a:t>You look absolutely disgusted. Your nose is wrinkled and your upper lip is curled up in a grimace.</a:t>
            </a:r>
            <a:endParaRPr sz="950" b="0" i="1">
              <a:solidFill>
                <a:srgbClr val="222222"/>
              </a:solidFill>
              <a:latin typeface="Calibri"/>
            </a:endParaRPr>
          </a:p>
        </p:txBody>
      </p:sp>
      <p:pic>
        <p:nvPicPr>
          <p:cNvPr id="77" name="und_body_1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373368" y="3200400"/>
            <a:ext cx="2818714" cy="1298448"/>
          </a:xfrm>
          <a:prstGeom prst="rect">
            <a:avLst/>
          </a:prstGeom>
        </p:spPr>
      </p:pic>
      <p:pic>
        <p:nvPicPr>
          <p:cNvPr id="78" name="und_face_1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373368" y="4974336"/>
            <a:ext cx="2818714" cy="12984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7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78"/>
                </p:tgtEl>
              </p:cMediaNode>
            </p:video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09600" y="152401"/>
            <a:ext cx="9906000" cy="685793"/>
          </a:xfrm>
          <a:prstGeom prst="rect">
            <a:avLst/>
          </a:prstGeom>
          <a:noFill/>
        </p:spPr>
        <p:txBody>
          <a:bodyPr wrap="square" lIns="91440" tIns="45720" rIns="91440" bIns="45720" anchor="b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+mj-lt"/>
                <a:ea typeface="+mj-ea"/>
              </a:rPr>
              <a:t>Body motion from a spoken instruction</a:t>
            </a:r>
            <a:endParaRPr sz="2800" b="0">
              <a:solidFill>
                <a:srgbClr val="000000"/>
              </a:solidFill>
              <a:latin typeface="+mj-lt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64464" y="950000"/>
            <a:ext cx="11131614" cy="266065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  <a:latin typeface="Calibri"/>
              </a:rPr>
              <a:t>Hears the instruction, writes a short plan, then moves — R1 at 92–96 % of real motion, above MotionStreamer</a:t>
            </a:r>
            <a:endParaRPr sz="15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11798" y="1298448"/>
            <a:ext cx="11384280" cy="1600200"/>
          </a:xfrm>
          <a:prstGeom prst="roundRect">
            <a:avLst>
              <a:gd name="adj" fmla="val 4000"/>
            </a:avLst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958" y="1335024"/>
            <a:ext cx="1828800" cy="1816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 b="1" i="0">
                <a:solidFill>
                  <a:srgbClr val="1F3A5F"/>
                </a:solidFill>
                <a:latin typeface="Calibri"/>
              </a:rPr>
              <a:t>MODEL SETUP</a:t>
            </a:r>
            <a:endParaRPr sz="950" b="1" i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38278" y="1389888"/>
            <a:ext cx="237744" cy="137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598" y="1325880"/>
            <a:ext cx="640080" cy="17399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Calibri"/>
              </a:rPr>
              <a:t>trained</a:t>
            </a:r>
            <a:endParaRPr sz="9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361238" y="1389888"/>
            <a:ext cx="237744" cy="137160"/>
          </a:xfrm>
          <a:prstGeom prst="roundRect">
            <a:avLst>
              <a:gd name="adj" fmla="val 10000"/>
            </a:avLst>
          </a:prstGeom>
          <a:solidFill>
            <a:srgbClr val="ECECEC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558" y="1325880"/>
            <a:ext cx="548640" cy="17399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Calibri"/>
              </a:rPr>
              <a:t>frozen</a:t>
            </a:r>
            <a:endParaRPr sz="9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48958" y="1627631"/>
            <a:ext cx="1417320" cy="35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35577A"/>
                </a:solidFill>
                <a:latin typeface="Calibri"/>
              </a:rPr>
              <a:t>Spoken instruction</a:t>
            </a:r>
            <a:endParaRPr sz="1000" b="1" i="0">
              <a:solidFill>
                <a:srgbClr val="35577A"/>
              </a:solidFill>
              <a:latin typeface="Calibri"/>
            </a:endParaRPr>
          </a:p>
          <a:p>
            <a:pPr algn="ctr"/>
            <a:r>
              <a:rPr sz="800" b="0" i="0">
                <a:solidFill>
                  <a:srgbClr val="595959"/>
                </a:solidFill>
                <a:latin typeface="Calibri"/>
              </a:rPr>
              <a:t>the user's voice</a:t>
            </a:r>
            <a:endParaRPr sz="8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48958" y="2042159"/>
            <a:ext cx="1417320" cy="35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9C7A2B"/>
                </a:solidFill>
                <a:latin typeface="Calibri"/>
              </a:rPr>
              <a:t>Plan text</a:t>
            </a:r>
            <a:endParaRPr sz="1000" b="1" i="0">
              <a:solidFill>
                <a:srgbClr val="9C7A2B"/>
              </a:solidFill>
              <a:latin typeface="Calibri"/>
            </a:endParaRPr>
          </a:p>
          <a:p>
            <a:pPr algn="ctr"/>
            <a:r>
              <a:rPr sz="800" b="0" i="0">
                <a:solidFill>
                  <a:srgbClr val="595959"/>
                </a:solidFill>
                <a:latin typeface="Calibri"/>
              </a:rPr>
              <a:t>first person, written first</a:t>
            </a:r>
            <a:endParaRPr sz="8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48958" y="2456687"/>
            <a:ext cx="1417320" cy="35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3D7068"/>
                </a:solidFill>
                <a:latin typeface="Calibri"/>
              </a:rPr>
              <a:t>Own past motion</a:t>
            </a:r>
            <a:endParaRPr sz="1000" b="1" i="0">
              <a:solidFill>
                <a:srgbClr val="3D7068"/>
              </a:solidFill>
              <a:latin typeface="Calibri"/>
            </a:endParaRPr>
          </a:p>
          <a:p>
            <a:pPr algn="ctr"/>
            <a:r>
              <a:rPr sz="800" b="0" i="0">
                <a:solidFill>
                  <a:srgbClr val="595959"/>
                </a:solidFill>
                <a:latin typeface="Calibri"/>
              </a:rPr>
              <a:t>last motion patch</a:t>
            </a:r>
            <a:endParaRPr sz="8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252028" y="1627631"/>
            <a:ext cx="1463040" cy="35052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222222"/>
                </a:solidFill>
                <a:latin typeface="Calibri"/>
              </a:rPr>
              <a:t>7B speech LM</a:t>
            </a:r>
            <a:endParaRPr sz="1000" b="1" i="0">
              <a:solidFill>
                <a:srgbClr val="222222"/>
              </a:solidFill>
              <a:latin typeface="Calibri"/>
            </a:endParaRPr>
          </a:p>
          <a:p>
            <a:pPr algn="ctr"/>
            <a:r>
              <a:rPr sz="800" b="0" i="0">
                <a:solidFill>
                  <a:srgbClr val="595959"/>
                </a:solidFill>
                <a:latin typeface="Calibri"/>
              </a:rPr>
              <a:t>PersonaPlex · 4096-d</a:t>
            </a:r>
            <a:endParaRPr sz="8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252028" y="2042159"/>
            <a:ext cx="1463040" cy="35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9C7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9C7A2B"/>
                </a:solidFill>
                <a:latin typeface="Calibri"/>
              </a:rPr>
              <a:t>Plan encoder</a:t>
            </a:r>
            <a:endParaRPr sz="1000" b="1" i="0">
              <a:solidFill>
                <a:srgbClr val="9C7A2B"/>
              </a:solidFill>
              <a:latin typeface="Calibri"/>
            </a:endParaRPr>
          </a:p>
          <a:p>
            <a:pPr algn="ctr"/>
            <a:r>
              <a:rPr sz="800" b="0" i="0">
                <a:solidFill>
                  <a:srgbClr val="595959"/>
                </a:solidFill>
                <a:latin typeface="Calibri"/>
              </a:rPr>
              <a:t>2 layers</a:t>
            </a:r>
            <a:endParaRPr sz="8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252028" y="2456687"/>
            <a:ext cx="1463040" cy="35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3D7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3D7068"/>
                </a:solidFill>
                <a:latin typeface="Calibri"/>
              </a:rPr>
              <a:t>History encoder</a:t>
            </a:r>
            <a:endParaRPr sz="1000" b="1" i="0">
              <a:solidFill>
                <a:srgbClr val="3D7068"/>
              </a:solidFill>
              <a:latin typeface="Calibri"/>
            </a:endParaRPr>
          </a:p>
          <a:p>
            <a:pPr algn="ctr"/>
            <a:r>
              <a:rPr sz="800" b="0" i="0">
                <a:solidFill>
                  <a:srgbClr val="595959"/>
                </a:solidFill>
                <a:latin typeface="Calibri"/>
              </a:rPr>
              <a:t>6 layers</a:t>
            </a:r>
            <a:endParaRPr sz="800" b="0" i="0">
              <a:solidFill>
                <a:srgbClr val="595959"/>
              </a:solidFill>
              <a:latin typeface="Calibri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1966278" y="1802891"/>
            <a:ext cx="285750" cy="0"/>
          </a:xfrm>
          <a:prstGeom prst="line">
            <a:avLst/>
          </a:prstGeom>
          <a:ln w="1397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966278" y="2217420"/>
            <a:ext cx="285750" cy="0"/>
          </a:xfrm>
          <a:prstGeom prst="line">
            <a:avLst/>
          </a:prstGeom>
          <a:ln w="1397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966278" y="2631947"/>
            <a:ext cx="285750" cy="0"/>
          </a:xfrm>
          <a:prstGeom prst="line">
            <a:avLst/>
          </a:prstGeom>
          <a:ln w="1397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000818" y="1943100"/>
            <a:ext cx="146304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8E3B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8E3B46"/>
                </a:solidFill>
                <a:latin typeface="Calibri"/>
              </a:rPr>
              <a:t>Motion generator</a:t>
            </a:r>
            <a:endParaRPr sz="1050" b="1" i="0">
              <a:solidFill>
                <a:srgbClr val="8E3B46"/>
              </a:solidFill>
              <a:latin typeface="Calibri"/>
            </a:endParaRPr>
          </a:p>
          <a:p>
            <a:pPr algn="ctr"/>
            <a:r>
              <a:rPr sz="850" b="0" i="0">
                <a:solidFill>
                  <a:srgbClr val="595959"/>
                </a:solidFill>
                <a:latin typeface="Calibri"/>
              </a:rPr>
              <a:t>4-layer causal trunk</a:t>
            </a:r>
            <a:endParaRPr sz="850" b="0" i="0">
              <a:solidFill>
                <a:srgbClr val="595959"/>
              </a:solidFill>
              <a:latin typeface="Calibri"/>
            </a:endParaRPr>
          </a:p>
          <a:p>
            <a:pPr algn="ctr"/>
            <a:r>
              <a:rPr sz="850" b="0" i="0">
                <a:solidFill>
                  <a:srgbClr val="595959"/>
                </a:solidFill>
                <a:latin typeface="Calibri"/>
              </a:rPr>
              <a:t>+ diffusion head</a:t>
            </a:r>
            <a:endParaRPr sz="850" b="0" i="0">
              <a:solidFill>
                <a:srgbClr val="595959"/>
              </a:solidFill>
              <a:latin typeface="Calibri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715068" y="1802891"/>
            <a:ext cx="128587" cy="0"/>
          </a:xfrm>
          <a:prstGeom prst="line">
            <a:avLst/>
          </a:prstGeom>
          <a:ln w="1270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715068" y="2217420"/>
            <a:ext cx="128587" cy="0"/>
          </a:xfrm>
          <a:prstGeom prst="line">
            <a:avLst/>
          </a:prstGeom>
          <a:ln w="1270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715068" y="2631947"/>
            <a:ext cx="128587" cy="0"/>
          </a:xfrm>
          <a:prstGeom prst="line">
            <a:avLst/>
          </a:prstGeom>
          <a:ln w="1270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843655" y="1802891"/>
            <a:ext cx="0" cy="829056"/>
          </a:xfrm>
          <a:prstGeom prst="line">
            <a:avLst/>
          </a:prstGeom>
          <a:ln w="1270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843655" y="2217420"/>
            <a:ext cx="157163" cy="0"/>
          </a:xfrm>
          <a:prstGeom prst="line">
            <a:avLst/>
          </a:prstGeom>
          <a:ln w="1397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749608" y="1943100"/>
            <a:ext cx="1143000" cy="5486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222222"/>
                </a:solidFill>
                <a:latin typeface="Calibri"/>
              </a:rPr>
              <a:t>Body VAE</a:t>
            </a:r>
            <a:endParaRPr sz="1050" b="1" i="0">
              <a:solidFill>
                <a:srgbClr val="222222"/>
              </a:solidFill>
              <a:latin typeface="Calibri"/>
            </a:endParaRPr>
          </a:p>
          <a:p>
            <a:pPr algn="ctr"/>
            <a:r>
              <a:rPr sz="1050" b="1" i="0">
                <a:solidFill>
                  <a:srgbClr val="222222"/>
                </a:solidFill>
                <a:latin typeface="Calibri"/>
              </a:rPr>
              <a:t>decoder</a:t>
            </a:r>
            <a:endParaRPr sz="1050" b="1" i="0">
              <a:solidFill>
                <a:srgbClr val="222222"/>
              </a:solidFill>
              <a:latin typeface="Calibri"/>
            </a:endParaRPr>
          </a:p>
          <a:p>
            <a:pPr algn="ctr"/>
            <a:r>
              <a:rPr sz="850" b="0" i="0">
                <a:solidFill>
                  <a:srgbClr val="595959"/>
                </a:solidFill>
                <a:latin typeface="Calibri"/>
              </a:rPr>
              <a:t>48-d · 6.25 Hz</a:t>
            </a:r>
            <a:endParaRPr sz="850" b="0" i="0">
              <a:solidFill>
                <a:srgbClr val="595959"/>
              </a:solidFill>
              <a:latin typeface="Calibri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5463858" y="2217420"/>
            <a:ext cx="285750" cy="0"/>
          </a:xfrm>
          <a:prstGeom prst="line">
            <a:avLst/>
          </a:prstGeom>
          <a:ln w="1397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178358" y="1943100"/>
            <a:ext cx="77724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3D7068"/>
                </a:solidFill>
                <a:latin typeface="Calibri"/>
              </a:rPr>
              <a:t>Body</a:t>
            </a:r>
            <a:endParaRPr sz="1050" b="1" i="0">
              <a:solidFill>
                <a:srgbClr val="3D7068"/>
              </a:solidFill>
              <a:latin typeface="Calibri"/>
            </a:endParaRPr>
          </a:p>
          <a:p>
            <a:pPr algn="ctr"/>
            <a:r>
              <a:rPr sz="850" b="0" i="0">
                <a:solidFill>
                  <a:srgbClr val="595959"/>
                </a:solidFill>
                <a:latin typeface="Calibri"/>
              </a:rPr>
              <a:t>SMPL-H</a:t>
            </a:r>
            <a:endParaRPr sz="850" b="0" i="0">
              <a:solidFill>
                <a:srgbClr val="595959"/>
              </a:solidFill>
              <a:latin typeface="Calibri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6892608" y="2217420"/>
            <a:ext cx="285750" cy="0"/>
          </a:xfrm>
          <a:prstGeom prst="line">
            <a:avLst/>
          </a:prstGeom>
          <a:ln w="1397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8111045" y="1426464"/>
            <a:ext cx="10972" cy="134416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918" y="1617218"/>
            <a:ext cx="3474719" cy="9626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sz="900" b="1" i="0">
                <a:solidFill>
                  <a:srgbClr val="1F3A5F"/>
                </a:solidFill>
                <a:latin typeface="Calibri"/>
              </a:rPr>
              <a:t>Conditions  </a:t>
            </a:r>
            <a:r>
              <a:rPr sz="900" b="0" i="0">
                <a:solidFill>
                  <a:srgbClr val="222222"/>
                </a:solidFill>
                <a:latin typeface="Calibri"/>
              </a:rPr>
              <a:t>plan revealed once thinking ends · own voice empty · speech / plan dropped 10 / 10 / 5 % ⇒ plan guidance 0.6 at test</a:t>
            </a:r>
            <a:endParaRPr sz="900" b="0" i="0">
              <a:solidFill>
                <a:srgbClr val="222222"/>
              </a:solidFill>
              <a:latin typeface="Calibri"/>
            </a:endParaRPr>
          </a:p>
          <a:p>
            <a:pPr algn="l">
              <a:spcAft>
                <a:spcPts val="250"/>
              </a:spcAft>
            </a:pPr>
            <a:r>
              <a:rPr sz="900" b="1" i="0">
                <a:solidFill>
                  <a:srgbClr val="1F3A5F"/>
                </a:solidFill>
                <a:latin typeface="Calibri"/>
              </a:rPr>
              <a:t>Trained  </a:t>
            </a:r>
            <a:r>
              <a:rPr sz="900" b="0" i="0">
                <a:solidFill>
                  <a:srgbClr val="222222"/>
                </a:solidFill>
                <a:latin typeface="Calibri"/>
              </a:rPr>
              <a:t>generator + plan and history encoders, from scratch</a:t>
            </a:r>
            <a:endParaRPr sz="900" b="0" i="0">
              <a:solidFill>
                <a:srgbClr val="222222"/>
              </a:solidFill>
              <a:latin typeface="Calibri"/>
            </a:endParaRPr>
          </a:p>
          <a:p>
            <a:pPr algn="l">
              <a:spcAft>
                <a:spcPts val="250"/>
              </a:spcAft>
            </a:pPr>
            <a:r>
              <a:rPr sz="900" b="1" i="0">
                <a:solidFill>
                  <a:srgbClr val="1F3A5F"/>
                </a:solidFill>
                <a:latin typeface="Calibri"/>
              </a:rPr>
              <a:t>Frozen  </a:t>
            </a:r>
            <a:r>
              <a:rPr sz="900" b="0" i="0">
                <a:solidFill>
                  <a:srgbClr val="222222"/>
                </a:solidFill>
                <a:latin typeface="Calibri"/>
              </a:rPr>
              <a:t>the 7B (states precomputed), audio codec, VAEs</a:t>
            </a:r>
            <a:endParaRPr sz="900" b="0" i="0">
              <a:solidFill>
                <a:srgbClr val="222222"/>
              </a:solidFill>
              <a:latin typeface="Calibri"/>
            </a:endParaRPr>
          </a:p>
          <a:p>
            <a:pPr algn="l">
              <a:spcAft>
                <a:spcPts val="250"/>
              </a:spcAft>
            </a:pPr>
            <a:r>
              <a:rPr sz="900" b="1" i="0">
                <a:solidFill>
                  <a:srgbClr val="1F3A5F"/>
                </a:solidFill>
                <a:latin typeface="Calibri"/>
              </a:rPr>
              <a:t>Data  </a:t>
            </a:r>
            <a:r>
              <a:rPr sz="900" b="0" i="0">
                <a:solidFill>
                  <a:srgbClr val="222222"/>
                </a:solidFill>
                <a:latin typeface="Calibri"/>
              </a:rPr>
              <a:t>instruction clips, 4 sources · the last stage also mixes in conversation (2 : 1)</a:t>
            </a:r>
            <a:endParaRPr sz="9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411798" y="3035808"/>
            <a:ext cx="5669280" cy="365760"/>
          </a:xfrm>
          <a:prstGeom prst="roundRect">
            <a:avLst>
              <a:gd name="adj" fmla="val 12000"/>
            </a:avLst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1526" y="3054858"/>
            <a:ext cx="5486400" cy="3276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50" b="1" i="0">
                <a:solidFill>
                  <a:srgbClr val="1F3A5F"/>
                </a:solidFill>
                <a:latin typeface="Calibri"/>
              </a:rPr>
              <a:t>How we measure  </a:t>
            </a:r>
            <a:r>
              <a:rPr sz="950" b="1" i="0">
                <a:solidFill>
                  <a:srgbClr val="222222"/>
                </a:solidFill>
                <a:latin typeface="Calibri"/>
              </a:rPr>
              <a:t>R1 </a:t>
            </a:r>
            <a:r>
              <a:rPr sz="950" b="0" i="0">
                <a:solidFill>
                  <a:srgbClr val="595959"/>
                </a:solidFill>
                <a:latin typeface="Calibri"/>
              </a:rPr>
              <a:t>right instruction ranked 1st of 32 texts, chance .03</a:t>
            </a:r>
            <a:r>
              <a:rPr sz="950" b="0" i="0">
                <a:solidFill>
                  <a:srgbClr val="8C8C8C"/>
                </a:solidFill>
                <a:latin typeface="Calibri"/>
              </a:rPr>
              <a:t>   ·   </a:t>
            </a:r>
            <a:r>
              <a:rPr sz="950" b="1" i="0">
                <a:solidFill>
                  <a:srgbClr val="222222"/>
                </a:solidFill>
                <a:latin typeface="Calibri"/>
              </a:rPr>
              <a:t>GT </a:t>
            </a:r>
            <a:r>
              <a:rPr sz="950" b="0" i="0">
                <a:solidFill>
                  <a:srgbClr val="595959"/>
                </a:solidFill>
                <a:latin typeface="Calibri"/>
              </a:rPr>
              <a:t>real motion, same evaluator</a:t>
            </a:r>
            <a:endParaRPr sz="9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11798" y="3438144"/>
            <a:ext cx="5669280" cy="2197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Text following  ·  HumanML3D test, 512 clips  ·  R1 ↑  ·  one seed</a:t>
            </a:r>
            <a:endParaRPr sz="1200" b="1" i="0">
              <a:solidFill>
                <a:srgbClr val="1F3A5F"/>
              </a:solidFill>
              <a:latin typeface="Calibri"/>
            </a:endParaRPr>
          </a:p>
        </p:txBody>
      </p:sp>
      <p:graphicFrame>
        <p:nvGraphicFramePr>
          <p:cNvPr id="39" name="Chart 38"/>
          <p:cNvGraphicFramePr>
            <a:graphicFrameLocks noGrp="1"/>
          </p:cNvGraphicFramePr>
          <p:nvPr/>
        </p:nvGraphicFramePr>
        <p:xfrm>
          <a:off x="320358" y="3621024"/>
          <a:ext cx="5760720" cy="1188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411798" y="4791456"/>
            <a:ext cx="5669280" cy="1816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Calibri"/>
              </a:rPr>
              <a:t>ours reaches 96 % (Guo) and 92 % (MS) of real-motion R1</a:t>
            </a:r>
            <a:endParaRPr sz="9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11798" y="5029200"/>
            <a:ext cx="5669280" cy="3581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vs MotionStreamer</a:t>
            </a:r>
            <a:r>
              <a:rPr sz="900" b="0" i="0">
                <a:solidFill>
                  <a:srgbClr val="595959"/>
                </a:solidFill>
                <a:latin typeface="Calibri"/>
              </a:rPr>
              <a:t>  (public, streaming)  ·  same 512 clips, same scoring  ·  one seed</a:t>
            </a:r>
            <a:endParaRPr sz="9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66662" y="5284089"/>
            <a:ext cx="1325880" cy="165735"/>
          </a:xfrm>
          <a:prstGeom prst="rect">
            <a:avLst/>
          </a:prstGeom>
          <a:noFill/>
        </p:spPr>
        <p:txBody>
          <a:bodyPr wrap="square" lIns="36576" tIns="18288" rIns="36576" bIns="18288" anchor="b">
            <a:spAutoFit/>
          </a:bodyPr>
          <a:lstStyle/>
          <a:p>
            <a:pPr algn="l"/>
            <a:endParaRPr sz="850" b="1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883982" y="5284089"/>
            <a:ext cx="868680" cy="165735"/>
          </a:xfrm>
          <a:prstGeom prst="rect">
            <a:avLst/>
          </a:prstGeom>
          <a:noFill/>
        </p:spPr>
        <p:txBody>
          <a:bodyPr wrap="square" lIns="36576" tIns="18288" rIns="36576" bIns="18288" anchor="b">
            <a:spAutoFit/>
          </a:bodyPr>
          <a:lstStyle/>
          <a:p>
            <a:pPr algn="ctr"/>
            <a:r>
              <a:rPr sz="850" b="1" i="0">
                <a:solidFill>
                  <a:srgbClr val="595959"/>
                </a:solidFill>
                <a:latin typeface="Calibri"/>
              </a:rPr>
              <a:t>Guo R1 ↑</a:t>
            </a:r>
            <a:endParaRPr sz="850" b="1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844102" y="5284089"/>
            <a:ext cx="868680" cy="165735"/>
          </a:xfrm>
          <a:prstGeom prst="rect">
            <a:avLst/>
          </a:prstGeom>
          <a:noFill/>
        </p:spPr>
        <p:txBody>
          <a:bodyPr wrap="square" lIns="36576" tIns="18288" rIns="36576" bIns="18288" anchor="b">
            <a:spAutoFit/>
          </a:bodyPr>
          <a:lstStyle/>
          <a:p>
            <a:pPr algn="ctr"/>
            <a:r>
              <a:rPr sz="850" b="1" i="0">
                <a:solidFill>
                  <a:srgbClr val="595959"/>
                </a:solidFill>
                <a:latin typeface="Calibri"/>
              </a:rPr>
              <a:t>MS R1 ↑</a:t>
            </a:r>
            <a:endParaRPr sz="850" b="1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804221" y="5284089"/>
            <a:ext cx="1005839" cy="165735"/>
          </a:xfrm>
          <a:prstGeom prst="rect">
            <a:avLst/>
          </a:prstGeom>
          <a:noFill/>
        </p:spPr>
        <p:txBody>
          <a:bodyPr wrap="square" lIns="36576" tIns="18288" rIns="36576" bIns="18288" anchor="b">
            <a:spAutoFit/>
          </a:bodyPr>
          <a:lstStyle/>
          <a:p>
            <a:pPr algn="ctr"/>
            <a:r>
              <a:rPr sz="850" b="1" i="0">
                <a:solidFill>
                  <a:srgbClr val="595959"/>
                </a:solidFill>
                <a:latin typeface="Calibri"/>
              </a:rPr>
              <a:t>Guo FID ↓</a:t>
            </a:r>
            <a:endParaRPr sz="850" b="1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901500" y="5284089"/>
            <a:ext cx="1005839" cy="165735"/>
          </a:xfrm>
          <a:prstGeom prst="rect">
            <a:avLst/>
          </a:prstGeom>
          <a:noFill/>
        </p:spPr>
        <p:txBody>
          <a:bodyPr wrap="square" lIns="36576" tIns="18288" rIns="36576" bIns="18288" anchor="b">
            <a:spAutoFit/>
          </a:bodyPr>
          <a:lstStyle/>
          <a:p>
            <a:pPr algn="ctr"/>
            <a:r>
              <a:rPr sz="850" b="1" i="0">
                <a:solidFill>
                  <a:srgbClr val="595959"/>
                </a:solidFill>
                <a:latin typeface="Calibri"/>
              </a:rPr>
              <a:t>MS FID ↓</a:t>
            </a:r>
            <a:endParaRPr sz="850" b="1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411798" y="5477256"/>
            <a:ext cx="5532120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11798" y="5522976"/>
            <a:ext cx="5532120" cy="219456"/>
          </a:xfrm>
          <a:prstGeom prst="roundRect">
            <a:avLst>
              <a:gd name="adj" fmla="val 10000"/>
            </a:avLst>
          </a:prstGeom>
          <a:solidFill>
            <a:srgbClr val="EE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4950" y="5538089"/>
            <a:ext cx="1307592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222222"/>
                </a:solidFill>
                <a:latin typeface="Calibri"/>
              </a:rPr>
              <a:t>ours (newest)</a:t>
            </a:r>
            <a:endParaRPr sz="1000" b="1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902270" y="5538089"/>
            <a:ext cx="850392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1" i="0">
                <a:solidFill>
                  <a:srgbClr val="3E7A6D"/>
                </a:solidFill>
                <a:latin typeface="Calibri"/>
              </a:rPr>
              <a:t>.471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862390" y="5538089"/>
            <a:ext cx="850392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1" i="0">
                <a:solidFill>
                  <a:srgbClr val="3E7A6D"/>
                </a:solidFill>
                <a:latin typeface="Calibri"/>
              </a:rPr>
              <a:t>.649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822509" y="5538089"/>
            <a:ext cx="987552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1" i="0">
                <a:solidFill>
                  <a:srgbClr val="3E7A6D"/>
                </a:solidFill>
                <a:latin typeface="Calibri"/>
              </a:rPr>
              <a:t>0.55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919789" y="5538089"/>
            <a:ext cx="987552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Calibri"/>
              </a:rPr>
              <a:t>31.3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84950" y="5794121"/>
            <a:ext cx="1307592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222222"/>
                </a:solidFill>
                <a:latin typeface="Calibri"/>
              </a:rPr>
              <a:t>MotionStreamer</a:t>
            </a:r>
            <a:endParaRPr sz="1000" b="1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902270" y="5794121"/>
            <a:ext cx="850392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Calibri"/>
              </a:rPr>
              <a:t>.443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862390" y="5794121"/>
            <a:ext cx="850392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Calibri"/>
              </a:rPr>
              <a:t>.608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822509" y="5794121"/>
            <a:ext cx="987552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Calibri"/>
              </a:rPr>
              <a:t>0.61</a:t>
            </a:r>
            <a:endParaRPr sz="1000" b="1" i="0">
              <a:solidFill>
                <a:srgbClr val="3F7A4F"/>
              </a:solidFill>
              <a:latin typeface="Calibri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919789" y="5794121"/>
            <a:ext cx="987552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1" i="0">
                <a:solidFill>
                  <a:srgbClr val="3E7A6D"/>
                </a:solidFill>
                <a:latin typeface="Calibri"/>
              </a:rPr>
              <a:t>28.7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411798" y="6035040"/>
            <a:ext cx="5532120" cy="219456"/>
          </a:xfrm>
          <a:prstGeom prst="roundRect">
            <a:avLst>
              <a:gd name="adj" fmla="val 10000"/>
            </a:avLst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84950" y="6050153"/>
            <a:ext cx="1307592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222222"/>
                </a:solidFill>
                <a:latin typeface="Calibri"/>
              </a:rPr>
              <a:t>real motion (GT)</a:t>
            </a:r>
            <a:endParaRPr sz="1000" b="1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902270" y="6050153"/>
            <a:ext cx="850392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Calibri"/>
              </a:rPr>
              <a:t>.493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2862390" y="6050153"/>
            <a:ext cx="850392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Calibri"/>
              </a:rPr>
              <a:t>.708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822509" y="6050153"/>
            <a:ext cx="987552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Calibri"/>
              </a:rPr>
              <a:t>—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919789" y="6050153"/>
            <a:ext cx="987552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Calibri"/>
              </a:rPr>
              <a:t>—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6263958" y="3035808"/>
            <a:ext cx="5532120" cy="33192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73686" y="3099815"/>
            <a:ext cx="5312664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3D7068"/>
                </a:solidFill>
                <a:latin typeface="Calibri"/>
              </a:rPr>
              <a:t>CASE  ·  generated (left) vs motion capture (right)  ·  video</a:t>
            </a:r>
            <a:endParaRPr sz="1000" b="1" i="0">
              <a:solidFill>
                <a:srgbClr val="3D7068"/>
              </a:solidFill>
              <a:latin typeface="Calibri"/>
            </a:endParaRPr>
          </a:p>
        </p:txBody>
      </p:sp>
      <p:pic>
        <p:nvPicPr>
          <p:cNvPr id="67" name="body_instr_1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739128" y="3346704"/>
            <a:ext cx="4572000" cy="2750343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6373368" y="6126480"/>
            <a:ext cx="534924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800" b="0" i="0">
                <a:solidFill>
                  <a:srgbClr val="808080"/>
                </a:solidFill>
                <a:latin typeface="Calibri"/>
              </a:rPr>
              <a:t>video from an earlier checkpoint of the same model  ·  hand-picked</a:t>
            </a:r>
            <a:endParaRPr sz="800" b="0" i="0">
              <a:solidFill>
                <a:srgbClr val="80808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7"/>
                </p:tgtEl>
              </p:cMediaNode>
            </p:video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09600" y="152401"/>
            <a:ext cx="9906000" cy="685793"/>
          </a:xfrm>
          <a:prstGeom prst="rect">
            <a:avLst/>
          </a:prstGeom>
          <a:noFill/>
        </p:spPr>
        <p:txBody>
          <a:bodyPr wrap="square" lIns="91440" tIns="45720" rIns="91440" bIns="45720" anchor="b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+mj-lt"/>
                <a:ea typeface="+mj-ea"/>
              </a:rPr>
              <a:t>One body model: instructions + conversation</a:t>
            </a:r>
            <a:endParaRPr sz="2600" b="0">
              <a:solidFill>
                <a:srgbClr val="000000"/>
              </a:solidFill>
              <a:latin typeface="+mj-lt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64464" y="950000"/>
            <a:ext cx="11131614" cy="266065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  <a:latin typeface="Calibri"/>
              </a:rPr>
              <a:t>Same weights for both — each training row fills either the instruction slots or the speech slot</a:t>
            </a:r>
            <a:endParaRPr sz="15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11798" y="1298448"/>
            <a:ext cx="11384280" cy="1481328"/>
          </a:xfrm>
          <a:prstGeom prst="roundRect">
            <a:avLst>
              <a:gd name="adj" fmla="val 4000"/>
            </a:avLst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958" y="1335024"/>
            <a:ext cx="1828800" cy="1816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 b="1" i="0">
                <a:solidFill>
                  <a:srgbClr val="1F3A5F"/>
                </a:solidFill>
                <a:latin typeface="Calibri"/>
              </a:rPr>
              <a:t>MODEL SETUP</a:t>
            </a:r>
            <a:endParaRPr sz="950" b="1" i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38278" y="1389888"/>
            <a:ext cx="237744" cy="137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598" y="1325880"/>
            <a:ext cx="640080" cy="17399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Calibri"/>
              </a:rPr>
              <a:t>trained</a:t>
            </a:r>
            <a:endParaRPr sz="9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361238" y="1389888"/>
            <a:ext cx="237744" cy="137160"/>
          </a:xfrm>
          <a:prstGeom prst="roundRect">
            <a:avLst>
              <a:gd name="adj" fmla="val 10000"/>
            </a:avLst>
          </a:prstGeom>
          <a:solidFill>
            <a:srgbClr val="ECECEC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558" y="1325880"/>
            <a:ext cx="548640" cy="17399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Calibri"/>
              </a:rPr>
              <a:t>frozen</a:t>
            </a:r>
            <a:endParaRPr sz="9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48958" y="1627631"/>
            <a:ext cx="1600200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9C7A2B"/>
                </a:solidFill>
                <a:latin typeface="Calibri"/>
              </a:rPr>
              <a:t>Instruction row</a:t>
            </a:r>
            <a:endParaRPr sz="1000" b="1" i="0">
              <a:solidFill>
                <a:srgbClr val="9C7A2B"/>
              </a:solidFill>
              <a:latin typeface="Calibri"/>
            </a:endParaRPr>
          </a:p>
          <a:p>
            <a:pPr algn="ctr"/>
            <a:r>
              <a:rPr sz="800" b="0" i="0">
                <a:solidFill>
                  <a:srgbClr val="595959"/>
                </a:solidFill>
                <a:latin typeface="Calibri"/>
              </a:rPr>
              <a:t>plan + 7B state · own voice silent</a:t>
            </a:r>
            <a:endParaRPr sz="8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48958" y="2002536"/>
            <a:ext cx="1600200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35577A"/>
                </a:solidFill>
                <a:latin typeface="Calibri"/>
              </a:rPr>
              <a:t>Conversation row</a:t>
            </a:r>
            <a:endParaRPr sz="1000" b="1" i="0">
              <a:solidFill>
                <a:srgbClr val="35577A"/>
              </a:solidFill>
              <a:latin typeface="Calibri"/>
            </a:endParaRPr>
          </a:p>
          <a:p>
            <a:pPr algn="ctr"/>
            <a:r>
              <a:rPr sz="800" b="0" i="0">
                <a:solidFill>
                  <a:srgbClr val="595959"/>
                </a:solidFill>
                <a:latin typeface="Calibri"/>
              </a:rPr>
              <a:t>speech audio · no plan, no 7B</a:t>
            </a:r>
            <a:endParaRPr sz="8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48958" y="2377440"/>
            <a:ext cx="1600200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3D7068"/>
                </a:solidFill>
                <a:latin typeface="Calibri"/>
              </a:rPr>
              <a:t>Own past motion</a:t>
            </a:r>
            <a:endParaRPr sz="1000" b="1" i="0">
              <a:solidFill>
                <a:srgbClr val="3D7068"/>
              </a:solidFill>
              <a:latin typeface="Calibri"/>
            </a:endParaRPr>
          </a:p>
          <a:p>
            <a:pPr algn="ctr"/>
            <a:r>
              <a:rPr sz="800" b="0" i="0">
                <a:solidFill>
                  <a:srgbClr val="595959"/>
                </a:solidFill>
                <a:latin typeface="Calibri"/>
              </a:rPr>
              <a:t>last motion patch</a:t>
            </a:r>
            <a:endParaRPr sz="8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446338" y="1627631"/>
            <a:ext cx="1463040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9C7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9C7A2B"/>
                </a:solidFill>
                <a:latin typeface="Calibri"/>
              </a:rPr>
              <a:t>Plan encoder</a:t>
            </a:r>
            <a:endParaRPr sz="1000" b="1" i="0">
              <a:solidFill>
                <a:srgbClr val="9C7A2B"/>
              </a:solidFill>
              <a:latin typeface="Calibri"/>
            </a:endParaRPr>
          </a:p>
          <a:p>
            <a:pPr algn="ctr"/>
            <a:r>
              <a:rPr sz="800" b="0" i="0">
                <a:solidFill>
                  <a:srgbClr val="595959"/>
                </a:solidFill>
                <a:latin typeface="Calibri"/>
              </a:rPr>
              <a:t>+ adapter for the 7B state</a:t>
            </a:r>
            <a:endParaRPr sz="8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446338" y="2002536"/>
            <a:ext cx="1463040" cy="310896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222222"/>
                </a:solidFill>
                <a:latin typeface="Calibri"/>
              </a:rPr>
              <a:t>Audio codec</a:t>
            </a:r>
            <a:endParaRPr sz="1000" b="1" i="0">
              <a:solidFill>
                <a:srgbClr val="222222"/>
              </a:solidFill>
              <a:latin typeface="Calibri"/>
            </a:endParaRPr>
          </a:p>
          <a:p>
            <a:pPr algn="ctr"/>
            <a:r>
              <a:rPr sz="800" b="0" i="0">
                <a:solidFill>
                  <a:srgbClr val="595959"/>
                </a:solidFill>
                <a:latin typeface="Calibri"/>
              </a:rPr>
              <a:t>Mimi</a:t>
            </a:r>
            <a:endParaRPr sz="8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446338" y="2377440"/>
            <a:ext cx="1463040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3D7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3D7068"/>
                </a:solidFill>
                <a:latin typeface="Calibri"/>
              </a:rPr>
              <a:t>History encoder</a:t>
            </a:r>
            <a:endParaRPr sz="1000" b="1" i="0">
              <a:solidFill>
                <a:srgbClr val="3D7068"/>
              </a:solidFill>
              <a:latin typeface="Calibri"/>
            </a:endParaRPr>
          </a:p>
          <a:p>
            <a:pPr algn="ctr"/>
            <a:r>
              <a:rPr sz="800" b="0" i="0">
                <a:solidFill>
                  <a:srgbClr val="595959"/>
                </a:solidFill>
                <a:latin typeface="Calibri"/>
              </a:rPr>
              <a:t>6 layers</a:t>
            </a:r>
            <a:endParaRPr sz="800" b="0" i="0">
              <a:solidFill>
                <a:srgbClr val="595959"/>
              </a:solidFill>
              <a:latin typeface="Calibri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2149158" y="1783079"/>
            <a:ext cx="297180" cy="0"/>
          </a:xfrm>
          <a:prstGeom prst="line">
            <a:avLst/>
          </a:prstGeom>
          <a:ln w="1397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149158" y="2157984"/>
            <a:ext cx="297180" cy="0"/>
          </a:xfrm>
          <a:prstGeom prst="line">
            <a:avLst/>
          </a:prstGeom>
          <a:ln w="1397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149158" y="2532888"/>
            <a:ext cx="297180" cy="0"/>
          </a:xfrm>
          <a:prstGeom prst="line">
            <a:avLst/>
          </a:prstGeom>
          <a:ln w="1397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206558" y="1883664"/>
            <a:ext cx="141732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8E3B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8E3B46"/>
                </a:solidFill>
                <a:latin typeface="Calibri"/>
              </a:rPr>
              <a:t>Motion generator</a:t>
            </a:r>
            <a:endParaRPr sz="1050" b="1" i="0">
              <a:solidFill>
                <a:srgbClr val="8E3B46"/>
              </a:solidFill>
              <a:latin typeface="Calibri"/>
            </a:endParaRPr>
          </a:p>
          <a:p>
            <a:pPr algn="ctr"/>
            <a:r>
              <a:rPr sz="850" b="0" i="0">
                <a:solidFill>
                  <a:srgbClr val="595959"/>
                </a:solidFill>
                <a:latin typeface="Calibri"/>
              </a:rPr>
              <a:t>4-layer causal trunk</a:t>
            </a:r>
            <a:endParaRPr sz="850" b="0" i="0">
              <a:solidFill>
                <a:srgbClr val="595959"/>
              </a:solidFill>
              <a:latin typeface="Calibri"/>
            </a:endParaRPr>
          </a:p>
          <a:p>
            <a:pPr algn="ctr"/>
            <a:r>
              <a:rPr sz="850" b="0" i="0">
                <a:solidFill>
                  <a:srgbClr val="595959"/>
                </a:solidFill>
                <a:latin typeface="Calibri"/>
              </a:rPr>
              <a:t>+ diffusion head</a:t>
            </a:r>
            <a:endParaRPr sz="850" b="0" i="0">
              <a:solidFill>
                <a:srgbClr val="595959"/>
              </a:solidFill>
              <a:latin typeface="Calibri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909378" y="1783079"/>
            <a:ext cx="133731" cy="0"/>
          </a:xfrm>
          <a:prstGeom prst="line">
            <a:avLst/>
          </a:prstGeom>
          <a:ln w="1270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909378" y="2157984"/>
            <a:ext cx="133731" cy="0"/>
          </a:xfrm>
          <a:prstGeom prst="line">
            <a:avLst/>
          </a:prstGeom>
          <a:ln w="1270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909378" y="2532888"/>
            <a:ext cx="133731" cy="0"/>
          </a:xfrm>
          <a:prstGeom prst="line">
            <a:avLst/>
          </a:prstGeom>
          <a:ln w="1270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043109" y="1783079"/>
            <a:ext cx="0" cy="749809"/>
          </a:xfrm>
          <a:prstGeom prst="line">
            <a:avLst/>
          </a:prstGeom>
          <a:ln w="1270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043109" y="2157984"/>
            <a:ext cx="163449" cy="0"/>
          </a:xfrm>
          <a:prstGeom prst="line">
            <a:avLst/>
          </a:prstGeom>
          <a:ln w="1397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921058" y="1883664"/>
            <a:ext cx="1051560" cy="5486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222222"/>
                </a:solidFill>
                <a:latin typeface="Calibri"/>
              </a:rPr>
              <a:t>Body VAE</a:t>
            </a:r>
            <a:endParaRPr sz="1050" b="1" i="0">
              <a:solidFill>
                <a:srgbClr val="222222"/>
              </a:solidFill>
              <a:latin typeface="Calibri"/>
            </a:endParaRPr>
          </a:p>
          <a:p>
            <a:pPr algn="ctr"/>
            <a:r>
              <a:rPr sz="1050" b="1" i="0">
                <a:solidFill>
                  <a:srgbClr val="222222"/>
                </a:solidFill>
                <a:latin typeface="Calibri"/>
              </a:rPr>
              <a:t>decoder</a:t>
            </a:r>
            <a:endParaRPr sz="1050" b="1" i="0">
              <a:solidFill>
                <a:srgbClr val="222222"/>
              </a:solidFill>
              <a:latin typeface="Calibri"/>
            </a:endParaRPr>
          </a:p>
          <a:p>
            <a:pPr algn="ctr"/>
            <a:r>
              <a:rPr sz="850" b="0" i="0">
                <a:solidFill>
                  <a:srgbClr val="595959"/>
                </a:solidFill>
                <a:latin typeface="Calibri"/>
              </a:rPr>
              <a:t>48-d · 6.25 Hz</a:t>
            </a:r>
            <a:endParaRPr sz="850" b="0" i="0">
              <a:solidFill>
                <a:srgbClr val="595959"/>
              </a:solidFill>
              <a:latin typeface="Calibri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5623878" y="2157984"/>
            <a:ext cx="297180" cy="0"/>
          </a:xfrm>
          <a:prstGeom prst="line">
            <a:avLst/>
          </a:prstGeom>
          <a:ln w="1397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269798" y="1883664"/>
            <a:ext cx="68580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3D7068"/>
                </a:solidFill>
                <a:latin typeface="Calibri"/>
              </a:rPr>
              <a:t>Body</a:t>
            </a:r>
            <a:endParaRPr sz="1050" b="1" i="0">
              <a:solidFill>
                <a:srgbClr val="3D7068"/>
              </a:solidFill>
              <a:latin typeface="Calibri"/>
            </a:endParaRPr>
          </a:p>
          <a:p>
            <a:pPr algn="ctr"/>
            <a:r>
              <a:rPr sz="850" b="0" i="0">
                <a:solidFill>
                  <a:srgbClr val="595959"/>
                </a:solidFill>
                <a:latin typeface="Calibri"/>
              </a:rPr>
              <a:t>SMPL-H</a:t>
            </a:r>
            <a:endParaRPr sz="850" b="0" i="0">
              <a:solidFill>
                <a:srgbClr val="595959"/>
              </a:solidFill>
              <a:latin typeface="Calibri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6972618" y="2157984"/>
            <a:ext cx="297180" cy="0"/>
          </a:xfrm>
          <a:prstGeom prst="line">
            <a:avLst/>
          </a:prstGeom>
          <a:ln w="1397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8111045" y="1426464"/>
            <a:ext cx="10972" cy="122529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918" y="1488567"/>
            <a:ext cx="3474719" cy="110109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sz="900" b="1" i="0">
                <a:solidFill>
                  <a:srgbClr val="1F3A5F"/>
                </a:solidFill>
                <a:latin typeface="Calibri"/>
              </a:rPr>
              <a:t>Switching  </a:t>
            </a:r>
            <a:r>
              <a:rPr sz="900" b="0" i="0">
                <a:solidFill>
                  <a:srgbClr val="222222"/>
                </a:solidFill>
                <a:latin typeface="Calibri"/>
              </a:rPr>
              <a:t>by which slots a row fills — no task flag, no extra module</a:t>
            </a:r>
            <a:endParaRPr sz="900" b="0" i="0">
              <a:solidFill>
                <a:srgbClr val="222222"/>
              </a:solidFill>
              <a:latin typeface="Calibri"/>
            </a:endParaRPr>
          </a:p>
          <a:p>
            <a:pPr algn="l">
              <a:spcAft>
                <a:spcPts val="250"/>
              </a:spcAft>
            </a:pPr>
            <a:r>
              <a:rPr sz="900" b="1" i="0">
                <a:solidFill>
                  <a:srgbClr val="1F3A5F"/>
                </a:solidFill>
                <a:latin typeface="Calibri"/>
              </a:rPr>
              <a:t>Trained  </a:t>
            </a:r>
            <a:r>
              <a:rPr sz="900" b="0" i="0">
                <a:solidFill>
                  <a:srgbClr val="222222"/>
                </a:solidFill>
                <a:latin typeface="Calibri"/>
              </a:rPr>
              <a:t>the whole generator, from scratch · frozen: the 7B (states precomputed), codec, VAEs</a:t>
            </a:r>
            <a:endParaRPr sz="900" b="0" i="0">
              <a:solidFill>
                <a:srgbClr val="222222"/>
              </a:solidFill>
              <a:latin typeface="Calibri"/>
            </a:endParaRPr>
          </a:p>
          <a:p>
            <a:pPr algn="l">
              <a:spcAft>
                <a:spcPts val="250"/>
              </a:spcAft>
            </a:pPr>
            <a:r>
              <a:rPr sz="900" b="1" i="0">
                <a:solidFill>
                  <a:srgbClr val="1F3A5F"/>
                </a:solidFill>
                <a:latin typeface="Calibri"/>
              </a:rPr>
              <a:t>Recipe  </a:t>
            </a:r>
            <a:r>
              <a:rPr sz="900" b="0" i="0">
                <a:solidFill>
                  <a:srgbClr val="222222"/>
                </a:solidFill>
                <a:latin typeface="Calibri"/>
              </a:rPr>
              <a:t>instruction-only stages first, then a last stage with instruction : conversation = 2 : 1</a:t>
            </a:r>
            <a:endParaRPr sz="9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11798" y="2852928"/>
            <a:ext cx="5669280" cy="2197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The joint stage  ·  conversation body FGD ↓  (Mosaic test)</a:t>
            </a:r>
            <a:endParaRPr sz="1200" b="1" i="0">
              <a:solidFill>
                <a:srgbClr val="1F3A5F"/>
              </a:solidFill>
              <a:latin typeface="Calibri"/>
            </a:endParaRPr>
          </a:p>
        </p:txBody>
      </p:sp>
      <p:graphicFrame>
        <p:nvGraphicFramePr>
          <p:cNvPr id="37" name="Chart 36"/>
          <p:cNvGraphicFramePr>
            <a:graphicFrameLocks noGrp="1"/>
          </p:cNvGraphicFramePr>
          <p:nvPr/>
        </p:nvGraphicFramePr>
        <p:xfrm>
          <a:off x="320358" y="3054096"/>
          <a:ext cx="5760720" cy="11704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411798" y="4261104"/>
            <a:ext cx="5669280" cy="2197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Instruction following holds  ·  HumanML3D test, 512 clips  ·  R1 ↑</a:t>
            </a:r>
            <a:endParaRPr sz="1200" b="1" i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66662" y="4526026"/>
            <a:ext cx="1325880" cy="173990"/>
          </a:xfrm>
          <a:prstGeom prst="rect">
            <a:avLst/>
          </a:prstGeom>
          <a:noFill/>
        </p:spPr>
        <p:txBody>
          <a:bodyPr wrap="square" lIns="36576" tIns="18288" rIns="36576" bIns="18288" anchor="b">
            <a:spAutoFit/>
          </a:bodyPr>
          <a:lstStyle/>
          <a:p>
            <a:pPr algn="l"/>
            <a:endParaRPr sz="900" b="1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883664" y="4526026"/>
            <a:ext cx="868680" cy="173990"/>
          </a:xfrm>
          <a:prstGeom prst="rect">
            <a:avLst/>
          </a:prstGeom>
          <a:noFill/>
        </p:spPr>
        <p:txBody>
          <a:bodyPr wrap="square" lIns="36576" tIns="18288" rIns="36576" bIns="18288" anchor="b">
            <a:spAutoFit/>
          </a:bodyPr>
          <a:lstStyle/>
          <a:p>
            <a:pPr algn="ctr"/>
            <a:r>
              <a:rPr sz="900" b="1" i="0">
                <a:solidFill>
                  <a:srgbClr val="595959"/>
                </a:solidFill>
                <a:latin typeface="Calibri"/>
              </a:rPr>
              <a:t>instr. only ‡</a:t>
            </a:r>
            <a:endParaRPr sz="900" b="1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843784" y="4526026"/>
            <a:ext cx="868680" cy="173990"/>
          </a:xfrm>
          <a:prstGeom prst="rect">
            <a:avLst/>
          </a:prstGeom>
          <a:noFill/>
        </p:spPr>
        <p:txBody>
          <a:bodyPr wrap="square" lIns="36576" tIns="18288" rIns="36576" bIns="18288" anchor="b">
            <a:spAutoFit/>
          </a:bodyPr>
          <a:lstStyle/>
          <a:p>
            <a:pPr algn="ctr"/>
            <a:r>
              <a:rPr sz="900" b="1" i="0">
                <a:solidFill>
                  <a:srgbClr val="595959"/>
                </a:solidFill>
                <a:latin typeface="Calibri"/>
              </a:rPr>
              <a:t>5 k</a:t>
            </a:r>
            <a:endParaRPr sz="900" b="1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803904" y="4526026"/>
            <a:ext cx="868680" cy="173990"/>
          </a:xfrm>
          <a:prstGeom prst="rect">
            <a:avLst/>
          </a:prstGeom>
          <a:noFill/>
        </p:spPr>
        <p:txBody>
          <a:bodyPr wrap="square" lIns="36576" tIns="18288" rIns="36576" bIns="18288" anchor="b">
            <a:spAutoFit/>
          </a:bodyPr>
          <a:lstStyle/>
          <a:p>
            <a:pPr algn="ctr"/>
            <a:r>
              <a:rPr sz="900" b="1" i="0">
                <a:solidFill>
                  <a:srgbClr val="3E7A6D"/>
                </a:solidFill>
                <a:latin typeface="Calibri"/>
              </a:rPr>
              <a:t>10 k ★</a:t>
            </a:r>
            <a:endParaRPr sz="900" b="1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764024" y="4526026"/>
            <a:ext cx="868680" cy="173990"/>
          </a:xfrm>
          <a:prstGeom prst="rect">
            <a:avLst/>
          </a:prstGeom>
          <a:noFill/>
        </p:spPr>
        <p:txBody>
          <a:bodyPr wrap="square" lIns="36576" tIns="18288" rIns="36576" bIns="18288" anchor="b">
            <a:spAutoFit/>
          </a:bodyPr>
          <a:lstStyle/>
          <a:p>
            <a:pPr algn="ctr"/>
            <a:r>
              <a:rPr sz="900" b="1" i="0">
                <a:solidFill>
                  <a:srgbClr val="595959"/>
                </a:solidFill>
                <a:latin typeface="Calibri"/>
              </a:rPr>
              <a:t>real (GT)</a:t>
            </a:r>
            <a:endParaRPr sz="900" b="1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11798" y="4727448"/>
            <a:ext cx="5266944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11798" y="4773168"/>
            <a:ext cx="5266944" cy="274320"/>
          </a:xfrm>
          <a:prstGeom prst="roundRect">
            <a:avLst>
              <a:gd name="adj" fmla="val 10000"/>
            </a:avLst>
          </a:prstGeom>
          <a:solidFill>
            <a:srgbClr val="EE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4950" y="4811903"/>
            <a:ext cx="1307592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Calibri"/>
              </a:rPr>
              <a:t>Guo R1</a:t>
            </a:r>
            <a:endParaRPr sz="1050" b="1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883664" y="4811903"/>
            <a:ext cx="868680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  <a:latin typeface="Calibri"/>
              </a:rPr>
              <a:t>.473</a:t>
            </a:r>
            <a:endParaRPr sz="105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843784" y="4811903"/>
            <a:ext cx="868680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  <a:latin typeface="Calibri"/>
              </a:rPr>
              <a:t>.459</a:t>
            </a:r>
            <a:endParaRPr sz="105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803904" y="4811903"/>
            <a:ext cx="868680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50" b="1" i="0">
                <a:solidFill>
                  <a:srgbClr val="3E7A6D"/>
                </a:solidFill>
                <a:latin typeface="Calibri"/>
              </a:rPr>
              <a:t>.471</a:t>
            </a:r>
            <a:endParaRPr sz="105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764024" y="4811903"/>
            <a:ext cx="868680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  <a:latin typeface="Calibri"/>
              </a:rPr>
              <a:t>.493</a:t>
            </a:r>
            <a:endParaRPr sz="105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411798" y="5084064"/>
            <a:ext cx="5266944" cy="274320"/>
          </a:xfrm>
          <a:prstGeom prst="roundRect">
            <a:avLst>
              <a:gd name="adj" fmla="val 10000"/>
            </a:avLst>
          </a:prstGeom>
          <a:solidFill>
            <a:srgbClr val="EE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4950" y="5122799"/>
            <a:ext cx="1307592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Calibri"/>
              </a:rPr>
              <a:t>MS R1</a:t>
            </a:r>
            <a:endParaRPr sz="1050" b="1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883664" y="5122799"/>
            <a:ext cx="868680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  <a:latin typeface="Calibri"/>
              </a:rPr>
              <a:t>.637</a:t>
            </a:r>
            <a:endParaRPr sz="105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843784" y="5122799"/>
            <a:ext cx="868680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  <a:latin typeface="Calibri"/>
              </a:rPr>
              <a:t>.637</a:t>
            </a:r>
            <a:endParaRPr sz="105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803904" y="5122799"/>
            <a:ext cx="868680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50" b="1" i="0">
                <a:solidFill>
                  <a:srgbClr val="3E7A6D"/>
                </a:solidFill>
                <a:latin typeface="Calibri"/>
              </a:rPr>
              <a:t>.649</a:t>
            </a:r>
            <a:endParaRPr sz="105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764024" y="5122799"/>
            <a:ext cx="868680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  <a:latin typeface="Calibri"/>
              </a:rPr>
              <a:t>.708</a:t>
            </a:r>
            <a:endParaRPr sz="105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11798" y="5468112"/>
            <a:ext cx="5669280" cy="3429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Adding conversation keeps instruction R1 at the level of the best instruction-only model, while conversation body FGD reaches about 16</a:t>
            </a:r>
            <a:endParaRPr sz="10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6263958" y="2898648"/>
            <a:ext cx="5532120" cy="19385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73686" y="2962656"/>
            <a:ext cx="5303520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3D7068"/>
                </a:solidFill>
                <a:latin typeface="Calibri"/>
              </a:rPr>
              <a:t>CASE  ·  speech in, body out  ·  video</a:t>
            </a:r>
            <a:endParaRPr sz="1000" b="1" i="0">
              <a:solidFill>
                <a:srgbClr val="3D7068"/>
              </a:solidFill>
              <a:latin typeface="Calibri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9235440" y="3200400"/>
            <a:ext cx="2514600" cy="1554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595959"/>
                </a:solidFill>
                <a:latin typeface="Calibri"/>
              </a:rPr>
              <a:t>Input</a:t>
            </a:r>
            <a:endParaRPr sz="950" b="1" i="0">
              <a:solidFill>
                <a:srgbClr val="595959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20 s of one side of a real conversation — audio only</a:t>
            </a:r>
            <a:endParaRPr sz="1000" b="0" i="0">
              <a:solidFill>
                <a:srgbClr val="222222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595959"/>
                </a:solidFill>
                <a:latin typeface="Calibri"/>
              </a:rPr>
              <a:t>Note</a:t>
            </a:r>
            <a:endParaRPr sz="950" b="1" i="0">
              <a:solidFill>
                <a:srgbClr val="595959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same clip and time steps · ours gestures more than real speakers in many clips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263958" y="4919472"/>
            <a:ext cx="5532120" cy="2197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What we learned</a:t>
            </a:r>
            <a:endParaRPr sz="1200" b="1" i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6282246" y="5230368"/>
            <a:ext cx="237744" cy="237744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  <a:endParaRPr sz="10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6583998" y="5175504"/>
            <a:ext cx="5212080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222222"/>
                </a:solidFill>
                <a:latin typeface="Calibri"/>
              </a:rPr>
              <a:t>Order matters  </a:t>
            </a:r>
            <a:r>
              <a:rPr sz="1000" b="0" i="0">
                <a:solidFill>
                  <a:srgbClr val="595959"/>
                </a:solidFill>
                <a:latin typeface="Calibri"/>
              </a:rPr>
              <a:t>an instruction-only last stage undoes it: FGD ~9 → 23–34, same R1</a:t>
            </a:r>
            <a:endParaRPr sz="10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73" name="Oval 72"/>
          <p:cNvSpPr/>
          <p:nvPr/>
        </p:nvSpPr>
        <p:spPr>
          <a:xfrm>
            <a:off x="6282246" y="5550407"/>
            <a:ext cx="237744" cy="237744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  <a:endParaRPr sz="10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583998" y="5495544"/>
            <a:ext cx="5212080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222222"/>
                </a:solidFill>
                <a:latin typeface="Calibri"/>
              </a:rPr>
              <a:t>Joint from the start  </a:t>
            </a:r>
            <a:r>
              <a:rPr sz="1000" b="0" i="0">
                <a:solidFill>
                  <a:srgbClr val="595959"/>
                </a:solidFill>
                <a:latin typeface="Calibri"/>
              </a:rPr>
              <a:t>best FGD (~8), but HumanML3D R1 only ≤ .36 / .59</a:t>
            </a:r>
            <a:endParaRPr sz="10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75" name="Oval 74"/>
          <p:cNvSpPr/>
          <p:nvPr/>
        </p:nvSpPr>
        <p:spPr>
          <a:xfrm>
            <a:off x="6282246" y="5870447"/>
            <a:ext cx="237744" cy="237744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  <a:endParaRPr sz="10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583998" y="5815583"/>
            <a:ext cx="5212080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222222"/>
                </a:solidFill>
                <a:latin typeface="Calibri"/>
              </a:rPr>
              <a:t>Mix ratio  </a:t>
            </a:r>
            <a:r>
              <a:rPr sz="1000" b="0" i="0">
                <a:solidFill>
                  <a:srgbClr val="595959"/>
                </a:solidFill>
                <a:latin typeface="Calibri"/>
              </a:rPr>
              <a:t>2 : 1 = 7 : 3 · weighting the loss by data source is worse</a:t>
            </a:r>
            <a:endParaRPr sz="10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411798" y="6144768"/>
            <a:ext cx="11384280" cy="17399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Calibri"/>
              </a:rPr>
              <a:t>One seed  ·  ★ chosen checkpoint  ·  ‡ best instruction-only model (no conversation)  ·  FGD swings between checkpoints  ·  video from an earlier checkpoint of the same line</a:t>
            </a:r>
            <a:endParaRPr sz="900" b="0" i="0">
              <a:solidFill>
                <a:srgbClr val="595959"/>
              </a:solidFill>
              <a:latin typeface="Calibri"/>
            </a:endParaRPr>
          </a:p>
        </p:txBody>
      </p:sp>
      <p:pic>
        <p:nvPicPr>
          <p:cNvPr id="78" name="body_speech_1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373368" y="3172968"/>
            <a:ext cx="2765047" cy="16093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8"/>
                </p:tgtEl>
              </p:cMediaNode>
            </p:video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09600" y="152401"/>
            <a:ext cx="9906000" cy="685793"/>
          </a:xfrm>
          <a:prstGeom prst="rect">
            <a:avLst/>
          </a:prstGeom>
          <a:noFill/>
        </p:spPr>
        <p:txBody>
          <a:bodyPr wrap="square" lIns="91440" tIns="45720" rIns="91440" bIns="45720" anchor="b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+mj-lt"/>
                <a:ea typeface="+mj-ea"/>
              </a:rPr>
              <a:t>Talking face from speech</a:t>
            </a:r>
            <a:endParaRPr sz="2800" b="0">
              <a:solidFill>
                <a:srgbClr val="000000"/>
              </a:solidFill>
              <a:latin typeface="+mj-lt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64464" y="950000"/>
            <a:ext cx="11131614" cy="266065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  <a:latin typeface="Calibri"/>
              </a:rPr>
              <a:t>The most natural face of our real-time models; lip sync is still the main gap</a:t>
            </a:r>
            <a:endParaRPr sz="15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11798" y="1298448"/>
            <a:ext cx="11384280" cy="1481328"/>
          </a:xfrm>
          <a:prstGeom prst="roundRect">
            <a:avLst>
              <a:gd name="adj" fmla="val 4000"/>
            </a:avLst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958" y="1335024"/>
            <a:ext cx="1828800" cy="1816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 b="1" i="0">
                <a:solidFill>
                  <a:srgbClr val="1F3A5F"/>
                </a:solidFill>
                <a:latin typeface="Calibri"/>
              </a:rPr>
              <a:t>MODEL SETUP</a:t>
            </a:r>
            <a:endParaRPr sz="950" b="1" i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38278" y="1389888"/>
            <a:ext cx="237744" cy="137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598" y="1325880"/>
            <a:ext cx="640080" cy="17399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Calibri"/>
              </a:rPr>
              <a:t>trained</a:t>
            </a:r>
            <a:endParaRPr sz="9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361238" y="1389888"/>
            <a:ext cx="237744" cy="137160"/>
          </a:xfrm>
          <a:prstGeom prst="roundRect">
            <a:avLst>
              <a:gd name="adj" fmla="val 10000"/>
            </a:avLst>
          </a:prstGeom>
          <a:solidFill>
            <a:srgbClr val="ECECEC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558" y="1325880"/>
            <a:ext cx="548640" cy="17399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Calibri"/>
              </a:rPr>
              <a:t>frozen</a:t>
            </a:r>
            <a:endParaRPr sz="9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48958" y="1627631"/>
            <a:ext cx="1463040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35577A"/>
                </a:solidFill>
                <a:latin typeface="Calibri"/>
              </a:rPr>
              <a:t>Both voices</a:t>
            </a:r>
            <a:endParaRPr sz="1000" b="1" i="0">
              <a:solidFill>
                <a:srgbClr val="35577A"/>
              </a:solidFill>
              <a:latin typeface="Calibri"/>
            </a:endParaRPr>
          </a:p>
          <a:p>
            <a:pPr algn="ctr"/>
            <a:r>
              <a:rPr sz="800" b="0" i="0">
                <a:solidFill>
                  <a:srgbClr val="595959"/>
                </a:solidFill>
                <a:latin typeface="Calibri"/>
              </a:rPr>
              <a:t>the live conversation</a:t>
            </a:r>
            <a:endParaRPr sz="8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48958" y="2002536"/>
            <a:ext cx="1463040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35577A"/>
                </a:solidFill>
                <a:latin typeface="Calibri"/>
              </a:rPr>
              <a:t>Own speech</a:t>
            </a:r>
            <a:endParaRPr sz="1000" b="1" i="0">
              <a:solidFill>
                <a:srgbClr val="35577A"/>
              </a:solidFill>
              <a:latin typeface="Calibri"/>
            </a:endParaRPr>
          </a:p>
          <a:p>
            <a:pPr algn="ctr"/>
            <a:r>
              <a:rPr sz="800" b="0" i="0">
                <a:solidFill>
                  <a:srgbClr val="595959"/>
                </a:solidFill>
                <a:latin typeface="Calibri"/>
              </a:rPr>
              <a:t>what the agent is saying</a:t>
            </a:r>
            <a:endParaRPr sz="8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48958" y="2377440"/>
            <a:ext cx="1463040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B0573A"/>
                </a:solidFill>
                <a:latin typeface="Calibri"/>
              </a:rPr>
              <a:t>Own past face</a:t>
            </a:r>
            <a:endParaRPr sz="1000" b="1" i="0">
              <a:solidFill>
                <a:srgbClr val="B0573A"/>
              </a:solidFill>
              <a:latin typeface="Calibri"/>
            </a:endParaRPr>
          </a:p>
          <a:p>
            <a:pPr algn="ctr"/>
            <a:r>
              <a:rPr sz="800" b="0" i="0">
                <a:solidFill>
                  <a:srgbClr val="595959"/>
                </a:solidFill>
                <a:latin typeface="Calibri"/>
              </a:rPr>
              <a:t>last face patch</a:t>
            </a:r>
            <a:endParaRPr sz="8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343468" y="1627631"/>
            <a:ext cx="1463040" cy="310896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222222"/>
                </a:solidFill>
                <a:latin typeface="Calibri"/>
              </a:rPr>
              <a:t>7B speech LM</a:t>
            </a:r>
            <a:endParaRPr sz="1000" b="1" i="0">
              <a:solidFill>
                <a:srgbClr val="222222"/>
              </a:solidFill>
              <a:latin typeface="Calibri"/>
            </a:endParaRPr>
          </a:p>
          <a:p>
            <a:pPr algn="ctr"/>
            <a:r>
              <a:rPr sz="800" b="0" i="0">
                <a:solidFill>
                  <a:srgbClr val="595959"/>
                </a:solidFill>
                <a:latin typeface="Calibri"/>
              </a:rPr>
              <a:t>PersonaPlex · 4096-d state</a:t>
            </a:r>
            <a:endParaRPr sz="8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343468" y="2002536"/>
            <a:ext cx="1463040" cy="310896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222222"/>
                </a:solidFill>
                <a:latin typeface="Calibri"/>
              </a:rPr>
              <a:t>Audio codec</a:t>
            </a:r>
            <a:endParaRPr sz="1000" b="1" i="0">
              <a:solidFill>
                <a:srgbClr val="222222"/>
              </a:solidFill>
              <a:latin typeface="Calibri"/>
            </a:endParaRPr>
          </a:p>
          <a:p>
            <a:pPr algn="ctr"/>
            <a:r>
              <a:rPr sz="800" b="0" i="0">
                <a:solidFill>
                  <a:srgbClr val="595959"/>
                </a:solidFill>
                <a:latin typeface="Calibri"/>
              </a:rPr>
              <a:t>Mimi · 8 codebooks</a:t>
            </a:r>
            <a:endParaRPr sz="8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343468" y="2377440"/>
            <a:ext cx="1463040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B057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B0573A"/>
                </a:solidFill>
                <a:latin typeface="Calibri"/>
              </a:rPr>
              <a:t>History encoder</a:t>
            </a:r>
            <a:endParaRPr sz="1000" b="1" i="0">
              <a:solidFill>
                <a:srgbClr val="B0573A"/>
              </a:solidFill>
              <a:latin typeface="Calibri"/>
            </a:endParaRPr>
          </a:p>
          <a:p>
            <a:pPr algn="ctr"/>
            <a:r>
              <a:rPr sz="800" b="0" i="0">
                <a:solidFill>
                  <a:srgbClr val="595959"/>
                </a:solidFill>
                <a:latin typeface="Calibri"/>
              </a:rPr>
              <a:t>6 layers</a:t>
            </a:r>
            <a:endParaRPr sz="800" b="0" i="0">
              <a:solidFill>
                <a:srgbClr val="595959"/>
              </a:solidFill>
              <a:latin typeface="Calibri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2011998" y="1783079"/>
            <a:ext cx="331470" cy="0"/>
          </a:xfrm>
          <a:prstGeom prst="line">
            <a:avLst/>
          </a:prstGeom>
          <a:ln w="1397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011998" y="2157984"/>
            <a:ext cx="331470" cy="0"/>
          </a:xfrm>
          <a:prstGeom prst="line">
            <a:avLst/>
          </a:prstGeom>
          <a:ln w="1397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011998" y="2532888"/>
            <a:ext cx="331470" cy="0"/>
          </a:xfrm>
          <a:prstGeom prst="line">
            <a:avLst/>
          </a:prstGeom>
          <a:ln w="1397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137978" y="1883664"/>
            <a:ext cx="141732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8E3B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8E3B46"/>
                </a:solidFill>
                <a:latin typeface="Calibri"/>
              </a:rPr>
              <a:t>Face generator</a:t>
            </a:r>
            <a:endParaRPr sz="1050" b="1" i="0">
              <a:solidFill>
                <a:srgbClr val="8E3B46"/>
              </a:solidFill>
              <a:latin typeface="Calibri"/>
            </a:endParaRPr>
          </a:p>
          <a:p>
            <a:pPr algn="ctr"/>
            <a:r>
              <a:rPr sz="850" b="0" i="0">
                <a:solidFill>
                  <a:srgbClr val="595959"/>
                </a:solidFill>
                <a:latin typeface="Calibri"/>
              </a:rPr>
              <a:t>4-layer causal trunk</a:t>
            </a:r>
            <a:endParaRPr sz="850" b="0" i="0">
              <a:solidFill>
                <a:srgbClr val="595959"/>
              </a:solidFill>
              <a:latin typeface="Calibri"/>
            </a:endParaRPr>
          </a:p>
          <a:p>
            <a:pPr algn="ctr"/>
            <a:r>
              <a:rPr sz="850" b="0" i="0">
                <a:solidFill>
                  <a:srgbClr val="595959"/>
                </a:solidFill>
                <a:latin typeface="Calibri"/>
              </a:rPr>
              <a:t>+ diffusion head</a:t>
            </a:r>
            <a:endParaRPr sz="850" b="0" i="0">
              <a:solidFill>
                <a:srgbClr val="595959"/>
              </a:solidFill>
              <a:latin typeface="Calibri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806508" y="1783079"/>
            <a:ext cx="149161" cy="0"/>
          </a:xfrm>
          <a:prstGeom prst="line">
            <a:avLst/>
          </a:prstGeom>
          <a:ln w="1270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806508" y="2157984"/>
            <a:ext cx="149161" cy="0"/>
          </a:xfrm>
          <a:prstGeom prst="line">
            <a:avLst/>
          </a:prstGeom>
          <a:ln w="1270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806508" y="2532888"/>
            <a:ext cx="149161" cy="0"/>
          </a:xfrm>
          <a:prstGeom prst="line">
            <a:avLst/>
          </a:prstGeom>
          <a:ln w="1270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955669" y="1783079"/>
            <a:ext cx="0" cy="749809"/>
          </a:xfrm>
          <a:prstGeom prst="line">
            <a:avLst/>
          </a:prstGeom>
          <a:ln w="1270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955669" y="2157984"/>
            <a:ext cx="182309" cy="0"/>
          </a:xfrm>
          <a:prstGeom prst="line">
            <a:avLst/>
          </a:prstGeom>
          <a:ln w="1397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886768" y="1883664"/>
            <a:ext cx="1051560" cy="5486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222222"/>
                </a:solidFill>
                <a:latin typeface="Calibri"/>
              </a:rPr>
              <a:t>Face VAE</a:t>
            </a:r>
            <a:endParaRPr sz="1050" b="1" i="0">
              <a:solidFill>
                <a:srgbClr val="222222"/>
              </a:solidFill>
              <a:latin typeface="Calibri"/>
            </a:endParaRPr>
          </a:p>
          <a:p>
            <a:pPr algn="ctr"/>
            <a:r>
              <a:rPr sz="1050" b="1" i="0">
                <a:solidFill>
                  <a:srgbClr val="222222"/>
                </a:solidFill>
                <a:latin typeface="Calibri"/>
              </a:rPr>
              <a:t>decoder</a:t>
            </a:r>
            <a:endParaRPr sz="1050" b="1" i="0">
              <a:solidFill>
                <a:srgbClr val="222222"/>
              </a:solidFill>
              <a:latin typeface="Calibri"/>
            </a:endParaRPr>
          </a:p>
          <a:p>
            <a:pPr algn="ctr"/>
            <a:r>
              <a:rPr sz="850" b="0" i="0">
                <a:solidFill>
                  <a:srgbClr val="595959"/>
                </a:solidFill>
                <a:latin typeface="Calibri"/>
              </a:rPr>
              <a:t>16-d · 6.25 Hz</a:t>
            </a:r>
            <a:endParaRPr sz="850" b="0" i="0">
              <a:solidFill>
                <a:srgbClr val="595959"/>
              </a:solidFill>
              <a:latin typeface="Calibri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5555298" y="2157984"/>
            <a:ext cx="331470" cy="0"/>
          </a:xfrm>
          <a:prstGeom prst="line">
            <a:avLst/>
          </a:prstGeom>
          <a:ln w="1397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269798" y="1883664"/>
            <a:ext cx="68580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B0573A"/>
                </a:solidFill>
                <a:latin typeface="Calibri"/>
              </a:rPr>
              <a:t>Face</a:t>
            </a:r>
            <a:endParaRPr sz="1050" b="1" i="0">
              <a:solidFill>
                <a:srgbClr val="B0573A"/>
              </a:solidFill>
              <a:latin typeface="Calibri"/>
            </a:endParaRPr>
          </a:p>
          <a:p>
            <a:pPr algn="ctr"/>
            <a:r>
              <a:rPr sz="850" b="0" i="0">
                <a:solidFill>
                  <a:srgbClr val="595959"/>
                </a:solidFill>
                <a:latin typeface="Calibri"/>
              </a:rPr>
              <a:t>25 fps</a:t>
            </a:r>
            <a:endParaRPr sz="850" b="0" i="0">
              <a:solidFill>
                <a:srgbClr val="595959"/>
              </a:solidFill>
              <a:latin typeface="Calibri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6938328" y="2157984"/>
            <a:ext cx="331470" cy="0"/>
          </a:xfrm>
          <a:prstGeom prst="line">
            <a:avLst/>
          </a:prstGeom>
          <a:ln w="1397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8111045" y="1426464"/>
            <a:ext cx="10972" cy="122529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918" y="1557782"/>
            <a:ext cx="3474719" cy="9626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sz="900" b="1" i="0">
                <a:solidFill>
                  <a:srgbClr val="1F3A5F"/>
                </a:solidFill>
                <a:latin typeface="Calibri"/>
              </a:rPr>
              <a:t>Conditions  </a:t>
            </a:r>
            <a:r>
              <a:rPr sz="900" b="0" i="0">
                <a:solidFill>
                  <a:srgbClr val="222222"/>
                </a:solidFill>
                <a:latin typeface="Calibri"/>
              </a:rPr>
              <a:t>all inputs dropped together in 20% of rows ⇒ one guidance knob (0.6 at test) · no user camera</a:t>
            </a:r>
            <a:endParaRPr sz="900" b="0" i="0">
              <a:solidFill>
                <a:srgbClr val="222222"/>
              </a:solidFill>
              <a:latin typeface="Calibri"/>
            </a:endParaRPr>
          </a:p>
          <a:p>
            <a:pPr algn="l">
              <a:spcAft>
                <a:spcPts val="250"/>
              </a:spcAft>
            </a:pPr>
            <a:r>
              <a:rPr sz="900" b="1" i="0">
                <a:solidFill>
                  <a:srgbClr val="1F3A5F"/>
                </a:solidFill>
                <a:latin typeface="Calibri"/>
              </a:rPr>
              <a:t>Trained  </a:t>
            </a:r>
            <a:r>
              <a:rPr sz="900" b="0" i="0">
                <a:solidFill>
                  <a:srgbClr val="222222"/>
                </a:solidFill>
                <a:latin typeface="Calibri"/>
              </a:rPr>
              <a:t>the face generator only, from scratch</a:t>
            </a:r>
            <a:endParaRPr sz="900" b="0" i="0">
              <a:solidFill>
                <a:srgbClr val="222222"/>
              </a:solidFill>
              <a:latin typeface="Calibri"/>
            </a:endParaRPr>
          </a:p>
          <a:p>
            <a:pPr algn="l">
              <a:spcAft>
                <a:spcPts val="250"/>
              </a:spcAft>
            </a:pPr>
            <a:r>
              <a:rPr sz="900" b="1" i="0">
                <a:solidFill>
                  <a:srgbClr val="1F3A5F"/>
                </a:solidFill>
                <a:latin typeface="Calibri"/>
              </a:rPr>
              <a:t>Frozen  </a:t>
            </a:r>
            <a:r>
              <a:rPr sz="900" b="0" i="0">
                <a:solidFill>
                  <a:srgbClr val="222222"/>
                </a:solidFill>
                <a:latin typeface="Calibri"/>
              </a:rPr>
              <a:t>7B LM (+ depth decoder), codec, face VAE</a:t>
            </a:r>
            <a:endParaRPr sz="900" b="0" i="0">
              <a:solidFill>
                <a:srgbClr val="222222"/>
              </a:solidFill>
              <a:latin typeface="Calibri"/>
            </a:endParaRPr>
          </a:p>
          <a:p>
            <a:pPr algn="l">
              <a:spcAft>
                <a:spcPts val="250"/>
              </a:spcAft>
            </a:pPr>
            <a:r>
              <a:rPr sz="900" b="1" i="0">
                <a:solidFill>
                  <a:srgbClr val="1F3A5F"/>
                </a:solidFill>
                <a:latin typeface="Calibri"/>
              </a:rPr>
              <a:t>Data  </a:t>
            </a:r>
            <a:r>
              <a:rPr sz="900" b="0" i="0">
                <a:solidFill>
                  <a:srgbClr val="222222"/>
                </a:solidFill>
                <a:latin typeface="Calibri"/>
              </a:rPr>
              <a:t>Mosaic conversations, natural + improvised 1 : 1 · 80 k steps · the 7B first reads a voice + system prompt, as in the live demo</a:t>
            </a:r>
            <a:endParaRPr sz="9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411798" y="2871216"/>
            <a:ext cx="5669280" cy="365760"/>
          </a:xfrm>
          <a:prstGeom prst="roundRect">
            <a:avLst>
              <a:gd name="adj" fmla="val 12000"/>
            </a:avLst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1526" y="2963291"/>
            <a:ext cx="5486400" cy="18161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50" b="1" i="0">
                <a:solidFill>
                  <a:srgbClr val="1F3A5F"/>
                </a:solidFill>
                <a:latin typeface="Calibri"/>
              </a:rPr>
              <a:t>How we measure  </a:t>
            </a:r>
            <a:r>
              <a:rPr sz="950" b="1" i="0">
                <a:solidFill>
                  <a:srgbClr val="222222"/>
                </a:solidFill>
                <a:latin typeface="Calibri"/>
              </a:rPr>
              <a:t>Sync-C ↑ / Sync-D ↓ </a:t>
            </a:r>
            <a:r>
              <a:rPr sz="950" b="0" i="0">
                <a:solidFill>
                  <a:srgbClr val="595959"/>
                </a:solidFill>
                <a:latin typeface="Calibri"/>
              </a:rPr>
              <a:t>lip sync (SyncNet)</a:t>
            </a:r>
            <a:r>
              <a:rPr sz="950" b="0" i="0">
                <a:solidFill>
                  <a:srgbClr val="8C8C8C"/>
                </a:solidFill>
                <a:latin typeface="Calibri"/>
              </a:rPr>
              <a:t>   ·   </a:t>
            </a:r>
            <a:r>
              <a:rPr sz="950" b="1" i="0">
                <a:solidFill>
                  <a:srgbClr val="222222"/>
                </a:solidFill>
                <a:latin typeface="Calibri"/>
              </a:rPr>
              <a:t>FFD · face FID ↓ </a:t>
            </a:r>
            <a:r>
              <a:rPr sz="950" b="0" i="0">
                <a:solidFill>
                  <a:srgbClr val="595959"/>
                </a:solidFill>
                <a:latin typeface="Calibri"/>
              </a:rPr>
              <a:t>realism</a:t>
            </a:r>
            <a:endParaRPr sz="9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11798" y="3255264"/>
            <a:ext cx="5669280" cy="2197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Mosaic conversation test  ·  200 clips, both voices</a:t>
            </a:r>
            <a:endParaRPr sz="1200" b="1" i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66662" y="3504946"/>
            <a:ext cx="2286000" cy="189230"/>
          </a:xfrm>
          <a:prstGeom prst="rect">
            <a:avLst/>
          </a:prstGeom>
          <a:noFill/>
        </p:spPr>
        <p:txBody>
          <a:bodyPr wrap="square" lIns="36576" tIns="18288" rIns="36576" bIns="18288" anchor="b">
            <a:spAutoFit/>
          </a:bodyPr>
          <a:lstStyle/>
          <a:p>
            <a:pPr algn="l"/>
            <a:endParaRPr sz="1000" b="1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844102" y="3504946"/>
            <a:ext cx="731520" cy="189230"/>
          </a:xfrm>
          <a:prstGeom prst="rect">
            <a:avLst/>
          </a:prstGeom>
          <a:noFill/>
        </p:spPr>
        <p:txBody>
          <a:bodyPr wrap="square" lIns="36576" tIns="18288" rIns="36576" bIns="18288" anchor="b">
            <a:spAutoFit/>
          </a:bodyPr>
          <a:lstStyle/>
          <a:p>
            <a:pPr algn="ctr"/>
            <a:r>
              <a:rPr sz="1000" b="1" i="0">
                <a:solidFill>
                  <a:srgbClr val="595959"/>
                </a:solidFill>
                <a:latin typeface="Calibri"/>
              </a:rPr>
              <a:t>Sync-C ↑</a:t>
            </a:r>
            <a:endParaRPr sz="1000" b="1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667062" y="3504946"/>
            <a:ext cx="731520" cy="189230"/>
          </a:xfrm>
          <a:prstGeom prst="rect">
            <a:avLst/>
          </a:prstGeom>
          <a:noFill/>
        </p:spPr>
        <p:txBody>
          <a:bodyPr wrap="square" lIns="36576" tIns="18288" rIns="36576" bIns="18288" anchor="b">
            <a:spAutoFit/>
          </a:bodyPr>
          <a:lstStyle/>
          <a:p>
            <a:pPr algn="ctr"/>
            <a:r>
              <a:rPr sz="1000" b="1" i="0">
                <a:solidFill>
                  <a:srgbClr val="595959"/>
                </a:solidFill>
                <a:latin typeface="Calibri"/>
              </a:rPr>
              <a:t>Sync-D ↓</a:t>
            </a:r>
            <a:endParaRPr sz="1000" b="1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490022" y="3504946"/>
            <a:ext cx="731520" cy="189230"/>
          </a:xfrm>
          <a:prstGeom prst="rect">
            <a:avLst/>
          </a:prstGeom>
          <a:noFill/>
        </p:spPr>
        <p:txBody>
          <a:bodyPr wrap="square" lIns="36576" tIns="18288" rIns="36576" bIns="18288" anchor="b">
            <a:spAutoFit/>
          </a:bodyPr>
          <a:lstStyle/>
          <a:p>
            <a:pPr algn="ctr"/>
            <a:r>
              <a:rPr sz="1000" b="1" i="0">
                <a:solidFill>
                  <a:srgbClr val="595959"/>
                </a:solidFill>
                <a:latin typeface="Calibri"/>
              </a:rPr>
              <a:t>FFD ↓</a:t>
            </a:r>
            <a:endParaRPr sz="1000" b="1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312982" y="3504946"/>
            <a:ext cx="731520" cy="189230"/>
          </a:xfrm>
          <a:prstGeom prst="rect">
            <a:avLst/>
          </a:prstGeom>
          <a:noFill/>
        </p:spPr>
        <p:txBody>
          <a:bodyPr wrap="square" lIns="36576" tIns="18288" rIns="36576" bIns="18288" anchor="b">
            <a:spAutoFit/>
          </a:bodyPr>
          <a:lstStyle/>
          <a:p>
            <a:pPr algn="ctr"/>
            <a:r>
              <a:rPr sz="1000" b="1" i="0">
                <a:solidFill>
                  <a:srgbClr val="595959"/>
                </a:solidFill>
                <a:latin typeface="Calibri"/>
              </a:rPr>
              <a:t>face FID ↓</a:t>
            </a:r>
            <a:endParaRPr sz="1000" b="1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411798" y="3721608"/>
            <a:ext cx="5669280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11798" y="3767328"/>
            <a:ext cx="5669280" cy="292608"/>
          </a:xfrm>
          <a:prstGeom prst="roundRect">
            <a:avLst>
              <a:gd name="adj" fmla="val 10000"/>
            </a:avLst>
          </a:prstGeom>
          <a:solidFill>
            <a:srgbClr val="F8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4950" y="3811397"/>
            <a:ext cx="2267712" cy="20447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Calibri"/>
              </a:rPr>
              <a:t>Newest model</a:t>
            </a:r>
            <a:endParaRPr sz="1100" b="1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862390" y="3811397"/>
            <a:ext cx="713232" cy="20447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i="0">
                <a:solidFill>
                  <a:srgbClr val="B0573A"/>
                </a:solidFill>
                <a:latin typeface="Calibri"/>
              </a:rPr>
              <a:t>1.22</a:t>
            </a:r>
            <a:endParaRPr sz="1100" b="1" i="0">
              <a:solidFill>
                <a:srgbClr val="B0573A"/>
              </a:solidFill>
              <a:latin typeface="Calibr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685350" y="3811397"/>
            <a:ext cx="713232" cy="20447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Calibri"/>
              </a:rPr>
              <a:t>7.15</a:t>
            </a:r>
            <a:endParaRPr sz="11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508310" y="3811397"/>
            <a:ext cx="713232" cy="20447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i="0">
                <a:solidFill>
                  <a:srgbClr val="B0573A"/>
                </a:solidFill>
                <a:latin typeface="Calibri"/>
              </a:rPr>
              <a:t>1.09</a:t>
            </a:r>
            <a:endParaRPr sz="1100" b="1" i="0">
              <a:solidFill>
                <a:srgbClr val="B0573A"/>
              </a:solidFill>
              <a:latin typeface="Calibri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331270" y="3811397"/>
            <a:ext cx="713232" cy="20447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i="0">
                <a:solidFill>
                  <a:srgbClr val="B0573A"/>
                </a:solidFill>
                <a:latin typeface="Calibri"/>
              </a:rPr>
              <a:t>3.76</a:t>
            </a:r>
            <a:endParaRPr sz="1100" b="1" i="0">
              <a:solidFill>
                <a:srgbClr val="B0573A"/>
              </a:solidFill>
              <a:latin typeface="Calibr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84950" y="4140581"/>
            <a:ext cx="2267712" cy="20447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Calibri"/>
              </a:rPr>
              <a:t>Demo model (older)</a:t>
            </a:r>
            <a:endParaRPr sz="1100" b="1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862390" y="4140581"/>
            <a:ext cx="713232" cy="20447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Calibri"/>
              </a:rPr>
              <a:t>1.72</a:t>
            </a:r>
            <a:endParaRPr sz="11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685350" y="4140581"/>
            <a:ext cx="713232" cy="20447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Calibri"/>
              </a:rPr>
              <a:t>7.03</a:t>
            </a:r>
            <a:endParaRPr sz="11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508310" y="4140581"/>
            <a:ext cx="713232" cy="20447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Calibri"/>
              </a:rPr>
              <a:t>1.41</a:t>
            </a:r>
            <a:endParaRPr sz="11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331270" y="4140581"/>
            <a:ext cx="713232" cy="20447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Calibri"/>
              </a:rPr>
              <a:t>4.91</a:t>
            </a:r>
            <a:endParaRPr sz="11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84950" y="4469765"/>
            <a:ext cx="2267712" cy="20447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Calibri"/>
              </a:rPr>
              <a:t>Offline, sees future audio</a:t>
            </a:r>
            <a:endParaRPr sz="1100" b="1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2862390" y="4469765"/>
            <a:ext cx="713232" cy="20447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Calibri"/>
              </a:rPr>
              <a:t>1.82</a:t>
            </a:r>
            <a:endParaRPr sz="11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685350" y="4469765"/>
            <a:ext cx="713232" cy="20447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Calibri"/>
              </a:rPr>
              <a:t>6.94</a:t>
            </a:r>
            <a:endParaRPr sz="11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508310" y="4469765"/>
            <a:ext cx="713232" cy="20447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Calibri"/>
              </a:rPr>
              <a:t>0.26</a:t>
            </a:r>
            <a:endParaRPr sz="11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331270" y="4469765"/>
            <a:ext cx="713232" cy="20447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Calibri"/>
              </a:rPr>
              <a:t>1.67</a:t>
            </a:r>
            <a:endParaRPr sz="11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411798" y="4754880"/>
            <a:ext cx="5669280" cy="292608"/>
          </a:xfrm>
          <a:prstGeom prst="roundRect">
            <a:avLst>
              <a:gd name="adj" fmla="val 10000"/>
            </a:avLst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84950" y="4798949"/>
            <a:ext cx="2267712" cy="20447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Calibri"/>
              </a:rPr>
              <a:t>Real Mosaic clips *</a:t>
            </a:r>
            <a:endParaRPr sz="1100" b="1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2862390" y="4798949"/>
            <a:ext cx="713232" cy="20447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Calibri"/>
              </a:rPr>
              <a:t>2.93</a:t>
            </a:r>
            <a:endParaRPr sz="11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3685350" y="4798949"/>
            <a:ext cx="713232" cy="20447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Calibri"/>
              </a:rPr>
              <a:t>—</a:t>
            </a:r>
            <a:endParaRPr sz="11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508310" y="4798949"/>
            <a:ext cx="713232" cy="20447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Calibri"/>
              </a:rPr>
              <a:t>—</a:t>
            </a:r>
            <a:endParaRPr sz="11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331270" y="4798949"/>
            <a:ext cx="713232" cy="20447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Calibri"/>
              </a:rPr>
              <a:t>—</a:t>
            </a:r>
            <a:endParaRPr sz="11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11798" y="5212080"/>
            <a:ext cx="5669280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222222"/>
                </a:solidFill>
                <a:latin typeface="Calibri"/>
              </a:rPr>
              <a:t>Natural  </a:t>
            </a:r>
            <a:r>
              <a:rPr sz="1000" b="0" i="0">
                <a:solidFill>
                  <a:srgbClr val="595959"/>
                </a:solidFill>
                <a:latin typeface="Calibri"/>
              </a:rPr>
              <a:t>lowest FFD of our real-time models (1.09)</a:t>
            </a:r>
            <a:endParaRPr sz="10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411798" y="5504688"/>
            <a:ext cx="5669280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222222"/>
                </a:solidFill>
                <a:latin typeface="Calibri"/>
              </a:rPr>
              <a:t>Lip sync  </a:t>
            </a:r>
            <a:r>
              <a:rPr sz="1000" b="0" i="0">
                <a:solidFill>
                  <a:srgbClr val="595959"/>
                </a:solidFill>
                <a:latin typeface="Calibri"/>
              </a:rPr>
              <a:t>Sync-C 1.22 (1.11 averaged over two seeds) — below the demo model (1.72); real clips 2.93</a:t>
            </a:r>
            <a:endParaRPr sz="10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411798" y="5797296"/>
            <a:ext cx="5669280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222222"/>
                </a:solidFill>
                <a:latin typeface="Calibri"/>
              </a:rPr>
              <a:t>Future audio  </a:t>
            </a:r>
            <a:r>
              <a:rPr sz="1000" b="0" i="0">
                <a:solidFill>
                  <a:srgbClr val="595959"/>
                </a:solidFill>
                <a:latin typeface="Calibri"/>
              </a:rPr>
              <a:t>the offline model hears ahead and is far more natural (FFD 0.26, Sync-C 1.82)</a:t>
            </a:r>
            <a:endParaRPr sz="10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411798" y="6144768"/>
            <a:ext cx="11338560" cy="16573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  <a:latin typeface="Calibri"/>
              </a:rPr>
              <a:t>One seed unless noted  ·  * tracked real faces of 100 Mosaic training clips, same renderer and scorer, windows start at speech — not the 200 test clips  ·  the demo model generates face and body together</a:t>
            </a:r>
            <a:endParaRPr sz="8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6263958" y="2898648"/>
            <a:ext cx="553212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73686" y="2971800"/>
            <a:ext cx="5312664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B0573A"/>
                </a:solidFill>
                <a:latin typeface="Calibri"/>
              </a:rPr>
              <a:t>CASE  ·  speech in, face out</a:t>
            </a:r>
            <a:endParaRPr sz="1000" b="1" i="0">
              <a:solidFill>
                <a:srgbClr val="B0573A"/>
              </a:solidFill>
              <a:latin typeface="Calibri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391656" y="5641848"/>
            <a:ext cx="5276088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595959"/>
                </a:solidFill>
                <a:latin typeface="Calibri"/>
              </a:rPr>
              <a:t>Left  </a:t>
            </a:r>
            <a:r>
              <a:rPr sz="850" b="0" i="1">
                <a:solidFill>
                  <a:srgbClr val="222222"/>
                </a:solidFill>
                <a:latin typeface="Calibri"/>
              </a:rPr>
              <a:t>generated from the conversation audio  ·  right: the real person's tracked face, same renderer</a:t>
            </a:r>
            <a:endParaRPr sz="1000" b="0" i="1">
              <a:solidFill>
                <a:srgbClr val="222222"/>
              </a:solidFill>
              <a:latin typeface="Calibri"/>
            </a:endParaRPr>
          </a:p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595959"/>
                </a:solidFill>
                <a:latin typeface="Calibri"/>
              </a:rPr>
              <a:t>Note  </a:t>
            </a:r>
            <a:r>
              <a:rPr sz="850" b="0" i="1">
                <a:solidFill>
                  <a:srgbClr val="222222"/>
                </a:solidFill>
                <a:latin typeface="Calibri"/>
              </a:rPr>
              <a:t>the clip with the best lip sync of the 200 (Sync-C 4.96; real face 4.84) · hand-picked</a:t>
            </a:r>
            <a:endParaRPr sz="1000" b="0" i="1">
              <a:solidFill>
                <a:srgbClr val="222222"/>
              </a:solidFill>
              <a:latin typeface="Calibri"/>
            </a:endParaRPr>
          </a:p>
        </p:txBody>
      </p:sp>
      <p:pic>
        <p:nvPicPr>
          <p:cNvPr id="75" name="face_speech_new_1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7178040" y="3218688"/>
            <a:ext cx="3597104" cy="23957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5"/>
                </p:tgtEl>
              </p:cMediaNode>
            </p:video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09600" y="152401"/>
            <a:ext cx="9906000" cy="685793"/>
          </a:xfrm>
          <a:prstGeom prst="rect">
            <a:avLst/>
          </a:prstGeom>
          <a:noFill/>
        </p:spPr>
        <p:txBody>
          <a:bodyPr wrap="square" lIns="91440" tIns="45720" rIns="91440" bIns="45720" anchor="b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+mj-lt"/>
                <a:ea typeface="+mj-ea"/>
              </a:rPr>
              <a:t>Face on request · face and body together</a:t>
            </a:r>
            <a:endParaRPr sz="2600" b="0">
              <a:solidFill>
                <a:srgbClr val="000000"/>
              </a:solidFill>
              <a:latin typeface="+mj-lt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64464" y="950000"/>
            <a:ext cx="11131614" cy="266065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  <a:latin typeface="Calibri"/>
              </a:rPr>
              <a:t>The same face model also follows an instruction; a linked face + body generator moves both in conversation</a:t>
            </a:r>
            <a:endParaRPr sz="15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1298448"/>
            <a:ext cx="5669280" cy="23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1200" b="1" i="0">
                <a:solidFill>
                  <a:srgbClr val="B0573A"/>
                </a:solidFill>
                <a:latin typeface="Calibri"/>
              </a:rPr>
              <a:t>Face on request</a:t>
            </a:r>
            <a:r>
              <a:rPr sz="1200" b="1" i="0">
                <a:solidFill>
                  <a:srgbClr val="1F3A5F"/>
                </a:solidFill>
                <a:latin typeface="Calibri"/>
              </a:rPr>
              <a:t>  ·  673 test instructions  ·  three seeds</a:t>
            </a:r>
            <a:endParaRPr sz="1200" b="1" i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1554480"/>
            <a:ext cx="566928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900" b="1" i="0">
                <a:solidFill>
                  <a:srgbClr val="222222"/>
                </a:solidFill>
                <a:latin typeface="Calibri"/>
              </a:rPr>
              <a:t>emotion recognised</a:t>
            </a:r>
            <a:r>
              <a:rPr sz="900" b="0" i="0">
                <a:solidFill>
                  <a:srgbClr val="222222"/>
                </a:solidFill>
                <a:latin typeface="Calibri"/>
              </a:rPr>
              <a:t> by a separate classifier  ·  </a:t>
            </a:r>
            <a:r>
              <a:rPr sz="900" b="1" i="0">
                <a:solidFill>
                  <a:srgbClr val="222222"/>
                </a:solidFill>
                <a:latin typeface="Calibri"/>
              </a:rPr>
              <a:t>R@1</a:t>
            </a:r>
            <a:r>
              <a:rPr sz="900" b="0" i="0">
                <a:solidFill>
                  <a:srgbClr val="222222"/>
                </a:solidFill>
                <a:latin typeface="Calibri"/>
              </a:rPr>
              <a:t> right instruction found among 32, chance .03</a:t>
            </a:r>
            <a:endParaRPr sz="9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847088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endParaRPr sz="900" b="1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34640" y="1847088"/>
            <a:ext cx="82296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900" b="1" i="0">
                <a:solidFill>
                  <a:srgbClr val="595959"/>
                </a:solidFill>
                <a:latin typeface="Calibri"/>
              </a:rPr>
              <a:t>Ours</a:t>
            </a:r>
            <a:endParaRPr sz="900" b="1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749039" y="1847088"/>
            <a:ext cx="100584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900" b="1" i="0">
                <a:solidFill>
                  <a:srgbClr val="595959"/>
                </a:solidFill>
                <a:latin typeface="Calibri"/>
              </a:rPr>
              <a:t>Real clips</a:t>
            </a:r>
            <a:endParaRPr sz="900" b="1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00600" y="1847088"/>
            <a:ext cx="118872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900" b="1" i="0">
                <a:solidFill>
                  <a:srgbClr val="595959"/>
                </a:solidFill>
                <a:latin typeface="Calibri"/>
              </a:rPr>
              <a:t>Floor</a:t>
            </a:r>
            <a:endParaRPr sz="900" b="1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11480" y="2093976"/>
            <a:ext cx="5623559" cy="256032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121408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1000" b="1" i="0">
                <a:solidFill>
                  <a:srgbClr val="1F3A5F"/>
                </a:solidFill>
                <a:latin typeface="Calibri"/>
              </a:rPr>
              <a:t>Emotion recognised</a:t>
            </a:r>
            <a:endParaRPr sz="1000" b="1" i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834640" y="2121408"/>
            <a:ext cx="82296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1000" b="1" i="0">
                <a:solidFill>
                  <a:srgbClr val="B0573A"/>
                </a:solidFill>
                <a:latin typeface="Calibri"/>
              </a:rPr>
              <a:t>.754</a:t>
            </a:r>
            <a:endParaRPr sz="1000" b="1" i="0">
              <a:solidFill>
                <a:srgbClr val="B0573A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49039" y="2121408"/>
            <a:ext cx="100584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1000" b="0" i="0">
                <a:solidFill>
                  <a:srgbClr val="222222"/>
                </a:solidFill>
                <a:latin typeface="Calibri"/>
              </a:rPr>
              <a:t>.893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800600" y="2121408"/>
            <a:ext cx="118872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1000" b="0" i="0">
                <a:solidFill>
                  <a:srgbClr val="222222"/>
                </a:solidFill>
                <a:latin typeface="Calibri"/>
              </a:rPr>
              <a:t>.12 shuffled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2395728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1000" b="1" i="0">
                <a:solidFill>
                  <a:srgbClr val="1F3A5F"/>
                </a:solidFill>
                <a:latin typeface="Calibri"/>
              </a:rPr>
              <a:t>Instruction found (R@1)</a:t>
            </a:r>
            <a:endParaRPr sz="1000" b="1" i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834640" y="2395728"/>
            <a:ext cx="82296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1000" b="1" i="0">
                <a:solidFill>
                  <a:srgbClr val="B0573A"/>
                </a:solidFill>
                <a:latin typeface="Calibri"/>
              </a:rPr>
              <a:t>.388</a:t>
            </a:r>
            <a:endParaRPr sz="1000" b="1" i="0">
              <a:solidFill>
                <a:srgbClr val="B0573A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749039" y="2395728"/>
            <a:ext cx="100584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1000" b="0" i="0">
                <a:solidFill>
                  <a:srgbClr val="222222"/>
                </a:solidFill>
                <a:latin typeface="Calibri"/>
              </a:rPr>
              <a:t>.492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00600" y="2395728"/>
            <a:ext cx="118872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1000" b="0" i="0">
                <a:solidFill>
                  <a:srgbClr val="222222"/>
                </a:solidFill>
                <a:latin typeface="Calibri"/>
              </a:rPr>
              <a:t>.03 chance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11480" y="2697480"/>
            <a:ext cx="5669280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950" b="1" i="0">
                <a:solidFill>
                  <a:srgbClr val="1F3A5F"/>
                </a:solidFill>
                <a:latin typeface="Calibri"/>
              </a:rPr>
              <a:t>Still talks  </a:t>
            </a:r>
            <a:r>
              <a:rPr sz="950" b="0" i="0">
                <a:solidFill>
                  <a:srgbClr val="222222"/>
                </a:solidFill>
                <a:latin typeface="Calibri"/>
              </a:rPr>
              <a:t>after adding instructions, conversation lip sync is unchanged (Sync-C 1.11 vs 1.11, two seeds)</a:t>
            </a:r>
            <a:endParaRPr sz="950" b="0" i="0">
              <a:solidFill>
                <a:srgbClr val="222222"/>
              </a:solidFill>
              <a:latin typeface="Calibri"/>
            </a:endParaRPr>
          </a:p>
        </p:txBody>
      </p:sp>
      <p:pic>
        <p:nvPicPr>
          <p:cNvPr id="21" name="face_instr_1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411480" y="3154680"/>
            <a:ext cx="5669280" cy="188680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11480" y="5074920"/>
            <a:ext cx="5669280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850" b="0" i="0">
                <a:solidFill>
                  <a:srgbClr val="808080"/>
                </a:solidFill>
                <a:latin typeface="Calibri"/>
              </a:rPr>
              <a:t>Video: happy · surprised · angry · disgusted on request (silent; an earlier instruction-only face model, hand-picked)</a:t>
            </a:r>
            <a:endParaRPr sz="850" b="0" i="0">
              <a:solidFill>
                <a:srgbClr val="808080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263640" y="1298448"/>
            <a:ext cx="5532120" cy="23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1200" b="1" i="0">
                <a:solidFill>
                  <a:srgbClr val="3E7A6D"/>
                </a:solidFill>
                <a:latin typeface="Calibri"/>
              </a:rPr>
              <a:t>Face + body together</a:t>
            </a:r>
            <a:r>
              <a:rPr sz="1200" b="1" i="0">
                <a:solidFill>
                  <a:srgbClr val="1F3A5F"/>
                </a:solidFill>
                <a:latin typeface="Calibri"/>
              </a:rPr>
              <a:t>  ·  Mosaic conversation test, 200 clips</a:t>
            </a:r>
            <a:endParaRPr sz="1200" b="1" i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63640" y="1554480"/>
            <a:ext cx="553212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900" b="1" i="0">
                <a:solidFill>
                  <a:srgbClr val="222222"/>
                </a:solidFill>
                <a:latin typeface="Calibri"/>
              </a:rPr>
              <a:t>FGD</a:t>
            </a:r>
            <a:r>
              <a:rPr sz="900" b="0" i="0">
                <a:solidFill>
                  <a:srgbClr val="222222"/>
                </a:solidFill>
                <a:latin typeface="Calibri"/>
              </a:rPr>
              <a:t> body realism  ·  </a:t>
            </a:r>
            <a:r>
              <a:rPr sz="900" b="1" i="0">
                <a:solidFill>
                  <a:srgbClr val="222222"/>
                </a:solidFill>
                <a:latin typeface="Calibri"/>
              </a:rPr>
              <a:t>Sync-C / Sync-D</a:t>
            </a:r>
            <a:r>
              <a:rPr sz="900" b="0" i="0">
                <a:solidFill>
                  <a:srgbClr val="222222"/>
                </a:solidFill>
                <a:latin typeface="Calibri"/>
              </a:rPr>
              <a:t> lip sync  ·  </a:t>
            </a:r>
            <a:r>
              <a:rPr sz="900" b="1" i="0">
                <a:solidFill>
                  <a:srgbClr val="222222"/>
                </a:solidFill>
                <a:latin typeface="Calibri"/>
              </a:rPr>
              <a:t>FFD</a:t>
            </a:r>
            <a:r>
              <a:rPr sz="900" b="0" i="0">
                <a:solidFill>
                  <a:srgbClr val="222222"/>
                </a:solidFill>
                <a:latin typeface="Calibri"/>
              </a:rPr>
              <a:t> face realism</a:t>
            </a:r>
            <a:endParaRPr sz="9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309360" y="1847088"/>
            <a:ext cx="155448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endParaRPr sz="900" b="1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909560" y="1847088"/>
            <a:ext cx="9144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900" b="1" i="0">
                <a:solidFill>
                  <a:srgbClr val="595959"/>
                </a:solidFill>
                <a:latin typeface="Calibri"/>
              </a:rPr>
              <a:t>Body FGD ↓</a:t>
            </a:r>
            <a:endParaRPr sz="900" b="1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869680" y="1847088"/>
            <a:ext cx="9144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900" b="1" i="0">
                <a:solidFill>
                  <a:srgbClr val="595959"/>
                </a:solidFill>
                <a:latin typeface="Calibri"/>
              </a:rPr>
              <a:t>Sync-C ↑</a:t>
            </a:r>
            <a:endParaRPr sz="900" b="1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829800" y="1847088"/>
            <a:ext cx="9144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900" b="1" i="0">
                <a:solidFill>
                  <a:srgbClr val="595959"/>
                </a:solidFill>
                <a:latin typeface="Calibri"/>
              </a:rPr>
              <a:t>Sync-D ↓</a:t>
            </a:r>
            <a:endParaRPr sz="900" b="1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789920" y="1847088"/>
            <a:ext cx="9144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900" b="1" i="0">
                <a:solidFill>
                  <a:srgbClr val="595959"/>
                </a:solidFill>
                <a:latin typeface="Calibri"/>
              </a:rPr>
              <a:t>FFD ↓</a:t>
            </a:r>
            <a:endParaRPr sz="900" b="1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263640" y="2093976"/>
            <a:ext cx="5486400" cy="256032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2121408"/>
            <a:ext cx="155448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1000" b="1" i="0">
                <a:solidFill>
                  <a:srgbClr val="1F3A5F"/>
                </a:solidFill>
                <a:latin typeface="Calibri"/>
              </a:rPr>
              <a:t>Newest</a:t>
            </a:r>
            <a:endParaRPr sz="1000" b="1" i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909560" y="2121408"/>
            <a:ext cx="9144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1000" b="1" i="0">
                <a:solidFill>
                  <a:srgbClr val="3E7A6D"/>
                </a:solidFill>
                <a:latin typeface="Calibri"/>
              </a:rPr>
              <a:t>8.11</a:t>
            </a:r>
            <a:endParaRPr sz="1000" b="1" i="0">
              <a:solidFill>
                <a:srgbClr val="3E7A6D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869680" y="2121408"/>
            <a:ext cx="9144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1000" b="1" i="0">
                <a:solidFill>
                  <a:srgbClr val="3E7A6D"/>
                </a:solidFill>
                <a:latin typeface="Calibri"/>
              </a:rPr>
              <a:t>1.41</a:t>
            </a:r>
            <a:endParaRPr sz="1000" b="1" i="0">
              <a:solidFill>
                <a:srgbClr val="3E7A6D"/>
              </a:solidFill>
              <a:latin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829800" y="2121408"/>
            <a:ext cx="9144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1000" b="1" i="0">
                <a:solidFill>
                  <a:srgbClr val="3E7A6D"/>
                </a:solidFill>
                <a:latin typeface="Calibri"/>
              </a:rPr>
              <a:t>6.89</a:t>
            </a:r>
            <a:endParaRPr sz="1000" b="1" i="0">
              <a:solidFill>
                <a:srgbClr val="3E7A6D"/>
              </a:solidFill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789920" y="2121408"/>
            <a:ext cx="9144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1000" b="1" i="0">
                <a:solidFill>
                  <a:srgbClr val="3E7A6D"/>
                </a:solidFill>
                <a:latin typeface="Calibri"/>
              </a:rPr>
              <a:t>1.11</a:t>
            </a:r>
            <a:endParaRPr sz="1000" b="1" i="0">
              <a:solidFill>
                <a:srgbClr val="3E7A6D"/>
              </a:solidFill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309360" y="2395728"/>
            <a:ext cx="155448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1000" b="1" i="0">
                <a:solidFill>
                  <a:srgbClr val="1F3A5F"/>
                </a:solidFill>
                <a:latin typeface="Calibri"/>
              </a:rPr>
              <a:t>Previous</a:t>
            </a:r>
            <a:endParaRPr sz="1000" b="1" i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909560" y="2395728"/>
            <a:ext cx="9144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1000" b="0" i="0">
                <a:solidFill>
                  <a:srgbClr val="222222"/>
                </a:solidFill>
                <a:latin typeface="Calibri"/>
              </a:rPr>
              <a:t>9.79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869680" y="2395728"/>
            <a:ext cx="9144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1000" b="0" i="0">
                <a:solidFill>
                  <a:srgbClr val="222222"/>
                </a:solidFill>
                <a:latin typeface="Calibri"/>
              </a:rPr>
              <a:t>1.18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829800" y="2395728"/>
            <a:ext cx="9144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1000" b="0" i="0">
                <a:solidFill>
                  <a:srgbClr val="222222"/>
                </a:solidFill>
                <a:latin typeface="Calibri"/>
              </a:rPr>
              <a:t>6.99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789920" y="2395728"/>
            <a:ext cx="9144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1000" b="0" i="0">
                <a:solidFill>
                  <a:srgbClr val="222222"/>
                </a:solidFill>
                <a:latin typeface="Calibri"/>
              </a:rPr>
              <a:t>2.01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263640" y="2697480"/>
            <a:ext cx="5532120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950" b="1" i="0">
                <a:solidFill>
                  <a:srgbClr val="1F3A5F"/>
                </a:solidFill>
                <a:latin typeface="Calibri"/>
              </a:rPr>
              <a:t>Still follows instructions  </a:t>
            </a:r>
            <a:r>
              <a:rPr sz="950" b="0" i="0">
                <a:solidFill>
                  <a:srgbClr val="222222"/>
                </a:solidFill>
                <a:latin typeface="Calibri"/>
              </a:rPr>
              <a:t>HumanML3D 512: Guo R1 .446 / MS R1 .616  (real motion .493 / .708)</a:t>
            </a:r>
            <a:endParaRPr sz="950" b="0" i="0">
              <a:solidFill>
                <a:srgbClr val="222222"/>
              </a:solidFill>
              <a:latin typeface="Calibri"/>
            </a:endParaRPr>
          </a:p>
        </p:txBody>
      </p:sp>
      <p:pic>
        <p:nvPicPr>
          <p:cNvPr id="42" name="joint_new_1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446520" y="3154680"/>
            <a:ext cx="5166360" cy="2208365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263640" y="5413248"/>
            <a:ext cx="5532120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850" b="0" i="0">
                <a:solidFill>
                  <a:srgbClr val="808080"/>
                </a:solidFill>
                <a:latin typeface="Calibri"/>
              </a:rPr>
              <a:t>Video: newest linked model, generated face + body (left) vs the real person (right) on the same speech, same renderer · hand-picked (best lip sync of 200)</a:t>
            </a:r>
            <a:endParaRPr sz="850" b="0" i="0">
              <a:solidFill>
                <a:srgbClr val="808080"/>
              </a:solidFill>
              <a:latin typeface="Calibr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11480" y="5989320"/>
            <a:ext cx="1133856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850" b="0" i="0">
                <a:solidFill>
                  <a:srgbClr val="595959"/>
                </a:solidFill>
                <a:latin typeface="Calibri"/>
              </a:rPr>
              <a:t>One seed unless noted  ·  instruction-face set differs from the earlier 400-instruction set, so old numbers are not comparable  ·  the newest instruction-face run saved scores only, so its video comes from an earlier instruction-face model</a:t>
            </a:r>
            <a:endParaRPr sz="850" b="0" i="0">
              <a:solidFill>
                <a:srgbClr val="595959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42"/>
                </p:tgtEl>
              </p:cMediaNode>
            </p:video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09600" y="152401"/>
            <a:ext cx="9906000" cy="685793"/>
          </a:xfrm>
          <a:prstGeom prst="rect">
            <a:avLst/>
          </a:prstGeom>
          <a:noFill/>
        </p:spPr>
        <p:txBody>
          <a:bodyPr wrap="square" lIns="91440" tIns="45720" rIns="91440" bIns="45720" anchor="b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+mj-lt"/>
                <a:ea typeface="+mj-ea"/>
              </a:rPr>
              <a:t>Where each skill stands</a:t>
            </a:r>
            <a:endParaRPr sz="2800" b="0">
              <a:solidFill>
                <a:srgbClr val="000000"/>
              </a:solidFill>
              <a:latin typeface="+mj-lt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64464" y="950000"/>
            <a:ext cx="11131614" cy="266065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  <a:latin typeface="Calibri"/>
              </a:rPr>
              <a:t>Every skill goes through three stages: trained alone → joined inside its module → merged into the one end-to-end model</a:t>
            </a:r>
            <a:endParaRPr sz="15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43718" y="1298448"/>
            <a:ext cx="2423160" cy="457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718" y="1371600"/>
            <a:ext cx="2423160" cy="38163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00" b="1" i="0">
                <a:solidFill>
                  <a:srgbClr val="1F3A5F"/>
                </a:solidFill>
                <a:latin typeface="Calibri"/>
              </a:rPr>
              <a:t>① Trained alone</a:t>
            </a:r>
            <a:endParaRPr sz="1300" b="1" i="0">
              <a:solidFill>
                <a:srgbClr val="1F3A5F"/>
              </a:solidFill>
              <a:latin typeface="Calibri"/>
            </a:endParaRPr>
          </a:p>
          <a:p>
            <a:pPr algn="ctr"/>
            <a:r>
              <a:rPr sz="950" b="0" i="0">
                <a:solidFill>
                  <a:srgbClr val="595959"/>
                </a:solidFill>
                <a:latin typeface="Calibri"/>
              </a:rPr>
              <a:t>one task, one small model</a:t>
            </a:r>
            <a:endParaRPr sz="9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858318" y="1298448"/>
            <a:ext cx="2423160" cy="457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318" y="1371600"/>
            <a:ext cx="2423160" cy="38163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00" b="1" i="0">
                <a:solidFill>
                  <a:srgbClr val="1F3A5F"/>
                </a:solidFill>
                <a:latin typeface="Calibri"/>
              </a:rPr>
              <a:t>② Inside its module</a:t>
            </a:r>
            <a:endParaRPr sz="1300" b="1" i="0">
              <a:solidFill>
                <a:srgbClr val="1F3A5F"/>
              </a:solidFill>
              <a:latin typeface="Calibri"/>
            </a:endParaRPr>
          </a:p>
          <a:p>
            <a:pPr algn="ctr"/>
            <a:r>
              <a:rPr sz="950" b="0" i="0">
                <a:solidFill>
                  <a:srgbClr val="595959"/>
                </a:solidFill>
                <a:latin typeface="Calibri"/>
              </a:rPr>
              <a:t>joined with the module's other tasks</a:t>
            </a:r>
            <a:endParaRPr sz="9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372918" y="1298448"/>
            <a:ext cx="2423160" cy="457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918" y="1371600"/>
            <a:ext cx="2423160" cy="38163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00" b="1" i="0">
                <a:solidFill>
                  <a:srgbClr val="1F3A5F"/>
                </a:solidFill>
                <a:latin typeface="Calibri"/>
              </a:rPr>
              <a:t>③ In the end-to-end model</a:t>
            </a:r>
            <a:endParaRPr sz="1300" b="1" i="0">
              <a:solidFill>
                <a:srgbClr val="1F3A5F"/>
              </a:solidFill>
              <a:latin typeface="Calibri"/>
            </a:endParaRPr>
          </a:p>
          <a:p>
            <a:pPr algn="ctr"/>
            <a:r>
              <a:rPr sz="950" b="0" i="0">
                <a:solidFill>
                  <a:srgbClr val="595959"/>
                </a:solidFill>
                <a:latin typeface="Calibri"/>
              </a:rPr>
              <a:t>merged into the full speech model</a:t>
            </a:r>
            <a:endParaRPr sz="9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11798" y="1389888"/>
            <a:ext cx="128016" cy="128016"/>
          </a:xfrm>
          <a:prstGeom prst="rect">
            <a:avLst/>
          </a:prstGeom>
          <a:solidFill>
            <a:srgbClr val="3F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678" y="1325880"/>
            <a:ext cx="1463040" cy="1816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Calibri"/>
              </a:rPr>
              <a:t>done</a:t>
            </a:r>
            <a:endParaRPr sz="95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011998" y="1389888"/>
            <a:ext cx="128016" cy="128016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94878" y="1325880"/>
            <a:ext cx="1463040" cy="1816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Calibri"/>
              </a:rPr>
              <a:t>in research</a:t>
            </a:r>
            <a:endParaRPr sz="95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411798" y="1636776"/>
            <a:ext cx="128016" cy="1280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678" y="1572768"/>
            <a:ext cx="1463040" cy="1816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Calibri"/>
              </a:rPr>
              <a:t>older version in demo</a:t>
            </a:r>
            <a:endParaRPr sz="95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011998" y="1636776"/>
            <a:ext cx="128016" cy="128016"/>
          </a:xfrm>
          <a:prstGeom prst="rect">
            <a:avLst/>
          </a:prstGeom>
          <a:solidFill>
            <a:srgbClr val="FFFFFF"/>
          </a:solidFill>
          <a:ln w="9525">
            <a:solidFill>
              <a:srgbClr val="8C8C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94878" y="1572768"/>
            <a:ext cx="1463040" cy="1816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Calibri"/>
              </a:rPr>
              <a:t>not started</a:t>
            </a:r>
            <a:endParaRPr sz="95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646238" y="1906396"/>
            <a:ext cx="2606040" cy="21971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Calibri"/>
              </a:rPr>
              <a:t>Full-duplex dialogue</a:t>
            </a:r>
            <a:endParaRPr sz="1200" b="1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343718" y="1874519"/>
            <a:ext cx="2423160" cy="283464"/>
          </a:xfrm>
          <a:prstGeom prst="roundRect">
            <a:avLst>
              <a:gd name="adj" fmla="val 14000"/>
            </a:avLst>
          </a:prstGeom>
          <a:solidFill>
            <a:srgbClr val="EA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53446" y="1947672"/>
            <a:ext cx="137160" cy="137160"/>
          </a:xfrm>
          <a:prstGeom prst="rect">
            <a:avLst/>
          </a:prstGeom>
          <a:solidFill>
            <a:srgbClr val="3F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45470" y="1917826"/>
            <a:ext cx="2075688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3F7A4F"/>
                </a:solidFill>
                <a:latin typeface="Calibri"/>
              </a:rPr>
              <a:t>done</a:t>
            </a:r>
            <a:endParaRPr sz="1050" b="1" i="0">
              <a:solidFill>
                <a:srgbClr val="3F7A4F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58318" y="1888236"/>
            <a:ext cx="2423160" cy="2197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00" b="0" i="0">
                <a:solidFill>
                  <a:srgbClr val="D9D9D9"/>
                </a:solidFill>
                <a:latin typeface="Calibri"/>
              </a:rPr>
              <a:t>—</a:t>
            </a:r>
            <a:endParaRPr sz="1200" b="0" i="0">
              <a:solidFill>
                <a:srgbClr val="D9D9D9"/>
              </a:solidFill>
              <a:latin typeface="Calibr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9372918" y="1874519"/>
            <a:ext cx="2423160" cy="283464"/>
          </a:xfrm>
          <a:prstGeom prst="roundRect">
            <a:avLst>
              <a:gd name="adj" fmla="val 14000"/>
            </a:avLst>
          </a:prstGeom>
          <a:solidFill>
            <a:srgbClr val="EB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82646" y="1947672"/>
            <a:ext cx="137160" cy="1371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74670" y="1844801"/>
            <a:ext cx="2075688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1F3A5F"/>
                </a:solidFill>
                <a:latin typeface="Calibri"/>
              </a:rPr>
              <a:t>in demo</a:t>
            </a:r>
            <a:r>
              <a:rPr sz="950" b="0" i="0">
                <a:solidFill>
                  <a:srgbClr val="595959"/>
                </a:solidFill>
                <a:latin typeface="Calibri"/>
              </a:rPr>
              <a:t>  new merge: 2× turn-taking</a:t>
            </a:r>
            <a:endParaRPr sz="1050" b="1" i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46238" y="2235580"/>
            <a:ext cx="2606040" cy="21971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Calibri"/>
              </a:rPr>
              <a:t>Spoken Q&amp;A</a:t>
            </a:r>
            <a:endParaRPr sz="1200" b="1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4343718" y="2203703"/>
            <a:ext cx="2423160" cy="283464"/>
          </a:xfrm>
          <a:prstGeom prst="roundRect">
            <a:avLst>
              <a:gd name="adj" fmla="val 14000"/>
            </a:avLst>
          </a:prstGeom>
          <a:solidFill>
            <a:srgbClr val="EA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53446" y="2276856"/>
            <a:ext cx="137160" cy="137160"/>
          </a:xfrm>
          <a:prstGeom prst="rect">
            <a:avLst/>
          </a:prstGeom>
          <a:solidFill>
            <a:srgbClr val="3F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45470" y="2247010"/>
            <a:ext cx="2075688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3F7A4F"/>
                </a:solidFill>
                <a:latin typeface="Calibri"/>
              </a:rPr>
              <a:t>done</a:t>
            </a:r>
            <a:endParaRPr sz="1050" b="1" i="0">
              <a:solidFill>
                <a:srgbClr val="3F7A4F"/>
              </a:solidFill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858318" y="2217420"/>
            <a:ext cx="2423160" cy="2197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00" b="0" i="0">
                <a:solidFill>
                  <a:srgbClr val="D9D9D9"/>
                </a:solidFill>
                <a:latin typeface="Calibri"/>
              </a:rPr>
              <a:t>—</a:t>
            </a:r>
            <a:endParaRPr sz="1200" b="0" i="0">
              <a:solidFill>
                <a:srgbClr val="D9D9D9"/>
              </a:solidFill>
              <a:latin typeface="Calibri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9372918" y="2203703"/>
            <a:ext cx="2423160" cy="283464"/>
          </a:xfrm>
          <a:prstGeom prst="roundRect">
            <a:avLst>
              <a:gd name="adj" fmla="val 14000"/>
            </a:avLst>
          </a:prstGeom>
          <a:solidFill>
            <a:srgbClr val="EB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82646" y="2276856"/>
            <a:ext cx="137160" cy="1371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74670" y="2247010"/>
            <a:ext cx="2075688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1F3A5F"/>
                </a:solidFill>
                <a:latin typeface="Calibri"/>
              </a:rPr>
              <a:t>in demo</a:t>
            </a:r>
            <a:r>
              <a:rPr sz="950" b="0" i="0">
                <a:solidFill>
                  <a:srgbClr val="595959"/>
                </a:solidFill>
                <a:latin typeface="Calibri"/>
              </a:rPr>
              <a:t>  also in new merge</a:t>
            </a:r>
            <a:endParaRPr sz="1050" b="1" i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411798" y="1874519"/>
            <a:ext cx="1143000" cy="612647"/>
          </a:xfrm>
          <a:prstGeom prst="roundRect">
            <a:avLst>
              <a:gd name="adj" fmla="val 8000"/>
            </a:avLst>
          </a:prstGeom>
          <a:solidFill>
            <a:srgbClr val="ED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798" y="1874519"/>
            <a:ext cx="54864" cy="612647"/>
          </a:xfrm>
          <a:prstGeom prst="rect">
            <a:avLst/>
          </a:prstGeom>
          <a:solidFill>
            <a:srgbClr val="355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0669" y="2070987"/>
            <a:ext cx="1005840" cy="21971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35577A"/>
                </a:solidFill>
                <a:latin typeface="Calibri"/>
              </a:rPr>
              <a:t>Converse</a:t>
            </a:r>
            <a:endParaRPr sz="1200" b="1" i="0">
              <a:solidFill>
                <a:srgbClr val="35577A"/>
              </a:solidFill>
              <a:latin typeface="Calibr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646238" y="2628772"/>
            <a:ext cx="2606040" cy="21971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Calibri"/>
              </a:rPr>
              <a:t>Facial expression</a:t>
            </a:r>
            <a:endParaRPr sz="1200" b="1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4343718" y="2596895"/>
            <a:ext cx="2423160" cy="283464"/>
          </a:xfrm>
          <a:prstGeom prst="roundRect">
            <a:avLst>
              <a:gd name="adj" fmla="val 14000"/>
            </a:avLst>
          </a:prstGeom>
          <a:solidFill>
            <a:srgbClr val="EA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53446" y="2670047"/>
            <a:ext cx="137160" cy="137160"/>
          </a:xfrm>
          <a:prstGeom prst="rect">
            <a:avLst/>
          </a:prstGeom>
          <a:solidFill>
            <a:srgbClr val="3F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45470" y="2640202"/>
            <a:ext cx="2075688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3F7A4F"/>
                </a:solidFill>
                <a:latin typeface="Calibri"/>
              </a:rPr>
              <a:t>done</a:t>
            </a:r>
            <a:endParaRPr sz="1050" b="1" i="0">
              <a:solidFill>
                <a:srgbClr val="3F7A4F"/>
              </a:solidFill>
              <a:latin typeface="Calibri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6858318" y="2596895"/>
            <a:ext cx="2423160" cy="283464"/>
          </a:xfrm>
          <a:prstGeom prst="roundRect">
            <a:avLst>
              <a:gd name="adj" fmla="val 14000"/>
            </a:avLst>
          </a:prstGeom>
          <a:solidFill>
            <a:srgbClr val="EA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968046" y="2670047"/>
            <a:ext cx="137160" cy="137160"/>
          </a:xfrm>
          <a:prstGeom prst="rect">
            <a:avLst/>
          </a:prstGeom>
          <a:solidFill>
            <a:srgbClr val="3F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60070" y="2640202"/>
            <a:ext cx="2075688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3F7A4F"/>
                </a:solidFill>
                <a:latin typeface="Calibri"/>
              </a:rPr>
              <a:t>done</a:t>
            </a:r>
            <a:endParaRPr sz="1050" b="1" i="0">
              <a:solidFill>
                <a:srgbClr val="3F7A4F"/>
              </a:solidFill>
              <a:latin typeface="Calibri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9372918" y="2596895"/>
            <a:ext cx="2423160" cy="283464"/>
          </a:xfrm>
          <a:prstGeom prst="roundRect">
            <a:avLst>
              <a:gd name="adj" fmla="val 14000"/>
            </a:avLst>
          </a:prstGeom>
          <a:solidFill>
            <a:srgbClr val="E6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482646" y="2670047"/>
            <a:ext cx="137160" cy="13716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74670" y="2640202"/>
            <a:ext cx="2075688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2E6DA4"/>
                </a:solidFill>
                <a:latin typeface="Calibri"/>
              </a:rPr>
              <a:t>new merge</a:t>
            </a:r>
            <a:endParaRPr sz="1050" b="1" i="0">
              <a:solidFill>
                <a:srgbClr val="3F7A4F"/>
              </a:solidFill>
              <a:latin typeface="Calibri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646238" y="2957956"/>
            <a:ext cx="2606040" cy="21971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Calibri"/>
              </a:rPr>
              <a:t>Emotion</a:t>
            </a:r>
            <a:endParaRPr sz="1200" b="1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4343718" y="2926079"/>
            <a:ext cx="2423160" cy="283464"/>
          </a:xfrm>
          <a:prstGeom prst="roundRect">
            <a:avLst>
              <a:gd name="adj" fmla="val 14000"/>
            </a:avLst>
          </a:prstGeom>
          <a:solidFill>
            <a:srgbClr val="EA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453446" y="2999231"/>
            <a:ext cx="137160" cy="137160"/>
          </a:xfrm>
          <a:prstGeom prst="rect">
            <a:avLst/>
          </a:prstGeom>
          <a:solidFill>
            <a:srgbClr val="3F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45470" y="2969386"/>
            <a:ext cx="2075688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3F7A4F"/>
                </a:solidFill>
                <a:latin typeface="Calibri"/>
              </a:rPr>
              <a:t>done</a:t>
            </a:r>
            <a:endParaRPr sz="1050" b="1" i="0">
              <a:solidFill>
                <a:srgbClr val="3F7A4F"/>
              </a:solidFill>
              <a:latin typeface="Calibri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6858318" y="2926079"/>
            <a:ext cx="2423160" cy="283464"/>
          </a:xfrm>
          <a:prstGeom prst="roundRect">
            <a:avLst>
              <a:gd name="adj" fmla="val 14000"/>
            </a:avLst>
          </a:prstGeom>
          <a:solidFill>
            <a:srgbClr val="EA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968046" y="2999231"/>
            <a:ext cx="137160" cy="137160"/>
          </a:xfrm>
          <a:prstGeom prst="rect">
            <a:avLst/>
          </a:prstGeom>
          <a:solidFill>
            <a:srgbClr val="3F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160070" y="2969386"/>
            <a:ext cx="2075688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3F7A4F"/>
                </a:solidFill>
                <a:latin typeface="Calibri"/>
              </a:rPr>
              <a:t>done</a:t>
            </a:r>
            <a:endParaRPr sz="1050" b="1" i="0">
              <a:solidFill>
                <a:srgbClr val="3F7A4F"/>
              </a:solidFill>
              <a:latin typeface="Calibri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9372918" y="2926079"/>
            <a:ext cx="2423160" cy="283464"/>
          </a:xfrm>
          <a:prstGeom prst="roundRect">
            <a:avLst>
              <a:gd name="adj" fmla="val 14000"/>
            </a:avLst>
          </a:prstGeom>
          <a:solidFill>
            <a:srgbClr val="E6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482646" y="2999231"/>
            <a:ext cx="137160" cy="13716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674670" y="2969386"/>
            <a:ext cx="2075688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2E6DA4"/>
                </a:solidFill>
                <a:latin typeface="Calibri"/>
              </a:rPr>
              <a:t>new merge</a:t>
            </a:r>
            <a:r>
              <a:rPr sz="950" b="0" i="0">
                <a:solidFill>
                  <a:srgbClr val="595959"/>
                </a:solidFill>
                <a:latin typeface="Calibri"/>
              </a:rPr>
              <a:t>  weaker</a:t>
            </a:r>
            <a:endParaRPr sz="1050" b="1" i="0">
              <a:solidFill>
                <a:srgbClr val="3F7A4F"/>
              </a:solidFill>
              <a:latin typeface="Calibri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646238" y="3287140"/>
            <a:ext cx="2606040" cy="21971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Calibri"/>
              </a:rPr>
              <a:t>Body motion</a:t>
            </a:r>
            <a:endParaRPr sz="1200" b="1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4343718" y="3255263"/>
            <a:ext cx="2423160" cy="283464"/>
          </a:xfrm>
          <a:prstGeom prst="roundRect">
            <a:avLst>
              <a:gd name="adj" fmla="val 14000"/>
            </a:avLst>
          </a:prstGeom>
          <a:solidFill>
            <a:srgbClr val="EA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453446" y="3328415"/>
            <a:ext cx="137160" cy="137160"/>
          </a:xfrm>
          <a:prstGeom prst="rect">
            <a:avLst/>
          </a:prstGeom>
          <a:solidFill>
            <a:srgbClr val="3F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645470" y="3298570"/>
            <a:ext cx="2075688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3F7A4F"/>
                </a:solidFill>
                <a:latin typeface="Calibri"/>
              </a:rPr>
              <a:t>done</a:t>
            </a:r>
            <a:endParaRPr sz="1050" b="1" i="0">
              <a:solidFill>
                <a:srgbClr val="3F7A4F"/>
              </a:solidFill>
              <a:latin typeface="Calibri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6858318" y="3255263"/>
            <a:ext cx="2423160" cy="283464"/>
          </a:xfrm>
          <a:prstGeom prst="roundRect">
            <a:avLst>
              <a:gd name="adj" fmla="val 14000"/>
            </a:avLst>
          </a:prstGeom>
          <a:solidFill>
            <a:srgbClr val="EA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968046" y="3328415"/>
            <a:ext cx="137160" cy="137160"/>
          </a:xfrm>
          <a:prstGeom prst="rect">
            <a:avLst/>
          </a:prstGeom>
          <a:solidFill>
            <a:srgbClr val="3F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160070" y="3298570"/>
            <a:ext cx="2075688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3F7A4F"/>
                </a:solidFill>
                <a:latin typeface="Calibri"/>
              </a:rPr>
              <a:t>done</a:t>
            </a:r>
            <a:endParaRPr sz="1050" b="1" i="0">
              <a:solidFill>
                <a:srgbClr val="3F7A4F"/>
              </a:solidFill>
              <a:latin typeface="Calibri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9372918" y="3255263"/>
            <a:ext cx="2423160" cy="283464"/>
          </a:xfrm>
          <a:prstGeom prst="roundRect">
            <a:avLst>
              <a:gd name="adj" fmla="val 14000"/>
            </a:avLst>
          </a:prstGeom>
          <a:solidFill>
            <a:srgbClr val="E6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482646" y="3328415"/>
            <a:ext cx="137160" cy="13716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674670" y="3298570"/>
            <a:ext cx="2075688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2E6DA4"/>
                </a:solidFill>
                <a:latin typeface="Calibri"/>
              </a:rPr>
              <a:t>new merge</a:t>
            </a:r>
            <a:r>
              <a:rPr sz="950" b="0" i="0">
                <a:solidFill>
                  <a:srgbClr val="595959"/>
                </a:solidFill>
                <a:latin typeface="Calibri"/>
              </a:rPr>
              <a:t>  best score yet</a:t>
            </a:r>
            <a:endParaRPr sz="1050" b="1" i="0">
              <a:solidFill>
                <a:srgbClr val="3F7A4F"/>
              </a:solidFill>
              <a:latin typeface="Calibri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411798" y="2596895"/>
            <a:ext cx="1143000" cy="941831"/>
          </a:xfrm>
          <a:prstGeom prst="roundRect">
            <a:avLst>
              <a:gd name="adj" fmla="val 8000"/>
            </a:avLst>
          </a:prstGeom>
          <a:solidFill>
            <a:srgbClr val="F2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11798" y="2596895"/>
            <a:ext cx="54864" cy="941831"/>
          </a:xfrm>
          <a:prstGeom prst="rect">
            <a:avLst/>
          </a:prstGeom>
          <a:solidFill>
            <a:srgbClr val="6A5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30669" y="2865563"/>
            <a:ext cx="1005840" cy="40449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6A5D7B"/>
                </a:solidFill>
                <a:latin typeface="Calibri"/>
              </a:rPr>
              <a:t>Understand</a:t>
            </a:r>
            <a:endParaRPr sz="1200" b="1" i="0">
              <a:solidFill>
                <a:srgbClr val="6A5D7B"/>
              </a:solidFill>
              <a:latin typeface="Calibri"/>
            </a:endParaRPr>
          </a:p>
          <a:p>
            <a:pPr algn="l"/>
            <a:r>
              <a:rPr sz="1200" b="1" i="0">
                <a:solidFill>
                  <a:srgbClr val="6A5D7B"/>
                </a:solidFill>
                <a:latin typeface="Calibri"/>
              </a:rPr>
              <a:t>the user</a:t>
            </a:r>
            <a:endParaRPr sz="1200" b="1" i="0">
              <a:solidFill>
                <a:srgbClr val="6A5D7B"/>
              </a:solidFill>
              <a:latin typeface="Calibri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646238" y="3680332"/>
            <a:ext cx="2606040" cy="21971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Calibri"/>
              </a:rPr>
              <a:t>Face from speech</a:t>
            </a:r>
            <a:endParaRPr sz="1200" b="1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4343718" y="3648455"/>
            <a:ext cx="2423160" cy="283464"/>
          </a:xfrm>
          <a:prstGeom prst="roundRect">
            <a:avLst>
              <a:gd name="adj" fmla="val 14000"/>
            </a:avLst>
          </a:prstGeom>
          <a:solidFill>
            <a:srgbClr val="EA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453446" y="3721607"/>
            <a:ext cx="137160" cy="137160"/>
          </a:xfrm>
          <a:prstGeom prst="rect">
            <a:avLst/>
          </a:prstGeom>
          <a:solidFill>
            <a:srgbClr val="3F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645470" y="3691762"/>
            <a:ext cx="2075688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3F7A4F"/>
                </a:solidFill>
                <a:latin typeface="Calibri"/>
              </a:rPr>
              <a:t>done</a:t>
            </a:r>
            <a:endParaRPr sz="1050" b="1" i="0">
              <a:solidFill>
                <a:srgbClr val="3F7A4F"/>
              </a:solidFill>
              <a:latin typeface="Calibri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6858318" y="3648455"/>
            <a:ext cx="2423160" cy="283464"/>
          </a:xfrm>
          <a:prstGeom prst="roundRect">
            <a:avLst>
              <a:gd name="adj" fmla="val 14000"/>
            </a:avLst>
          </a:prstGeom>
          <a:solidFill>
            <a:srgbClr val="EA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968046" y="3721607"/>
            <a:ext cx="137160" cy="137160"/>
          </a:xfrm>
          <a:prstGeom prst="rect">
            <a:avLst/>
          </a:prstGeom>
          <a:solidFill>
            <a:srgbClr val="3F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160070" y="3691762"/>
            <a:ext cx="2075688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3F7A4F"/>
                </a:solidFill>
                <a:latin typeface="Calibri"/>
              </a:rPr>
              <a:t>done</a:t>
            </a:r>
            <a:r>
              <a:rPr sz="950" b="0" i="0">
                <a:solidFill>
                  <a:srgbClr val="595959"/>
                </a:solidFill>
                <a:latin typeface="Calibri"/>
              </a:rPr>
              <a:t>  one face model</a:t>
            </a:r>
            <a:endParaRPr sz="1050" b="1" i="0">
              <a:solidFill>
                <a:srgbClr val="3F7A4F"/>
              </a:solidFill>
              <a:latin typeface="Calibri"/>
            </a:endParaRPr>
          </a:p>
        </p:txBody>
      </p:sp>
      <p:sp>
        <p:nvSpPr>
          <p:cNvPr id="82" name="Rounded Rectangle 81"/>
          <p:cNvSpPr/>
          <p:nvPr/>
        </p:nvSpPr>
        <p:spPr>
          <a:xfrm>
            <a:off x="9372918" y="3648455"/>
            <a:ext cx="2423160" cy="283464"/>
          </a:xfrm>
          <a:prstGeom prst="roundRect">
            <a:avLst>
              <a:gd name="adj" fmla="val 14000"/>
            </a:avLst>
          </a:prstGeom>
          <a:solidFill>
            <a:srgbClr val="E6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482646" y="3721607"/>
            <a:ext cx="137160" cy="13716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674670" y="3691762"/>
            <a:ext cx="2075688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2E6DA4"/>
                </a:solidFill>
                <a:latin typeface="Calibri"/>
              </a:rPr>
              <a:t>new merge</a:t>
            </a:r>
            <a:r>
              <a:rPr sz="950" b="0" i="0">
                <a:solidFill>
                  <a:srgbClr val="595959"/>
                </a:solidFill>
                <a:latin typeface="Calibri"/>
              </a:rPr>
              <a:t>  old one in demo</a:t>
            </a:r>
            <a:endParaRPr sz="1050" b="1" i="0">
              <a:solidFill>
                <a:srgbClr val="3F7A4F"/>
              </a:solidFill>
              <a:latin typeface="Calibri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646238" y="4009516"/>
            <a:ext cx="2606040" cy="21971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Calibri"/>
              </a:rPr>
              <a:t>Body from speech</a:t>
            </a:r>
            <a:endParaRPr sz="1200" b="1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86" name="Rounded Rectangle 85"/>
          <p:cNvSpPr/>
          <p:nvPr/>
        </p:nvSpPr>
        <p:spPr>
          <a:xfrm>
            <a:off x="4343718" y="3977639"/>
            <a:ext cx="2423160" cy="283464"/>
          </a:xfrm>
          <a:prstGeom prst="roundRect">
            <a:avLst>
              <a:gd name="adj" fmla="val 14000"/>
            </a:avLst>
          </a:prstGeom>
          <a:solidFill>
            <a:srgbClr val="EA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453446" y="4050791"/>
            <a:ext cx="137160" cy="137160"/>
          </a:xfrm>
          <a:prstGeom prst="rect">
            <a:avLst/>
          </a:prstGeom>
          <a:solidFill>
            <a:srgbClr val="3F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645470" y="4020946"/>
            <a:ext cx="2075688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3F7A4F"/>
                </a:solidFill>
                <a:latin typeface="Calibri"/>
              </a:rPr>
              <a:t>done</a:t>
            </a:r>
            <a:endParaRPr sz="1050" b="1" i="0">
              <a:solidFill>
                <a:srgbClr val="3F7A4F"/>
              </a:solidFill>
              <a:latin typeface="Calibri"/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6858318" y="3977639"/>
            <a:ext cx="2423160" cy="283464"/>
          </a:xfrm>
          <a:prstGeom prst="roundRect">
            <a:avLst>
              <a:gd name="adj" fmla="val 14000"/>
            </a:avLst>
          </a:prstGeom>
          <a:solidFill>
            <a:srgbClr val="EA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968046" y="4050791"/>
            <a:ext cx="137160" cy="137160"/>
          </a:xfrm>
          <a:prstGeom prst="rect">
            <a:avLst/>
          </a:prstGeom>
          <a:solidFill>
            <a:srgbClr val="3F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160070" y="4020946"/>
            <a:ext cx="2075688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3F7A4F"/>
                </a:solidFill>
                <a:latin typeface="Calibri"/>
              </a:rPr>
              <a:t>done</a:t>
            </a:r>
            <a:endParaRPr sz="1050" b="1" i="0">
              <a:solidFill>
                <a:srgbClr val="3F7A4F"/>
              </a:solidFill>
              <a:latin typeface="Calibri"/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9372918" y="3977639"/>
            <a:ext cx="2423160" cy="283464"/>
          </a:xfrm>
          <a:prstGeom prst="roundRect">
            <a:avLst>
              <a:gd name="adj" fmla="val 14000"/>
            </a:avLst>
          </a:prstGeom>
          <a:solidFill>
            <a:srgbClr val="E6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482646" y="4050791"/>
            <a:ext cx="137160" cy="13716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674670" y="4020946"/>
            <a:ext cx="2075688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2E6DA4"/>
                </a:solidFill>
                <a:latin typeface="Calibri"/>
              </a:rPr>
              <a:t>new merge</a:t>
            </a:r>
            <a:r>
              <a:rPr sz="950" b="0" i="0">
                <a:solidFill>
                  <a:srgbClr val="595959"/>
                </a:solidFill>
                <a:latin typeface="Calibri"/>
              </a:rPr>
              <a:t>  old one in demo</a:t>
            </a:r>
            <a:endParaRPr sz="1050" b="1" i="0">
              <a:solidFill>
                <a:srgbClr val="3F7A4F"/>
              </a:solidFill>
              <a:latin typeface="Calibri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646238" y="4338700"/>
            <a:ext cx="2606040" cy="21971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Calibri"/>
              </a:rPr>
              <a:t>Face from instruction</a:t>
            </a:r>
            <a:endParaRPr sz="1200" b="1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4343718" y="4306823"/>
            <a:ext cx="2423160" cy="283464"/>
          </a:xfrm>
          <a:prstGeom prst="roundRect">
            <a:avLst>
              <a:gd name="adj" fmla="val 14000"/>
            </a:avLst>
          </a:prstGeom>
          <a:solidFill>
            <a:srgbClr val="EA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4453446" y="4379975"/>
            <a:ext cx="137160" cy="137160"/>
          </a:xfrm>
          <a:prstGeom prst="rect">
            <a:avLst/>
          </a:prstGeom>
          <a:solidFill>
            <a:srgbClr val="3F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645470" y="4350130"/>
            <a:ext cx="2075688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3F7A4F"/>
                </a:solidFill>
                <a:latin typeface="Calibri"/>
              </a:rPr>
              <a:t>done</a:t>
            </a:r>
            <a:endParaRPr sz="1050" b="1" i="0">
              <a:solidFill>
                <a:srgbClr val="3F7A4F"/>
              </a:solidFill>
              <a:latin typeface="Calibri"/>
            </a:endParaRPr>
          </a:p>
        </p:txBody>
      </p:sp>
      <p:sp>
        <p:nvSpPr>
          <p:cNvPr id="99" name="Rounded Rectangle 98"/>
          <p:cNvSpPr/>
          <p:nvPr/>
        </p:nvSpPr>
        <p:spPr>
          <a:xfrm>
            <a:off x="6858318" y="4306823"/>
            <a:ext cx="2423160" cy="283464"/>
          </a:xfrm>
          <a:prstGeom prst="roundRect">
            <a:avLst>
              <a:gd name="adj" fmla="val 14000"/>
            </a:avLst>
          </a:prstGeom>
          <a:solidFill>
            <a:srgbClr val="EA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968046" y="4379975"/>
            <a:ext cx="137160" cy="137160"/>
          </a:xfrm>
          <a:prstGeom prst="rect">
            <a:avLst/>
          </a:prstGeom>
          <a:solidFill>
            <a:srgbClr val="3F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160070" y="4350130"/>
            <a:ext cx="2075688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3F7A4F"/>
                </a:solidFill>
                <a:latin typeface="Calibri"/>
              </a:rPr>
              <a:t>done</a:t>
            </a:r>
            <a:r>
              <a:rPr sz="950" b="0" i="0">
                <a:solidFill>
                  <a:srgbClr val="595959"/>
                </a:solidFill>
                <a:latin typeface="Calibri"/>
              </a:rPr>
              <a:t>  same face model</a:t>
            </a:r>
            <a:endParaRPr sz="1050" b="1" i="0">
              <a:solidFill>
                <a:srgbClr val="3F7A4F"/>
              </a:solidFill>
              <a:latin typeface="Calibri"/>
            </a:endParaRPr>
          </a:p>
        </p:txBody>
      </p:sp>
      <p:sp>
        <p:nvSpPr>
          <p:cNvPr id="102" name="Rounded Rectangle 101"/>
          <p:cNvSpPr/>
          <p:nvPr/>
        </p:nvSpPr>
        <p:spPr>
          <a:xfrm>
            <a:off x="9372918" y="4306823"/>
            <a:ext cx="2423160" cy="28346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8C8C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482646" y="4379975"/>
            <a:ext cx="137160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8C8C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674670" y="4350130"/>
            <a:ext cx="2075688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8C8C8C"/>
                </a:solidFill>
                <a:latin typeface="Calibri"/>
              </a:rPr>
              <a:t>not started</a:t>
            </a:r>
            <a:endParaRPr sz="1050" b="1" i="0">
              <a:solidFill>
                <a:srgbClr val="8C8C8C"/>
              </a:solidFill>
              <a:latin typeface="Calibri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1646238" y="4598669"/>
            <a:ext cx="2606040" cy="3581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Calibri"/>
              </a:rPr>
              <a:t>Body from instruction</a:t>
            </a:r>
            <a:endParaRPr sz="1050" b="1" i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050" b="1" i="0">
                <a:solidFill>
                  <a:srgbClr val="222222"/>
                </a:solidFill>
                <a:latin typeface="Calibri"/>
              </a:rPr>
              <a:t>+ think first</a:t>
            </a:r>
            <a:endParaRPr sz="1050" b="1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106" name="Rounded Rectangle 105"/>
          <p:cNvSpPr/>
          <p:nvPr/>
        </p:nvSpPr>
        <p:spPr>
          <a:xfrm>
            <a:off x="4343718" y="4636007"/>
            <a:ext cx="2423160" cy="283464"/>
          </a:xfrm>
          <a:prstGeom prst="roundRect">
            <a:avLst>
              <a:gd name="adj" fmla="val 14000"/>
            </a:avLst>
          </a:prstGeom>
          <a:solidFill>
            <a:srgbClr val="EA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453446" y="4709159"/>
            <a:ext cx="137160" cy="137160"/>
          </a:xfrm>
          <a:prstGeom prst="rect">
            <a:avLst/>
          </a:prstGeom>
          <a:solidFill>
            <a:srgbClr val="3F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645470" y="4679314"/>
            <a:ext cx="2075688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3F7A4F"/>
                </a:solidFill>
                <a:latin typeface="Calibri"/>
              </a:rPr>
              <a:t>done</a:t>
            </a:r>
            <a:endParaRPr sz="1050" b="1" i="0">
              <a:solidFill>
                <a:srgbClr val="3F7A4F"/>
              </a:solidFill>
              <a:latin typeface="Calibri"/>
            </a:endParaRPr>
          </a:p>
        </p:txBody>
      </p:sp>
      <p:sp>
        <p:nvSpPr>
          <p:cNvPr id="109" name="Rounded Rectangle 108"/>
          <p:cNvSpPr/>
          <p:nvPr/>
        </p:nvSpPr>
        <p:spPr>
          <a:xfrm>
            <a:off x="6858318" y="4636007"/>
            <a:ext cx="2423160" cy="283464"/>
          </a:xfrm>
          <a:prstGeom prst="roundRect">
            <a:avLst>
              <a:gd name="adj" fmla="val 14000"/>
            </a:avLst>
          </a:prstGeom>
          <a:solidFill>
            <a:srgbClr val="EA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968046" y="4709159"/>
            <a:ext cx="137160" cy="137160"/>
          </a:xfrm>
          <a:prstGeom prst="rect">
            <a:avLst/>
          </a:prstGeom>
          <a:solidFill>
            <a:srgbClr val="3F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160070" y="4679314"/>
            <a:ext cx="2075688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3F7A4F"/>
                </a:solidFill>
                <a:latin typeface="Calibri"/>
              </a:rPr>
              <a:t>done</a:t>
            </a:r>
            <a:r>
              <a:rPr sz="950" b="0" i="0">
                <a:solidFill>
                  <a:srgbClr val="595959"/>
                </a:solidFill>
                <a:latin typeface="Calibri"/>
              </a:rPr>
              <a:t>  one body model + speech</a:t>
            </a:r>
            <a:endParaRPr sz="1050" b="1" i="0">
              <a:solidFill>
                <a:srgbClr val="3F7A4F"/>
              </a:solidFill>
              <a:latin typeface="Calibri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9372918" y="4636007"/>
            <a:ext cx="2423160" cy="283464"/>
          </a:xfrm>
          <a:prstGeom prst="roundRect">
            <a:avLst>
              <a:gd name="adj" fmla="val 14000"/>
            </a:avLst>
          </a:prstGeom>
          <a:solidFill>
            <a:srgbClr val="E6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482646" y="4709159"/>
            <a:ext cx="137160" cy="13716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674670" y="4679314"/>
            <a:ext cx="2075688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2E6DA4"/>
                </a:solidFill>
                <a:latin typeface="Calibri"/>
              </a:rPr>
              <a:t>new merge</a:t>
            </a:r>
            <a:r>
              <a:rPr sz="950" b="0" i="0">
                <a:solidFill>
                  <a:srgbClr val="595959"/>
                </a:solidFill>
                <a:latin typeface="Calibri"/>
              </a:rPr>
              <a:t>  plans itself, weaker</a:t>
            </a:r>
            <a:endParaRPr sz="1050" b="1" i="0">
              <a:solidFill>
                <a:srgbClr val="3F7A4F"/>
              </a:solidFill>
              <a:latin typeface="Calibri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1646238" y="4997069"/>
            <a:ext cx="2606040" cy="21971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Calibri"/>
              </a:rPr>
              <a:t>Face + body together</a:t>
            </a:r>
            <a:endParaRPr sz="1200" b="1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116" name="Rounded Rectangle 115"/>
          <p:cNvSpPr/>
          <p:nvPr/>
        </p:nvSpPr>
        <p:spPr>
          <a:xfrm>
            <a:off x="4343718" y="4965192"/>
            <a:ext cx="2423160" cy="283464"/>
          </a:xfrm>
          <a:prstGeom prst="roundRect">
            <a:avLst>
              <a:gd name="adj" fmla="val 14000"/>
            </a:avLst>
          </a:prstGeom>
          <a:solidFill>
            <a:srgbClr val="EA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4453446" y="5038344"/>
            <a:ext cx="137160" cy="137160"/>
          </a:xfrm>
          <a:prstGeom prst="rect">
            <a:avLst/>
          </a:prstGeom>
          <a:solidFill>
            <a:srgbClr val="3F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645470" y="5008499"/>
            <a:ext cx="2075688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3F7A4F"/>
                </a:solidFill>
                <a:latin typeface="Calibri"/>
              </a:rPr>
              <a:t>done</a:t>
            </a:r>
            <a:r>
              <a:rPr sz="950" b="0" i="0">
                <a:solidFill>
                  <a:srgbClr val="595959"/>
                </a:solidFill>
                <a:latin typeface="Calibri"/>
              </a:rPr>
              <a:t>  one shared head</a:t>
            </a:r>
            <a:endParaRPr sz="9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19" name="Rounded Rectangle 118"/>
          <p:cNvSpPr/>
          <p:nvPr/>
        </p:nvSpPr>
        <p:spPr>
          <a:xfrm>
            <a:off x="6858318" y="4965192"/>
            <a:ext cx="2423160" cy="283464"/>
          </a:xfrm>
          <a:prstGeom prst="roundRect">
            <a:avLst>
              <a:gd name="adj" fmla="val 14000"/>
            </a:avLst>
          </a:prstGeom>
          <a:solidFill>
            <a:srgbClr val="EA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6968046" y="5038344"/>
            <a:ext cx="137160" cy="137160"/>
          </a:xfrm>
          <a:prstGeom prst="rect">
            <a:avLst/>
          </a:prstGeom>
          <a:solidFill>
            <a:srgbClr val="3F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160070" y="5008499"/>
            <a:ext cx="2075688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3F7A4F"/>
                </a:solidFill>
                <a:latin typeface="Calibri"/>
              </a:rPr>
              <a:t>done</a:t>
            </a:r>
            <a:r>
              <a:rPr sz="950" b="0" i="0">
                <a:solidFill>
                  <a:srgbClr val="595959"/>
                </a:solidFill>
                <a:latin typeface="Calibri"/>
              </a:rPr>
              <a:t>  two-way link chosen</a:t>
            </a:r>
            <a:endParaRPr sz="1050" b="1" i="0">
              <a:solidFill>
                <a:srgbClr val="3F7A4F"/>
              </a:solidFill>
              <a:latin typeface="Calibri"/>
            </a:endParaRPr>
          </a:p>
        </p:txBody>
      </p:sp>
      <p:sp>
        <p:nvSpPr>
          <p:cNvPr id="122" name="Rounded Rectangle 121"/>
          <p:cNvSpPr/>
          <p:nvPr/>
        </p:nvSpPr>
        <p:spPr>
          <a:xfrm>
            <a:off x="9372918" y="4965192"/>
            <a:ext cx="2423160" cy="283464"/>
          </a:xfrm>
          <a:prstGeom prst="roundRect">
            <a:avLst>
              <a:gd name="adj" fmla="val 14000"/>
            </a:avLst>
          </a:prstGeom>
          <a:solidFill>
            <a:srgbClr val="E6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9482646" y="5038344"/>
            <a:ext cx="137160" cy="13716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674670" y="5008499"/>
            <a:ext cx="2075688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2E6DA4"/>
                </a:solidFill>
                <a:latin typeface="Calibri"/>
              </a:rPr>
              <a:t>new merge</a:t>
            </a:r>
            <a:r>
              <a:rPr sz="950" b="0" i="0">
                <a:solidFill>
                  <a:srgbClr val="595959"/>
                </a:solidFill>
                <a:latin typeface="Calibri"/>
              </a:rPr>
              <a:t>  old one in demo</a:t>
            </a:r>
            <a:endParaRPr sz="1050" b="1" i="0">
              <a:solidFill>
                <a:srgbClr val="3F7A4F"/>
              </a:solidFill>
              <a:latin typeface="Calibri"/>
            </a:endParaRPr>
          </a:p>
        </p:txBody>
      </p:sp>
      <p:sp>
        <p:nvSpPr>
          <p:cNvPr id="125" name="Rounded Rectangle 124"/>
          <p:cNvSpPr/>
          <p:nvPr/>
        </p:nvSpPr>
        <p:spPr>
          <a:xfrm>
            <a:off x="411798" y="3648455"/>
            <a:ext cx="1143000" cy="1600200"/>
          </a:xfrm>
          <a:prstGeom prst="roundRect">
            <a:avLst>
              <a:gd name="adj" fmla="val 8000"/>
            </a:avLst>
          </a:prstGeom>
          <a:solidFill>
            <a:srgbClr val="F5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1798" y="3648455"/>
            <a:ext cx="54864" cy="1600200"/>
          </a:xfrm>
          <a:prstGeom prst="rect">
            <a:avLst/>
          </a:prstGeom>
          <a:solidFill>
            <a:srgbClr val="8E3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30669" y="4246308"/>
            <a:ext cx="1005840" cy="40449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8E3B46"/>
                </a:solidFill>
                <a:latin typeface="Calibri"/>
              </a:rPr>
              <a:t>Move the</a:t>
            </a:r>
            <a:endParaRPr sz="1200" b="1" i="0">
              <a:solidFill>
                <a:srgbClr val="8E3B46"/>
              </a:solidFill>
              <a:latin typeface="Calibri"/>
            </a:endParaRPr>
          </a:p>
          <a:p>
            <a:pPr algn="l"/>
            <a:r>
              <a:rPr sz="1200" b="1" i="0">
                <a:solidFill>
                  <a:srgbClr val="8E3B46"/>
                </a:solidFill>
                <a:latin typeface="Calibri"/>
              </a:rPr>
              <a:t>avatar</a:t>
            </a:r>
            <a:endParaRPr sz="1200" b="1" i="0">
              <a:solidFill>
                <a:srgbClr val="8E3B46"/>
              </a:solidFill>
              <a:latin typeface="Calibri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1646238" y="5390261"/>
            <a:ext cx="2606040" cy="21971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Calibri"/>
              </a:rPr>
              <a:t>React to the user's movement</a:t>
            </a:r>
            <a:endParaRPr sz="1200" b="1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129" name="Rounded Rectangle 128"/>
          <p:cNvSpPr/>
          <p:nvPr/>
        </p:nvSpPr>
        <p:spPr>
          <a:xfrm>
            <a:off x="4343718" y="5358384"/>
            <a:ext cx="2423160" cy="283464"/>
          </a:xfrm>
          <a:prstGeom prst="roundRect">
            <a:avLst>
              <a:gd name="adj" fmla="val 14000"/>
            </a:avLst>
          </a:prstGeom>
          <a:solidFill>
            <a:srgbClr val="F6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53446" y="5431536"/>
            <a:ext cx="137160" cy="13716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645470" y="5328666"/>
            <a:ext cx="2075688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B7791F"/>
                </a:solidFill>
                <a:latin typeface="Calibri"/>
              </a:rPr>
              <a:t>in research</a:t>
            </a:r>
            <a:r>
              <a:rPr sz="950" b="0" i="0">
                <a:solidFill>
                  <a:srgbClr val="595959"/>
                </a:solidFill>
                <a:latin typeface="Calibri"/>
              </a:rPr>
              <a:t>  two people, no speech</a:t>
            </a:r>
            <a:endParaRPr sz="9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32" name="Rounded Rectangle 131"/>
          <p:cNvSpPr/>
          <p:nvPr/>
        </p:nvSpPr>
        <p:spPr>
          <a:xfrm>
            <a:off x="6858318" y="5358384"/>
            <a:ext cx="2423160" cy="28346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8C8C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6968046" y="5431536"/>
            <a:ext cx="137160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8C8C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160070" y="5401691"/>
            <a:ext cx="2075688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8C8C8C"/>
                </a:solidFill>
                <a:latin typeface="Calibri"/>
              </a:rPr>
              <a:t>not started</a:t>
            </a:r>
            <a:endParaRPr sz="1050" b="1" i="0">
              <a:solidFill>
                <a:srgbClr val="8C8C8C"/>
              </a:solidFill>
              <a:latin typeface="Calibri"/>
            </a:endParaRPr>
          </a:p>
        </p:txBody>
      </p:sp>
      <p:sp>
        <p:nvSpPr>
          <p:cNvPr id="135" name="Rounded Rectangle 134"/>
          <p:cNvSpPr/>
          <p:nvPr/>
        </p:nvSpPr>
        <p:spPr>
          <a:xfrm>
            <a:off x="9372918" y="5358384"/>
            <a:ext cx="2423160" cy="283464"/>
          </a:xfrm>
          <a:prstGeom prst="roundRect">
            <a:avLst>
              <a:gd name="adj" fmla="val 14000"/>
            </a:avLst>
          </a:prstGeom>
          <a:solidFill>
            <a:srgbClr val="EB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482646" y="5431536"/>
            <a:ext cx="137160" cy="1371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9674670" y="5401691"/>
            <a:ext cx="2075688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1F3A5F"/>
                </a:solidFill>
                <a:latin typeface="Calibri"/>
              </a:rPr>
              <a:t>camera wired</a:t>
            </a:r>
            <a:r>
              <a:rPr sz="950" b="0" i="0">
                <a:solidFill>
                  <a:srgbClr val="595959"/>
                </a:solidFill>
                <a:latin typeface="Calibri"/>
              </a:rPr>
              <a:t>  off by default</a:t>
            </a:r>
            <a:endParaRPr sz="9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38" name="Rounded Rectangle 137"/>
          <p:cNvSpPr/>
          <p:nvPr/>
        </p:nvSpPr>
        <p:spPr>
          <a:xfrm>
            <a:off x="411798" y="5358384"/>
            <a:ext cx="1143000" cy="283464"/>
          </a:xfrm>
          <a:prstGeom prst="roundRect">
            <a:avLst>
              <a:gd name="adj" fmla="val 8000"/>
            </a:avLst>
          </a:prstGeom>
          <a:solidFill>
            <a:srgbClr val="EB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11798" y="5358384"/>
            <a:ext cx="54864" cy="2834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30669" y="5390261"/>
            <a:ext cx="1005840" cy="21971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React</a:t>
            </a:r>
            <a:endParaRPr sz="1200" b="1" i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141" name="Rounded Rectangle 140"/>
          <p:cNvSpPr/>
          <p:nvPr/>
        </p:nvSpPr>
        <p:spPr>
          <a:xfrm>
            <a:off x="411798" y="5751576"/>
            <a:ext cx="11384280" cy="347472"/>
          </a:xfrm>
          <a:prstGeom prst="roundRect">
            <a:avLst>
              <a:gd name="adj" fmla="val 12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548958" y="5815457"/>
            <a:ext cx="11155680" cy="21971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Goal  </a:t>
            </a:r>
            <a:r>
              <a:rPr sz="1200" b="1" i="0">
                <a:solidFill>
                  <a:srgbClr val="FFFFFF"/>
                </a:solidFill>
                <a:latin typeface="Calibri"/>
              </a:rPr>
              <a:t>every row reaches ③ in ONE new model.  </a:t>
            </a:r>
            <a:r>
              <a:rPr sz="1200" b="0" i="0">
                <a:solidFill>
                  <a:srgbClr val="C7CED7"/>
                </a:solidFill>
                <a:latin typeface="Calibri"/>
              </a:rPr>
              <a:t>Today: the demo runs an earlier merge; a new full merge covers 9 of 11 rows, tested offline; live trial being set up.</a:t>
            </a:r>
            <a:endParaRPr sz="1200" b="0" i="0">
              <a:solidFill>
                <a:srgbClr val="C7CED7"/>
              </a:solidFill>
              <a:latin typeface="Calibri"/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411798" y="6144768"/>
            <a:ext cx="11384280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6A5D7B"/>
                </a:solidFill>
                <a:latin typeface="Calibri"/>
              </a:rPr>
              <a:t>Understand</a:t>
            </a:r>
            <a:r>
              <a:rPr sz="1000" b="0" i="0">
                <a:solidFill>
                  <a:srgbClr val="595959"/>
                </a:solidFill>
                <a:latin typeface="Calibri"/>
              </a:rPr>
              <a:t> = say in words what the camera shows   ·   </a:t>
            </a:r>
            <a:r>
              <a:rPr sz="1000" b="1" i="0">
                <a:solidFill>
                  <a:srgbClr val="1F3A5F"/>
                </a:solidFill>
                <a:latin typeface="Calibri"/>
              </a:rPr>
              <a:t>React</a:t>
            </a:r>
            <a:r>
              <a:rPr sz="1000" b="0" i="0">
                <a:solidFill>
                  <a:srgbClr val="595959"/>
                </a:solidFill>
                <a:latin typeface="Calibri"/>
              </a:rPr>
              <a:t> = change the avatar's own speech or motion because of it</a:t>
            </a:r>
            <a:endParaRPr sz="10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2" name="Rectangle 16"/>
          <p:cNvSpPr/>
          <p:nvPr/>
        </p:nvSpPr>
        <p:spPr>
          <a:xfrm>
            <a:off x="3063240" y="1389888"/>
            <a:ext cx="128016" cy="128016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17"/>
          <p:cNvSpPr txBox="1"/>
          <p:nvPr/>
        </p:nvSpPr>
        <p:spPr>
          <a:xfrm>
            <a:off x="3246120" y="1325880"/>
            <a:ext cx="1280160" cy="1816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Calibri"/>
              </a:rPr>
              <a:t>new merge (offline)</a:t>
            </a:r>
            <a:endParaRPr sz="950" b="0" i="0">
              <a:solidFill>
                <a:srgbClr val="222222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09600" y="152401"/>
            <a:ext cx="9906000" cy="685793"/>
          </a:xfrm>
          <a:prstGeom prst="rect">
            <a:avLst/>
          </a:prstGeom>
          <a:noFill/>
        </p:spPr>
        <p:txBody>
          <a:bodyPr wrap="square" lIns="91440" tIns="45720" rIns="91440" bIns="45720" anchor="b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+mj-lt"/>
                <a:ea typeface="+mj-ea"/>
              </a:rPr>
              <a:t>Architecture: one speech LM that hears, sees, talks and moves</a:t>
            </a:r>
            <a:endParaRPr sz="2600" b="0">
              <a:solidFill>
                <a:srgbClr val="000000"/>
              </a:solidFill>
              <a:latin typeface="+mj-lt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64464" y="950000"/>
            <a:ext cx="11131614" cy="266065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  <a:latin typeface="Calibri"/>
              </a:rPr>
              <a:t>All inputs are added into one vector every 80 ms; the 7B speaks and writes, and a motion generator turns its state into face and body</a:t>
            </a:r>
            <a:endParaRPr sz="15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1798" y="1298448"/>
            <a:ext cx="3657600" cy="19685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1" i="0">
                <a:solidFill>
                  <a:srgbClr val="595959"/>
                </a:solidFill>
                <a:latin typeface="Calibri"/>
              </a:rPr>
              <a:t>INPUT  ·  summed into one vector</a:t>
            </a:r>
            <a:endParaRPr sz="1050" b="1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35158" y="1298448"/>
            <a:ext cx="1645920" cy="19685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50" b="1" i="0">
                <a:solidFill>
                  <a:srgbClr val="595959"/>
                </a:solidFill>
                <a:latin typeface="Calibri"/>
              </a:rPr>
              <a:t>BACKBONE</a:t>
            </a:r>
            <a:endParaRPr sz="1050" b="1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1118" y="1298448"/>
            <a:ext cx="2743200" cy="19685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1" i="0">
                <a:solidFill>
                  <a:srgbClr val="595959"/>
                </a:solidFill>
                <a:latin typeface="Calibri"/>
              </a:rPr>
              <a:t>OUTPUT</a:t>
            </a:r>
            <a:endParaRPr sz="1050" b="1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0012998" y="1344168"/>
            <a:ext cx="274320" cy="1645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42181" y="1298448"/>
            <a:ext cx="1097280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trained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1064558" y="1344168"/>
            <a:ext cx="274320" cy="164592"/>
          </a:xfrm>
          <a:prstGeom prst="roundRect">
            <a:avLst>
              <a:gd name="adj" fmla="val 10000"/>
            </a:avLst>
          </a:prstGeom>
          <a:solidFill>
            <a:srgbClr val="F5F5F3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93742" y="1298448"/>
            <a:ext cx="1188720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frozen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869998" y="1298448"/>
            <a:ext cx="1097280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module training:</a:t>
            </a:r>
            <a:endParaRPr sz="10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11798" y="1737360"/>
            <a:ext cx="192024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250" b="1" i="0">
                <a:solidFill>
                  <a:srgbClr val="9C7A2B"/>
                </a:solidFill>
                <a:latin typeface="Calibri"/>
              </a:rPr>
              <a:t>Text token</a:t>
            </a:r>
            <a:endParaRPr sz="1250" b="1" i="0">
              <a:solidFill>
                <a:srgbClr val="9C7A2B"/>
              </a:solidFill>
              <a:latin typeface="Calibri"/>
            </a:endParaRPr>
          </a:p>
          <a:p>
            <a:pPr algn="ctr"/>
            <a:r>
              <a:rPr sz="950" b="0" i="0">
                <a:solidFill>
                  <a:srgbClr val="595959"/>
                </a:solidFill>
                <a:latin typeface="Calibri"/>
              </a:rPr>
              <a:t>its own last token</a:t>
            </a:r>
            <a:endParaRPr sz="9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450910" y="1892807"/>
            <a:ext cx="100584" cy="292608"/>
          </a:xfrm>
          <a:prstGeom prst="rect">
            <a:avLst/>
          </a:prstGeom>
          <a:solidFill>
            <a:srgbClr val="9C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2569782" y="2039112"/>
            <a:ext cx="1179575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11798" y="2523744"/>
            <a:ext cx="192024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250" b="1" i="0">
                <a:solidFill>
                  <a:srgbClr val="35577A"/>
                </a:solidFill>
                <a:latin typeface="Calibri"/>
              </a:rPr>
              <a:t>Agent audio</a:t>
            </a:r>
            <a:endParaRPr sz="1250" b="1" i="0">
              <a:solidFill>
                <a:srgbClr val="35577A"/>
              </a:solidFill>
              <a:latin typeface="Calibri"/>
            </a:endParaRPr>
          </a:p>
          <a:p>
            <a:pPr algn="ctr"/>
            <a:r>
              <a:rPr sz="950" b="0" i="0">
                <a:solidFill>
                  <a:srgbClr val="595959"/>
                </a:solidFill>
                <a:latin typeface="Calibri"/>
              </a:rPr>
              <a:t>its own last 8 audio codes</a:t>
            </a:r>
            <a:endParaRPr sz="9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450910" y="2679191"/>
            <a:ext cx="100584" cy="292608"/>
          </a:xfrm>
          <a:prstGeom prst="rect">
            <a:avLst/>
          </a:prstGeom>
          <a:solidFill>
            <a:srgbClr val="355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01786" y="2679191"/>
            <a:ext cx="100584" cy="292608"/>
          </a:xfrm>
          <a:prstGeom prst="rect">
            <a:avLst/>
          </a:prstGeom>
          <a:solidFill>
            <a:srgbClr val="355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52662" y="2679191"/>
            <a:ext cx="100584" cy="292608"/>
          </a:xfrm>
          <a:prstGeom prst="rect">
            <a:avLst/>
          </a:prstGeom>
          <a:solidFill>
            <a:srgbClr val="355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03538" y="2679191"/>
            <a:ext cx="100584" cy="292608"/>
          </a:xfrm>
          <a:prstGeom prst="rect">
            <a:avLst/>
          </a:prstGeom>
          <a:solidFill>
            <a:srgbClr val="355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54414" y="2679191"/>
            <a:ext cx="100584" cy="292608"/>
          </a:xfrm>
          <a:prstGeom prst="rect">
            <a:avLst/>
          </a:prstGeom>
          <a:solidFill>
            <a:srgbClr val="355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5290" y="2679191"/>
            <a:ext cx="100584" cy="292608"/>
          </a:xfrm>
          <a:prstGeom prst="rect">
            <a:avLst/>
          </a:prstGeom>
          <a:solidFill>
            <a:srgbClr val="355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6166" y="2679191"/>
            <a:ext cx="100584" cy="292608"/>
          </a:xfrm>
          <a:prstGeom prst="rect">
            <a:avLst/>
          </a:prstGeom>
          <a:solidFill>
            <a:srgbClr val="355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507042" y="2679191"/>
            <a:ext cx="100584" cy="292608"/>
          </a:xfrm>
          <a:prstGeom prst="rect">
            <a:avLst/>
          </a:prstGeom>
          <a:solidFill>
            <a:srgbClr val="355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3625914" y="2825496"/>
            <a:ext cx="123443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11798" y="3310128"/>
            <a:ext cx="192024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250" b="1" i="0">
                <a:solidFill>
                  <a:srgbClr val="35577A"/>
                </a:solidFill>
                <a:latin typeface="Calibri"/>
              </a:rPr>
              <a:t>User audio</a:t>
            </a:r>
            <a:endParaRPr sz="1250" b="1" i="0">
              <a:solidFill>
                <a:srgbClr val="35577A"/>
              </a:solidFill>
              <a:latin typeface="Calibri"/>
            </a:endParaRPr>
          </a:p>
          <a:p>
            <a:pPr algn="ctr"/>
            <a:r>
              <a:rPr sz="950" b="0" i="0">
                <a:solidFill>
                  <a:srgbClr val="595959"/>
                </a:solidFill>
                <a:latin typeface="Calibri"/>
              </a:rPr>
              <a:t>8 audio codes from the mic</a:t>
            </a:r>
            <a:endParaRPr sz="9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450910" y="3465576"/>
            <a:ext cx="100584" cy="292608"/>
          </a:xfrm>
          <a:prstGeom prst="rect">
            <a:avLst/>
          </a:prstGeom>
          <a:solidFill>
            <a:srgbClr val="9AAB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601786" y="3465576"/>
            <a:ext cx="100584" cy="292608"/>
          </a:xfrm>
          <a:prstGeom prst="rect">
            <a:avLst/>
          </a:prstGeom>
          <a:solidFill>
            <a:srgbClr val="9AAB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52662" y="3465576"/>
            <a:ext cx="100584" cy="292608"/>
          </a:xfrm>
          <a:prstGeom prst="rect">
            <a:avLst/>
          </a:prstGeom>
          <a:solidFill>
            <a:srgbClr val="9AAB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903538" y="3465576"/>
            <a:ext cx="100584" cy="292608"/>
          </a:xfrm>
          <a:prstGeom prst="rect">
            <a:avLst/>
          </a:prstGeom>
          <a:solidFill>
            <a:srgbClr val="9AAB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054414" y="3465576"/>
            <a:ext cx="100584" cy="292608"/>
          </a:xfrm>
          <a:prstGeom prst="rect">
            <a:avLst/>
          </a:prstGeom>
          <a:solidFill>
            <a:srgbClr val="9AAB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5290" y="3465576"/>
            <a:ext cx="100584" cy="292608"/>
          </a:xfrm>
          <a:prstGeom prst="rect">
            <a:avLst/>
          </a:prstGeom>
          <a:solidFill>
            <a:srgbClr val="9AAB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356166" y="3465576"/>
            <a:ext cx="100584" cy="292608"/>
          </a:xfrm>
          <a:prstGeom prst="rect">
            <a:avLst/>
          </a:prstGeom>
          <a:solidFill>
            <a:srgbClr val="9AAB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507042" y="3465576"/>
            <a:ext cx="100584" cy="292608"/>
          </a:xfrm>
          <a:prstGeom prst="rect">
            <a:avLst/>
          </a:prstGeom>
          <a:solidFill>
            <a:srgbClr val="9AAB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3625914" y="3611880"/>
            <a:ext cx="123443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411798" y="4096512"/>
            <a:ext cx="192024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6A5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250" b="1" i="0">
                <a:solidFill>
                  <a:srgbClr val="6A5D7B"/>
                </a:solidFill>
                <a:latin typeface="Calibri"/>
              </a:rPr>
              <a:t>User camera</a:t>
            </a:r>
            <a:endParaRPr sz="1250" b="1" i="0">
              <a:solidFill>
                <a:srgbClr val="6A5D7B"/>
              </a:solidFill>
              <a:latin typeface="Calibri"/>
            </a:endParaRPr>
          </a:p>
          <a:p>
            <a:pPr algn="ctr"/>
            <a:r>
              <a:rPr sz="950" b="0" i="0">
                <a:solidFill>
                  <a:srgbClr val="595959"/>
                </a:solidFill>
                <a:latin typeface="Calibri"/>
              </a:rPr>
              <a:t>tracker → user encoder</a:t>
            </a:r>
            <a:endParaRPr sz="9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450910" y="4251960"/>
            <a:ext cx="100584" cy="292608"/>
          </a:xfrm>
          <a:prstGeom prst="rect">
            <a:avLst/>
          </a:prstGeom>
          <a:solidFill>
            <a:srgbClr val="6A5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2569782" y="4398264"/>
            <a:ext cx="1179575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749357" y="2039112"/>
            <a:ext cx="0" cy="2359152"/>
          </a:xfrm>
          <a:prstGeom prst="line">
            <a:avLst/>
          </a:prstGeom>
          <a:ln w="1270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3840798" y="3054096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222222"/>
                </a:solidFill>
                <a:latin typeface="Calibri"/>
              </a:rPr>
              <a:t>+</a:t>
            </a:r>
            <a:endParaRPr sz="1500" b="1" i="0">
              <a:solidFill>
                <a:srgbClr val="222222"/>
              </a:solidFill>
              <a:latin typeface="Calibri"/>
            </a:endParaRPr>
          </a:p>
        </p:txBody>
      </p:sp>
      <p:cxnSp>
        <p:nvCxnSpPr>
          <p:cNvPr id="45" name="Connector 44"/>
          <p:cNvCxnSpPr/>
          <p:nvPr/>
        </p:nvCxnSpPr>
        <p:spPr>
          <a:xfrm>
            <a:off x="3749357" y="3218688"/>
            <a:ext cx="91441" cy="0"/>
          </a:xfrm>
          <a:prstGeom prst="line">
            <a:avLst/>
          </a:prstGeom>
          <a:ln w="1270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169981" y="3218688"/>
            <a:ext cx="265177" cy="0"/>
          </a:xfrm>
          <a:prstGeom prst="line">
            <a:avLst/>
          </a:prstGeom>
          <a:ln w="1905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612198" y="3419856"/>
            <a:ext cx="822960" cy="17399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Calibri"/>
              </a:rPr>
              <a:t>1 × 4096</a:t>
            </a:r>
            <a:endParaRPr sz="9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11798" y="4864608"/>
            <a:ext cx="3840480" cy="1816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 b="0" i="1">
                <a:solidFill>
                  <a:srgbClr val="595959"/>
                </a:solidFill>
                <a:latin typeface="Calibri"/>
              </a:rPr>
              <a:t>↺ the agent's own outputs come back as next input</a:t>
            </a:r>
            <a:endParaRPr sz="950" b="0" i="1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4435158" y="1737360"/>
            <a:ext cx="1645920" cy="2962656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7B speech LM</a:t>
            </a:r>
            <a:endParaRPr sz="1600" b="1" i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sz="1100" b="0" i="0">
                <a:solidFill>
                  <a:srgbClr val="C7CED7"/>
                </a:solidFill>
                <a:latin typeface="Calibri"/>
              </a:rPr>
              <a:t>32 layers × 4096</a:t>
            </a:r>
            <a:endParaRPr sz="1100" b="0" i="0">
              <a:solidFill>
                <a:srgbClr val="C7CED7"/>
              </a:solidFill>
              <a:latin typeface="Calibri"/>
            </a:endParaRPr>
          </a:p>
          <a:p>
            <a:pPr algn="ctr"/>
          </a:p>
          <a:p>
            <a:pPr algn="ctr"/>
            <a:r>
              <a:rPr sz="1100" b="0" i="0">
                <a:solidFill>
                  <a:srgbClr val="C7CED7"/>
                </a:solidFill>
                <a:latin typeface="Calibri"/>
              </a:rPr>
              <a:t>one step = 80 ms</a:t>
            </a:r>
            <a:endParaRPr sz="1100" b="0" i="0">
              <a:solidFill>
                <a:srgbClr val="C7CED7"/>
              </a:solidFill>
              <a:latin typeface="Calibri"/>
            </a:endParaRPr>
          </a:p>
          <a:p>
            <a:pPr algn="ctr"/>
          </a:p>
          <a:p>
            <a:pPr algn="ctr"/>
            <a:r>
              <a:rPr sz="1100" b="0" i="0">
                <a:solidFill>
                  <a:srgbClr val="C7CED7"/>
                </a:solidFill>
                <a:latin typeface="Calibri"/>
              </a:rPr>
              <a:t>hears the user</a:t>
            </a:r>
            <a:endParaRPr sz="1100" b="0" i="0">
              <a:solidFill>
                <a:srgbClr val="C7CED7"/>
              </a:solidFill>
              <a:latin typeface="Calibri"/>
            </a:endParaRPr>
          </a:p>
          <a:p>
            <a:pPr algn="ctr"/>
            <a:r>
              <a:rPr sz="1100" b="0" i="0">
                <a:solidFill>
                  <a:srgbClr val="C7CED7"/>
                </a:solidFill>
                <a:latin typeface="Calibri"/>
              </a:rPr>
              <a:t>and itself</a:t>
            </a:r>
            <a:endParaRPr sz="1100" b="0" i="0">
              <a:solidFill>
                <a:srgbClr val="C7CED7"/>
              </a:solidFill>
              <a:latin typeface="Calibri"/>
            </a:endParaRPr>
          </a:p>
          <a:p>
            <a:pPr algn="ctr"/>
          </a:p>
          <a:p>
            <a:pPr algn="ctr"/>
            <a:r>
              <a:rPr sz="1100" b="0" i="0">
                <a:solidFill>
                  <a:srgbClr val="C7CED7"/>
                </a:solidFill>
                <a:latin typeface="Calibri"/>
              </a:rPr>
              <a:t>frozen</a:t>
            </a:r>
            <a:endParaRPr sz="1100" b="0" i="0">
              <a:solidFill>
                <a:srgbClr val="C7CED7"/>
              </a:solidFill>
              <a:latin typeface="Calibri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6401118" y="1737360"/>
            <a:ext cx="5394960" cy="731520"/>
          </a:xfrm>
          <a:prstGeom prst="roundRect">
            <a:avLst>
              <a:gd name="adj" fmla="val 5000"/>
            </a:avLst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74270" y="1989455"/>
            <a:ext cx="731520" cy="2273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50" b="1" i="0">
                <a:solidFill>
                  <a:srgbClr val="35577A"/>
                </a:solidFill>
                <a:latin typeface="Calibri"/>
              </a:rPr>
              <a:t>Speak</a:t>
            </a:r>
            <a:endParaRPr sz="1250" b="1" i="0">
              <a:solidFill>
                <a:srgbClr val="35577A"/>
              </a:solidFill>
              <a:latin typeface="Calibri"/>
            </a:endParaRPr>
          </a:p>
        </p:txBody>
      </p:sp>
      <p:cxnSp>
        <p:nvCxnSpPr>
          <p:cNvPr id="52" name="Connector 51"/>
          <p:cNvCxnSpPr/>
          <p:nvPr/>
        </p:nvCxnSpPr>
        <p:spPr>
          <a:xfrm>
            <a:off x="6081078" y="2103120"/>
            <a:ext cx="320040" cy="0"/>
          </a:xfrm>
          <a:prstGeom prst="line">
            <a:avLst/>
          </a:prstGeom>
          <a:ln w="15875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6401118" y="2633472"/>
            <a:ext cx="5394960" cy="731520"/>
          </a:xfrm>
          <a:prstGeom prst="roundRect">
            <a:avLst>
              <a:gd name="adj" fmla="val 5000"/>
            </a:avLst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74270" y="2885567"/>
            <a:ext cx="731520" cy="2273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50" b="1" i="0">
                <a:solidFill>
                  <a:srgbClr val="9C7A2B"/>
                </a:solidFill>
                <a:latin typeface="Calibri"/>
              </a:rPr>
              <a:t>Write</a:t>
            </a:r>
            <a:endParaRPr sz="1250" b="1" i="0">
              <a:solidFill>
                <a:srgbClr val="9C7A2B"/>
              </a:solidFill>
              <a:latin typeface="Calibri"/>
            </a:endParaRPr>
          </a:p>
        </p:txBody>
      </p:sp>
      <p:cxnSp>
        <p:nvCxnSpPr>
          <p:cNvPr id="55" name="Connector 54"/>
          <p:cNvCxnSpPr/>
          <p:nvPr/>
        </p:nvCxnSpPr>
        <p:spPr>
          <a:xfrm>
            <a:off x="6081078" y="2999232"/>
            <a:ext cx="320040" cy="0"/>
          </a:xfrm>
          <a:prstGeom prst="line">
            <a:avLst/>
          </a:prstGeom>
          <a:ln w="15875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6401118" y="3529584"/>
            <a:ext cx="5394960" cy="1170432"/>
          </a:xfrm>
          <a:prstGeom prst="roundRect">
            <a:avLst>
              <a:gd name="adj" fmla="val 5000"/>
            </a:avLst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74270" y="4001135"/>
            <a:ext cx="731520" cy="2273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50" b="1" i="0">
                <a:solidFill>
                  <a:srgbClr val="8E3B46"/>
                </a:solidFill>
                <a:latin typeface="Calibri"/>
              </a:rPr>
              <a:t>Move</a:t>
            </a:r>
            <a:endParaRPr sz="1250" b="1" i="0">
              <a:solidFill>
                <a:srgbClr val="8E3B46"/>
              </a:solidFill>
              <a:latin typeface="Calibri"/>
            </a:endParaRPr>
          </a:p>
        </p:txBody>
      </p:sp>
      <p:cxnSp>
        <p:nvCxnSpPr>
          <p:cNvPr id="58" name="Connector 57"/>
          <p:cNvCxnSpPr/>
          <p:nvPr/>
        </p:nvCxnSpPr>
        <p:spPr>
          <a:xfrm>
            <a:off x="6081078" y="4114800"/>
            <a:ext cx="320040" cy="0"/>
          </a:xfrm>
          <a:prstGeom prst="line">
            <a:avLst/>
          </a:prstGeom>
          <a:ln w="15875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7178358" y="1847088"/>
            <a:ext cx="1188720" cy="512064"/>
          </a:xfrm>
          <a:prstGeom prst="roundRect">
            <a:avLst>
              <a:gd name="adj" fmla="val 6000"/>
            </a:avLst>
          </a:prstGeom>
          <a:solidFill>
            <a:srgbClr val="F5F5F3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50" b="1" i="0">
                <a:solidFill>
                  <a:srgbClr val="35577A"/>
                </a:solidFill>
                <a:latin typeface="Calibri"/>
              </a:rPr>
              <a:t>Depformer</a:t>
            </a:r>
            <a:endParaRPr sz="1150" b="1" i="0">
              <a:solidFill>
                <a:srgbClr val="35577A"/>
              </a:solidFill>
              <a:latin typeface="Calibri"/>
            </a:endParaRPr>
          </a:p>
          <a:p>
            <a:pPr algn="ctr"/>
            <a:r>
              <a:rPr sz="900" b="0" i="0">
                <a:solidFill>
                  <a:srgbClr val="595959"/>
                </a:solidFill>
                <a:latin typeface="Calibri"/>
              </a:rPr>
              <a:t>8 codes in turn</a:t>
            </a:r>
            <a:endParaRPr sz="900" b="0" i="0">
              <a:solidFill>
                <a:srgbClr val="595959"/>
              </a:solidFill>
              <a:latin typeface="Calibri"/>
            </a:endParaRPr>
          </a:p>
        </p:txBody>
      </p:sp>
      <p:cxnSp>
        <p:nvCxnSpPr>
          <p:cNvPr id="60" name="Connector 59"/>
          <p:cNvCxnSpPr/>
          <p:nvPr/>
        </p:nvCxnSpPr>
        <p:spPr>
          <a:xfrm>
            <a:off x="8367078" y="2103120"/>
            <a:ext cx="182880" cy="0"/>
          </a:xfrm>
          <a:prstGeom prst="line">
            <a:avLst/>
          </a:prstGeom>
          <a:ln w="15875">
            <a:solidFill>
              <a:srgbClr val="3557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8549958" y="1847088"/>
            <a:ext cx="1325880" cy="512064"/>
          </a:xfrm>
          <a:prstGeom prst="roundRect">
            <a:avLst>
              <a:gd name="adj" fmla="val 6000"/>
            </a:avLst>
          </a:prstGeom>
          <a:solidFill>
            <a:srgbClr val="EDF0F3"/>
          </a:solidFill>
          <a:ln w="12700">
            <a:solidFill>
              <a:srgbClr val="3557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50" b="1" i="0">
                <a:solidFill>
                  <a:srgbClr val="35577A"/>
                </a:solidFill>
                <a:latin typeface="Calibri"/>
              </a:rPr>
              <a:t>8 audio tokens</a:t>
            </a:r>
            <a:endParaRPr sz="1150" b="1" i="0">
              <a:solidFill>
                <a:srgbClr val="35577A"/>
              </a:solidFill>
              <a:latin typeface="Calibri"/>
            </a:endParaRPr>
          </a:p>
        </p:txBody>
      </p:sp>
      <p:cxnSp>
        <p:nvCxnSpPr>
          <p:cNvPr id="62" name="Connector 61"/>
          <p:cNvCxnSpPr/>
          <p:nvPr/>
        </p:nvCxnSpPr>
        <p:spPr>
          <a:xfrm>
            <a:off x="9875838" y="2103120"/>
            <a:ext cx="182880" cy="0"/>
          </a:xfrm>
          <a:prstGeom prst="line">
            <a:avLst/>
          </a:prstGeom>
          <a:ln w="15875">
            <a:solidFill>
              <a:srgbClr val="3557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10058718" y="1847088"/>
            <a:ext cx="914400" cy="512064"/>
          </a:xfrm>
          <a:prstGeom prst="roundRect">
            <a:avLst>
              <a:gd name="adj" fmla="val 6000"/>
            </a:avLst>
          </a:prstGeom>
          <a:solidFill>
            <a:srgbClr val="F5F5F3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50" b="1" i="0">
                <a:solidFill>
                  <a:srgbClr val="35577A"/>
                </a:solidFill>
                <a:latin typeface="Calibri"/>
              </a:rPr>
              <a:t>Mimi</a:t>
            </a:r>
            <a:endParaRPr sz="1150" b="1" i="0">
              <a:solidFill>
                <a:srgbClr val="35577A"/>
              </a:solidFill>
              <a:latin typeface="Calibri"/>
            </a:endParaRPr>
          </a:p>
          <a:p>
            <a:pPr algn="ctr"/>
            <a:r>
              <a:rPr sz="900" b="0" i="0">
                <a:solidFill>
                  <a:srgbClr val="595959"/>
                </a:solidFill>
                <a:latin typeface="Calibri"/>
              </a:rPr>
              <a:t>decoder</a:t>
            </a:r>
            <a:endParaRPr sz="900" b="0" i="0">
              <a:solidFill>
                <a:srgbClr val="595959"/>
              </a:solidFill>
              <a:latin typeface="Calibri"/>
            </a:endParaRPr>
          </a:p>
        </p:txBody>
      </p:sp>
      <p:cxnSp>
        <p:nvCxnSpPr>
          <p:cNvPr id="64" name="Connector 63"/>
          <p:cNvCxnSpPr/>
          <p:nvPr/>
        </p:nvCxnSpPr>
        <p:spPr>
          <a:xfrm>
            <a:off x="10973118" y="2103120"/>
            <a:ext cx="137160" cy="0"/>
          </a:xfrm>
          <a:prstGeom prst="line">
            <a:avLst/>
          </a:prstGeom>
          <a:ln w="15875">
            <a:solidFill>
              <a:srgbClr val="3557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11110278" y="1927860"/>
            <a:ext cx="685800" cy="3505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50" b="1" i="0">
                <a:solidFill>
                  <a:srgbClr val="35577A"/>
                </a:solidFill>
                <a:latin typeface="Calibri"/>
              </a:rPr>
              <a:t>voice</a:t>
            </a:r>
            <a:endParaRPr sz="1150" b="1" i="0">
              <a:solidFill>
                <a:srgbClr val="35577A"/>
              </a:solidFill>
              <a:latin typeface="Calibri"/>
            </a:endParaRPr>
          </a:p>
          <a:p>
            <a:pPr algn="ctr"/>
            <a:r>
              <a:rPr sz="900" b="0" i="0">
                <a:solidFill>
                  <a:srgbClr val="595959"/>
                </a:solidFill>
                <a:latin typeface="Calibri"/>
              </a:rPr>
              <a:t>24 kHz</a:t>
            </a:r>
            <a:endParaRPr sz="9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7178358" y="2743200"/>
            <a:ext cx="1188720" cy="512064"/>
          </a:xfrm>
          <a:prstGeom prst="roundRect">
            <a:avLst>
              <a:gd name="adj" fmla="val 6000"/>
            </a:avLst>
          </a:prstGeom>
          <a:solidFill>
            <a:srgbClr val="F5F5F3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50" b="1" i="0">
                <a:solidFill>
                  <a:srgbClr val="9C7A2B"/>
                </a:solidFill>
                <a:latin typeface="Calibri"/>
              </a:rPr>
              <a:t>Text head</a:t>
            </a:r>
            <a:endParaRPr sz="1150" b="1" i="0">
              <a:solidFill>
                <a:srgbClr val="9C7A2B"/>
              </a:solidFill>
              <a:latin typeface="Calibri"/>
            </a:endParaRPr>
          </a:p>
          <a:p>
            <a:pPr algn="ctr"/>
            <a:r>
              <a:rPr sz="900" b="0" i="0">
                <a:solidFill>
                  <a:srgbClr val="595959"/>
                </a:solidFill>
                <a:latin typeface="Calibri"/>
              </a:rPr>
              <a:t>1 token / step</a:t>
            </a:r>
            <a:endParaRPr sz="900" b="0" i="0">
              <a:solidFill>
                <a:srgbClr val="595959"/>
              </a:solidFill>
              <a:latin typeface="Calibri"/>
            </a:endParaRPr>
          </a:p>
        </p:txBody>
      </p:sp>
      <p:cxnSp>
        <p:nvCxnSpPr>
          <p:cNvPr id="67" name="Connector 66"/>
          <p:cNvCxnSpPr/>
          <p:nvPr/>
        </p:nvCxnSpPr>
        <p:spPr>
          <a:xfrm>
            <a:off x="8367078" y="2999232"/>
            <a:ext cx="182880" cy="0"/>
          </a:xfrm>
          <a:prstGeom prst="line">
            <a:avLst/>
          </a:prstGeom>
          <a:ln w="15875">
            <a:solidFill>
              <a:srgbClr val="9C7A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8549958" y="2743200"/>
            <a:ext cx="3154680" cy="512064"/>
          </a:xfrm>
          <a:prstGeom prst="roundRect">
            <a:avLst>
              <a:gd name="adj" fmla="val 6000"/>
            </a:avLst>
          </a:prstGeom>
          <a:solidFill>
            <a:srgbClr val="F4F0E8"/>
          </a:solidFill>
          <a:ln w="12700">
            <a:solidFill>
              <a:srgbClr val="9C7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00" b="1" i="0">
                <a:solidFill>
                  <a:srgbClr val="9C7A2B"/>
                </a:solidFill>
                <a:latin typeface="Calibri"/>
              </a:rPr>
              <a:t>a word of the reply — or a plan token</a:t>
            </a:r>
            <a:endParaRPr sz="1100" b="1" i="0">
              <a:solidFill>
                <a:srgbClr val="9C7A2B"/>
              </a:solidFill>
              <a:latin typeface="Calibri"/>
            </a:endParaRPr>
          </a:p>
          <a:p>
            <a:pPr algn="ctr"/>
            <a:r>
              <a:rPr sz="900" b="0" i="0">
                <a:solidFill>
                  <a:srgbClr val="595959"/>
                </a:solidFill>
                <a:latin typeface="Calibri"/>
              </a:rPr>
              <a:t>plan (CoT) between &lt;BCOT&gt; … &lt;ECOT&gt; · never spoken</a:t>
            </a:r>
            <a:endParaRPr sz="9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7178358" y="3575303"/>
            <a:ext cx="205740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8E3B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ctr"/>
            <a:r>
              <a:rPr sz="1250" b="1" i="0">
                <a:solidFill>
                  <a:srgbClr val="8E3B46"/>
                </a:solidFill>
                <a:latin typeface="Calibri"/>
              </a:rPr>
              <a:t>Motion generator</a:t>
            </a:r>
            <a:endParaRPr sz="1250" b="1" i="0">
              <a:solidFill>
                <a:srgbClr val="8E3B46"/>
              </a:solidFill>
              <a:latin typeface="Calibri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7269798" y="3831335"/>
            <a:ext cx="1920240" cy="17399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Calibri"/>
              </a:rPr>
              <a:t>reads every 160 ms:</a:t>
            </a:r>
            <a:endParaRPr sz="9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7288086" y="4078224"/>
            <a:ext cx="868680" cy="237744"/>
          </a:xfrm>
          <a:prstGeom prst="roundRect">
            <a:avLst>
              <a:gd name="adj" fmla="val 20000"/>
            </a:avLst>
          </a:prstGeom>
          <a:solidFill>
            <a:srgbClr val="EBEDF1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950" b="1" i="0">
                <a:solidFill>
                  <a:srgbClr val="1F3A5F"/>
                </a:solidFill>
                <a:latin typeface="Calibri"/>
              </a:rPr>
              <a:t>LM state</a:t>
            </a:r>
            <a:endParaRPr sz="950" b="1" i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8229918" y="4078224"/>
            <a:ext cx="896112" cy="237744"/>
          </a:xfrm>
          <a:prstGeom prst="roundRect">
            <a:avLst>
              <a:gd name="adj" fmla="val 20000"/>
            </a:avLst>
          </a:prstGeom>
          <a:solidFill>
            <a:srgbClr val="EDF0F3"/>
          </a:solidFill>
          <a:ln w="9525">
            <a:solidFill>
              <a:srgbClr val="3557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950" b="1" i="0">
                <a:solidFill>
                  <a:srgbClr val="35577A"/>
                </a:solidFill>
                <a:latin typeface="Calibri"/>
              </a:rPr>
              <a:t>own voice</a:t>
            </a:r>
            <a:endParaRPr sz="950" b="1" i="0">
              <a:solidFill>
                <a:srgbClr val="35577A"/>
              </a:solidFill>
              <a:latin typeface="Calibri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7288086" y="4343400"/>
            <a:ext cx="868680" cy="237744"/>
          </a:xfrm>
          <a:prstGeom prst="roundRect">
            <a:avLst>
              <a:gd name="adj" fmla="val 20000"/>
            </a:avLst>
          </a:prstGeom>
          <a:solidFill>
            <a:srgbClr val="F4F0E8"/>
          </a:solidFill>
          <a:ln w="9525">
            <a:solidFill>
              <a:srgbClr val="9C7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950" b="1" i="0">
                <a:solidFill>
                  <a:srgbClr val="9C7A2B"/>
                </a:solidFill>
                <a:latin typeface="Calibri"/>
              </a:rPr>
              <a:t>plan</a:t>
            </a:r>
            <a:endParaRPr sz="950" b="1" i="0">
              <a:solidFill>
                <a:srgbClr val="9C7A2B"/>
              </a:solidFill>
              <a:latin typeface="Calibri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8229918" y="4343400"/>
            <a:ext cx="896112" cy="237744"/>
          </a:xfrm>
          <a:prstGeom prst="roundRect">
            <a:avLst>
              <a:gd name="adj" fmla="val 20000"/>
            </a:avLst>
          </a:prstGeom>
          <a:solidFill>
            <a:srgbClr val="F5EDEE"/>
          </a:solidFill>
          <a:ln w="9525">
            <a:solidFill>
              <a:srgbClr val="8E3B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950" b="1" i="0">
                <a:solidFill>
                  <a:srgbClr val="8E3B46"/>
                </a:solidFill>
                <a:latin typeface="Calibri"/>
              </a:rPr>
              <a:t>own motion</a:t>
            </a:r>
            <a:endParaRPr sz="950" b="1" i="0">
              <a:solidFill>
                <a:srgbClr val="8E3B46"/>
              </a:solidFill>
              <a:latin typeface="Calibri"/>
            </a:endParaRPr>
          </a:p>
        </p:txBody>
      </p:sp>
      <p:cxnSp>
        <p:nvCxnSpPr>
          <p:cNvPr id="75" name="Connector 74"/>
          <p:cNvCxnSpPr/>
          <p:nvPr/>
        </p:nvCxnSpPr>
        <p:spPr>
          <a:xfrm>
            <a:off x="9235758" y="3858768"/>
            <a:ext cx="182880" cy="0"/>
          </a:xfrm>
          <a:prstGeom prst="line">
            <a:avLst/>
          </a:prstGeom>
          <a:ln w="15875">
            <a:solidFill>
              <a:srgbClr val="B057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9235758" y="4370832"/>
            <a:ext cx="182880" cy="0"/>
          </a:xfrm>
          <a:prstGeom prst="line">
            <a:avLst/>
          </a:prstGeom>
          <a:ln w="15875">
            <a:solidFill>
              <a:srgbClr val="3D70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9418638" y="3639312"/>
            <a:ext cx="1005840" cy="420624"/>
          </a:xfrm>
          <a:prstGeom prst="roundRect">
            <a:avLst>
              <a:gd name="adj" fmla="val 6000"/>
            </a:avLst>
          </a:prstGeom>
          <a:solidFill>
            <a:srgbClr val="F8F0ED"/>
          </a:solidFill>
          <a:ln w="12700">
            <a:solidFill>
              <a:srgbClr val="B057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B0573A"/>
                </a:solidFill>
                <a:latin typeface="Calibri"/>
              </a:rPr>
              <a:t>face  16-d</a:t>
            </a:r>
            <a:endParaRPr sz="1050" b="1" i="0">
              <a:solidFill>
                <a:srgbClr val="B0573A"/>
              </a:solidFill>
              <a:latin typeface="Calibri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9418638" y="4160520"/>
            <a:ext cx="1005840" cy="420624"/>
          </a:xfrm>
          <a:prstGeom prst="roundRect">
            <a:avLst>
              <a:gd name="adj" fmla="val 6000"/>
            </a:avLst>
          </a:prstGeom>
          <a:solidFill>
            <a:srgbClr val="EEF2F1"/>
          </a:solidFill>
          <a:ln w="12700">
            <a:solidFill>
              <a:srgbClr val="3D7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3D7068"/>
                </a:solidFill>
                <a:latin typeface="Calibri"/>
              </a:rPr>
              <a:t>body  48-d</a:t>
            </a:r>
            <a:endParaRPr sz="1050" b="1" i="0">
              <a:solidFill>
                <a:srgbClr val="3D7068"/>
              </a:solidFill>
              <a:latin typeface="Calibri"/>
            </a:endParaRPr>
          </a:p>
        </p:txBody>
      </p:sp>
      <p:cxnSp>
        <p:nvCxnSpPr>
          <p:cNvPr id="79" name="Connector 78"/>
          <p:cNvCxnSpPr/>
          <p:nvPr/>
        </p:nvCxnSpPr>
        <p:spPr>
          <a:xfrm>
            <a:off x="10424478" y="3849624"/>
            <a:ext cx="137160" cy="0"/>
          </a:xfrm>
          <a:prstGeom prst="line">
            <a:avLst/>
          </a:prstGeom>
          <a:ln w="15875">
            <a:solidFill>
              <a:srgbClr val="B057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0424478" y="4370832"/>
            <a:ext cx="137160" cy="0"/>
          </a:xfrm>
          <a:prstGeom prst="line">
            <a:avLst/>
          </a:prstGeom>
          <a:ln w="15875">
            <a:solidFill>
              <a:srgbClr val="3D70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10561638" y="3639312"/>
            <a:ext cx="1143000" cy="941832"/>
          </a:xfrm>
          <a:prstGeom prst="roundRect">
            <a:avLst>
              <a:gd name="adj" fmla="val 6000"/>
            </a:avLst>
          </a:prstGeom>
          <a:solidFill>
            <a:srgbClr val="F5F5F3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667A35"/>
                </a:solidFill>
                <a:latin typeface="Calibri"/>
              </a:rPr>
              <a:t>VAE decoders</a:t>
            </a:r>
            <a:endParaRPr sz="1050" b="1" i="0">
              <a:solidFill>
                <a:srgbClr val="667A35"/>
              </a:solidFill>
              <a:latin typeface="Calibri"/>
            </a:endParaRPr>
          </a:p>
          <a:p>
            <a:pPr algn="ctr"/>
            <a:r>
              <a:rPr sz="900" b="0" i="0">
                <a:solidFill>
                  <a:srgbClr val="595959"/>
                </a:solidFill>
                <a:latin typeface="Calibri"/>
              </a:rPr>
              <a:t>→ avatar video</a:t>
            </a:r>
            <a:endParaRPr sz="900" b="0" i="0">
              <a:solidFill>
                <a:srgbClr val="595959"/>
              </a:solidFill>
              <a:latin typeface="Calibri"/>
            </a:endParaRPr>
          </a:p>
          <a:p>
            <a:pPr algn="ctr"/>
            <a:r>
              <a:rPr sz="900" b="0" i="0">
                <a:solidFill>
                  <a:srgbClr val="595959"/>
                </a:solidFill>
                <a:latin typeface="Calibri"/>
              </a:rPr>
              <a:t>25 fps</a:t>
            </a:r>
            <a:endParaRPr sz="9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411798" y="5212079"/>
            <a:ext cx="11384280" cy="914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411798" y="5385816"/>
            <a:ext cx="310896" cy="310896"/>
          </a:xfrm>
          <a:prstGeom prst="ellipse">
            <a:avLst/>
          </a:prstGeom>
          <a:solidFill>
            <a:srgbClr val="355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  <a:endParaRPr sz="12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823278" y="5349240"/>
            <a:ext cx="3291840" cy="5994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22222"/>
                </a:solidFill>
                <a:latin typeface="Calibri"/>
              </a:rPr>
              <a:t>Hear and decide</a:t>
            </a:r>
            <a:endParaRPr sz="1300" b="1" i="0">
              <a:solidFill>
                <a:srgbClr val="222222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every 80 ms the 7B hears the user and itself, then speaks and writes in the same step</a:t>
            </a:r>
            <a:endParaRPr sz="11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85" name="Oval 84"/>
          <p:cNvSpPr/>
          <p:nvPr/>
        </p:nvSpPr>
        <p:spPr>
          <a:xfrm>
            <a:off x="4224846" y="5385816"/>
            <a:ext cx="310896" cy="310896"/>
          </a:xfrm>
          <a:prstGeom prst="ellipse">
            <a:avLst/>
          </a:prstGeom>
          <a:solidFill>
            <a:srgbClr val="8E3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  <a:endParaRPr sz="12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4636326" y="5349240"/>
            <a:ext cx="3291840" cy="5994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22222"/>
                </a:solidFill>
                <a:latin typeface="Calibri"/>
              </a:rPr>
              <a:t>Move with the words</a:t>
            </a:r>
            <a:endParaRPr sz="1300" b="1" i="0">
              <a:solidFill>
                <a:srgbClr val="222222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the motion generator reads the 7B's state, its own voice and the plan → face and body codes</a:t>
            </a:r>
            <a:endParaRPr sz="11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87" name="Oval 86"/>
          <p:cNvSpPr/>
          <p:nvPr/>
        </p:nvSpPr>
        <p:spPr>
          <a:xfrm>
            <a:off x="8037893" y="5385816"/>
            <a:ext cx="310896" cy="310896"/>
          </a:xfrm>
          <a:prstGeom prst="ellipse">
            <a:avLst/>
          </a:prstGeom>
          <a:solidFill>
            <a:srgbClr val="6A5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  <a:endParaRPr sz="12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8449373" y="5349240"/>
            <a:ext cx="3291840" cy="5994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22222"/>
                </a:solidFill>
                <a:latin typeface="Calibri"/>
              </a:rPr>
              <a:t>See the user</a:t>
            </a:r>
            <a:endParaRPr sz="1300" b="1" i="0">
              <a:solidFill>
                <a:srgbClr val="222222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the camera condition is added to the same input — no extra LM steps; its encoder adds ~13 ms</a:t>
            </a:r>
            <a:endParaRPr sz="1100" b="0" i="0">
              <a:solidFill>
                <a:srgbClr val="59595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52401"/>
            <a:ext cx="9906000" cy="685793"/>
          </a:xfrm>
        </p:spPr>
        <p:txBody>
          <a:bodyPr/>
          <a:lstStyle/>
          <a:p>
            <a:r>
              <a:rPr lang="en-US" altLang="en-US" dirty="0"/>
              <a:t>SpeechMotionLM: Architecture</a:t>
            </a:r>
            <a:endParaRPr lang="en-US" altLang="zh-CN" dirty="0" err="1"/>
          </a:p>
        </p:txBody>
      </p:sp>
      <p:pic>
        <p:nvPicPr>
          <p:cNvPr id="6" name="图片 5" descr="exp652_fig1_pre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949960"/>
            <a:ext cx="9298305" cy="52597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09600" y="152401"/>
            <a:ext cx="9906000" cy="685793"/>
          </a:xfrm>
          <a:prstGeom prst="rect">
            <a:avLst/>
          </a:prstGeom>
          <a:noFill/>
        </p:spPr>
        <p:txBody>
          <a:bodyPr wrap="square" lIns="91440" tIns="45720" rIns="91440" bIns="45720" anchor="b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+mj-lt"/>
                <a:ea typeface="+mj-ea"/>
              </a:rPr>
              <a:t>Think first: each segment has its own rules</a:t>
            </a:r>
            <a:endParaRPr sz="2800" b="0">
              <a:solidFill>
                <a:srgbClr val="000000"/>
              </a:solidFill>
              <a:latin typeface="+mj-lt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64464" y="950000"/>
            <a:ext cx="11131614" cy="266065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  <a:latin typeface="Calibri"/>
              </a:rPr>
              <a:t>Before an instructed move, the agent writes a short silent plan — r plan tokens per 80 ms step, so planning takes a fraction of a second</a:t>
            </a:r>
            <a:endParaRPr sz="15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166677" y="1325880"/>
            <a:ext cx="3108960" cy="2560319"/>
          </a:xfrm>
          <a:prstGeom prst="roundRect">
            <a:avLst>
              <a:gd name="adj" fmla="val 4000"/>
            </a:avLst>
          </a:prstGeom>
          <a:solidFill>
            <a:srgbClr val="F4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837" y="1413383"/>
            <a:ext cx="2514600" cy="2273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50" b="1" i="0">
                <a:solidFill>
                  <a:srgbClr val="35577A"/>
                </a:solidFill>
                <a:latin typeface="Calibri"/>
              </a:rPr>
              <a:t>User speaks</a:t>
            </a:r>
            <a:endParaRPr sz="1250" b="1" i="0">
              <a:solidFill>
                <a:srgbClr val="35577A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89438" y="1413383"/>
            <a:ext cx="777240" cy="2273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50" b="1" i="0">
                <a:solidFill>
                  <a:srgbClr val="595959"/>
                </a:solidFill>
                <a:latin typeface="Calibri"/>
              </a:rPr>
              <a:t>Pause</a:t>
            </a:r>
            <a:endParaRPr sz="1250" b="1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166676" y="1413383"/>
            <a:ext cx="3108960" cy="2273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50" b="1" i="0">
                <a:solidFill>
                  <a:srgbClr val="9C7A2B"/>
                </a:solidFill>
                <a:latin typeface="Calibri"/>
              </a:rPr>
              <a:t>Plan (CoT)</a:t>
            </a:r>
            <a:endParaRPr sz="1250" b="1" i="0">
              <a:solidFill>
                <a:srgbClr val="9C7A2B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75637" y="1413383"/>
            <a:ext cx="1371600" cy="2273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50" b="1" i="0">
                <a:solidFill>
                  <a:srgbClr val="8E3B46"/>
                </a:solidFill>
                <a:latin typeface="Calibri"/>
              </a:rPr>
              <a:t>Bridge</a:t>
            </a:r>
            <a:endParaRPr sz="1250" b="1" i="0">
              <a:solidFill>
                <a:srgbClr val="8E3B46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647237" y="1413383"/>
            <a:ext cx="2148840" cy="2273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50" b="1" i="0">
                <a:solidFill>
                  <a:srgbClr val="8E3B46"/>
                </a:solidFill>
                <a:latin typeface="Calibri"/>
              </a:rPr>
              <a:t>Move</a:t>
            </a:r>
            <a:endParaRPr sz="1250" b="1" i="0">
              <a:solidFill>
                <a:srgbClr val="8E3B46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1798" y="1905635"/>
            <a:ext cx="1371600" cy="21209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1" i="0">
                <a:solidFill>
                  <a:srgbClr val="35577A"/>
                </a:solidFill>
                <a:latin typeface="Calibri"/>
              </a:rPr>
              <a:t>User audio</a:t>
            </a:r>
            <a:endParaRPr sz="1150" b="1" i="0">
              <a:solidFill>
                <a:srgbClr val="35577A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874837" y="2272284"/>
            <a:ext cx="9921240" cy="914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798" y="2435987"/>
            <a:ext cx="1371600" cy="21209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1" i="0">
                <a:solidFill>
                  <a:srgbClr val="9C7A2B"/>
                </a:solidFill>
                <a:latin typeface="Calibri"/>
              </a:rPr>
              <a:t>Agent text</a:t>
            </a:r>
            <a:endParaRPr sz="1150" b="1" i="0">
              <a:solidFill>
                <a:srgbClr val="9C7A2B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874837" y="2802636"/>
            <a:ext cx="9921240" cy="914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798" y="2966339"/>
            <a:ext cx="1371600" cy="21209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1" i="0">
                <a:solidFill>
                  <a:srgbClr val="35577A"/>
                </a:solidFill>
                <a:latin typeface="Calibri"/>
              </a:rPr>
              <a:t>Agent audio</a:t>
            </a:r>
            <a:endParaRPr sz="1150" b="1" i="0">
              <a:solidFill>
                <a:srgbClr val="35577A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874837" y="3332988"/>
            <a:ext cx="9921240" cy="914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798" y="3496690"/>
            <a:ext cx="1371600" cy="21209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1" i="0">
                <a:solidFill>
                  <a:srgbClr val="8E3B46"/>
                </a:solidFill>
                <a:latin typeface="Calibri"/>
              </a:rPr>
              <a:t>Agent motion</a:t>
            </a:r>
            <a:endParaRPr sz="1150" b="1" i="0">
              <a:solidFill>
                <a:srgbClr val="8E3B46"/>
              </a:solidFill>
              <a:latin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874837" y="3863339"/>
            <a:ext cx="9921240" cy="914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929702" y="1828800"/>
            <a:ext cx="2404872" cy="365760"/>
          </a:xfrm>
          <a:prstGeom prst="roundRect">
            <a:avLst>
              <a:gd name="adj" fmla="val 6000"/>
            </a:avLst>
          </a:prstGeom>
          <a:solidFill>
            <a:srgbClr val="EDF0F3"/>
          </a:solidFill>
          <a:ln w="12700">
            <a:solidFill>
              <a:srgbClr val="3557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950" b="0" i="1">
                <a:solidFill>
                  <a:srgbClr val="35577A"/>
                </a:solidFill>
                <a:latin typeface="Calibri"/>
              </a:rPr>
              <a:t>“Can you do a full-body sideways jump to your left?”</a:t>
            </a:r>
            <a:endParaRPr sz="950" b="0" i="1">
              <a:solidFill>
                <a:srgbClr val="35577A"/>
              </a:solidFill>
              <a:latin typeface="Calibr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480877" y="2004364"/>
            <a:ext cx="594359" cy="1463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58117" y="2004364"/>
            <a:ext cx="2926079" cy="1463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67077" y="2004364"/>
            <a:ext cx="1188720" cy="1463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38677" y="2004364"/>
            <a:ext cx="1965960" cy="1463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966278" y="2534716"/>
            <a:ext cx="2331720" cy="1463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877" y="2534716"/>
            <a:ext cx="594359" cy="1463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67077" y="2534716"/>
            <a:ext cx="1188720" cy="1463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738677" y="2534716"/>
            <a:ext cx="1965960" cy="1463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221541" y="2350008"/>
            <a:ext cx="2999232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9C7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900" b="1" i="0">
                <a:solidFill>
                  <a:srgbClr val="8C8C8C"/>
                </a:solidFill>
                <a:latin typeface="Calibri"/>
              </a:rPr>
              <a:t>&lt;BCOT&gt; </a:t>
            </a:r>
            <a:r>
              <a:rPr sz="1050" b="1" i="0">
                <a:solidFill>
                  <a:srgbClr val="9C7A2B"/>
                </a:solidFill>
                <a:latin typeface="Calibri"/>
              </a:rPr>
              <a:t>Okay, I'll jump sideways to my left …</a:t>
            </a:r>
            <a:r>
              <a:rPr sz="900" b="1" i="0">
                <a:solidFill>
                  <a:srgbClr val="8C8C8C"/>
                </a:solidFill>
                <a:latin typeface="Calibri"/>
              </a:rPr>
              <a:t> &lt;ECOT&gt;</a:t>
            </a:r>
            <a:endParaRPr sz="900" b="1" i="0">
              <a:solidFill>
                <a:srgbClr val="8C8C8C"/>
              </a:solidFill>
              <a:latin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966278" y="3065068"/>
            <a:ext cx="2331720" cy="1463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80877" y="3065068"/>
            <a:ext cx="594359" cy="1463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221541" y="2889503"/>
            <a:ext cx="2999232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5577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00" b="1" i="0">
                <a:solidFill>
                  <a:srgbClr val="35577A"/>
                </a:solidFill>
                <a:latin typeface="Calibri"/>
              </a:rPr>
              <a:t>fixed silence</a:t>
            </a:r>
            <a:endParaRPr sz="1100" b="1" i="0">
              <a:solidFill>
                <a:srgbClr val="35577A"/>
              </a:solidFill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275637" y="2953512"/>
            <a:ext cx="3520439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 i="1">
                <a:solidFill>
                  <a:srgbClr val="8C8C8C"/>
                </a:solidFill>
                <a:latin typeface="Calibri"/>
              </a:rPr>
              <a:t>silent — the agent never speaks in an instructed-move turn</a:t>
            </a:r>
            <a:endParaRPr sz="1000" b="0" i="1">
              <a:solidFill>
                <a:srgbClr val="8C8C8C"/>
              </a:solidFill>
              <a:latin typeface="Calibri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1929702" y="3419855"/>
            <a:ext cx="2404872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listening</a:t>
            </a:r>
            <a:endParaRPr sz="10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4444301" y="3419855"/>
            <a:ext cx="667512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idle</a:t>
            </a:r>
            <a:endParaRPr sz="10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5221541" y="3419855"/>
            <a:ext cx="2999232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3B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8E3B46"/>
                </a:solidFill>
                <a:latin typeface="Calibri"/>
              </a:rPr>
              <a:t>1 motion frame per 2r plan tokens · body idle</a:t>
            </a:r>
            <a:endParaRPr sz="1000" b="1" i="0">
              <a:solidFill>
                <a:srgbClr val="8E3B46"/>
              </a:solidFill>
              <a:latin typeface="Calibri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8330501" y="3419855"/>
            <a:ext cx="1261872" cy="365760"/>
          </a:xfrm>
          <a:prstGeom prst="roundRect">
            <a:avLst>
              <a:gd name="adj" fmla="val 6000"/>
            </a:avLst>
          </a:prstGeom>
          <a:solidFill>
            <a:srgbClr val="F5EDEE"/>
          </a:solidFill>
          <a:ln w="12700">
            <a:solidFill>
              <a:srgbClr val="8E3B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8E3B46"/>
                </a:solidFill>
                <a:latin typeface="Calibri"/>
              </a:rPr>
              <a:t>smooth bridge  ≤ 2 s</a:t>
            </a:r>
            <a:endParaRPr sz="1050" b="1" i="0">
              <a:solidFill>
                <a:srgbClr val="8E3B46"/>
              </a:solidFill>
              <a:latin typeface="Calibri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9702102" y="3419855"/>
            <a:ext cx="2039112" cy="365760"/>
          </a:xfrm>
          <a:prstGeom prst="roundRect">
            <a:avLst>
              <a:gd name="adj" fmla="val 6000"/>
            </a:avLst>
          </a:prstGeom>
          <a:solidFill>
            <a:srgbClr val="8E3B46"/>
          </a:solidFill>
          <a:ln w="12700">
            <a:solidFill>
              <a:srgbClr val="8E3B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the instructed move</a:t>
            </a:r>
            <a:endParaRPr sz="105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11798" y="4041648"/>
            <a:ext cx="5669280" cy="23558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alibri"/>
              </a:rPr>
              <a:t>Inside the plan at r = 5</a:t>
            </a:r>
            <a:endParaRPr sz="1300" b="1" i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439230" y="4389120"/>
            <a:ext cx="1316736" cy="438912"/>
          </a:xfrm>
          <a:prstGeom prst="roundRect">
            <a:avLst>
              <a:gd name="adj" fmla="val 6000"/>
            </a:avLst>
          </a:prstGeom>
          <a:solidFill>
            <a:srgbClr val="F4F0E8"/>
          </a:solidFill>
          <a:ln w="9525">
            <a:solidFill>
              <a:srgbClr val="9C7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0" i="0">
                <a:solidFill>
                  <a:srgbClr val="222222"/>
                </a:solidFill>
                <a:latin typeface="Calibri"/>
              </a:rPr>
              <a:t>&lt;BCOT&gt; Okay , I '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11798" y="4837176"/>
            <a:ext cx="1371600" cy="17399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Calibri"/>
              </a:rPr>
              <a:t>LM step 1  ·  80 ms</a:t>
            </a:r>
            <a:endParaRPr sz="9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1810830" y="4389120"/>
            <a:ext cx="1316736" cy="438912"/>
          </a:xfrm>
          <a:prstGeom prst="roundRect">
            <a:avLst>
              <a:gd name="adj" fmla="val 6000"/>
            </a:avLst>
          </a:prstGeom>
          <a:solidFill>
            <a:srgbClr val="F4F0E8"/>
          </a:solidFill>
          <a:ln w="9525">
            <a:solidFill>
              <a:srgbClr val="9C7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0" i="0">
                <a:solidFill>
                  <a:srgbClr val="222222"/>
                </a:solidFill>
                <a:latin typeface="Calibri"/>
              </a:rPr>
              <a:t>ll jump side ways to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783398" y="4837176"/>
            <a:ext cx="1371600" cy="17399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Calibri"/>
              </a:rPr>
              <a:t>LM step 2  ·  80 ms</a:t>
            </a:r>
            <a:endParaRPr sz="9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3182430" y="4389120"/>
            <a:ext cx="1316736" cy="438912"/>
          </a:xfrm>
          <a:prstGeom prst="roundRect">
            <a:avLst>
              <a:gd name="adj" fmla="val 6000"/>
            </a:avLst>
          </a:prstGeom>
          <a:solidFill>
            <a:srgbClr val="F4F0E8"/>
          </a:solidFill>
          <a:ln w="9525">
            <a:solidFill>
              <a:srgbClr val="9C7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0" i="0">
                <a:solidFill>
                  <a:srgbClr val="222222"/>
                </a:solidFill>
                <a:latin typeface="Calibri"/>
              </a:rPr>
              <a:t>my left with my whole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154998" y="4837176"/>
            <a:ext cx="1371600" cy="17399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Calibri"/>
              </a:rPr>
              <a:t>LM step 3  ·  80 ms</a:t>
            </a:r>
            <a:endParaRPr sz="9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4554030" y="4389120"/>
            <a:ext cx="1316736" cy="438912"/>
          </a:xfrm>
          <a:prstGeom prst="roundRect">
            <a:avLst>
              <a:gd name="adj" fmla="val 6000"/>
            </a:avLst>
          </a:prstGeom>
          <a:solidFill>
            <a:srgbClr val="F4F0E8"/>
          </a:solidFill>
          <a:ln w="9525">
            <a:solidFill>
              <a:srgbClr val="9C7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0" i="0">
                <a:solidFill>
                  <a:srgbClr val="222222"/>
                </a:solidFill>
                <a:latin typeface="Calibri"/>
              </a:rPr>
              <a:t>body . &lt;ECOT&gt;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526598" y="4837176"/>
            <a:ext cx="1371600" cy="17399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Calibri"/>
              </a:rPr>
              <a:t>LM step 4  ·  80 ms</a:t>
            </a:r>
            <a:endParaRPr sz="9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439230" y="5093208"/>
            <a:ext cx="2688336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3B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8E3B46"/>
                </a:solidFill>
                <a:latin typeface="Calibri"/>
              </a:rPr>
              <a:t>motion frame 1  ·  10 plan tokens</a:t>
            </a:r>
            <a:endParaRPr sz="1050" b="1" i="0">
              <a:solidFill>
                <a:srgbClr val="8E3B46"/>
              </a:solidFill>
              <a:latin typeface="Calibri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3182430" y="5093208"/>
            <a:ext cx="2688336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3B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8E3B46"/>
                </a:solidFill>
                <a:latin typeface="Calibri"/>
              </a:rPr>
              <a:t>motion frame 2  ·  8 plan tokens</a:t>
            </a:r>
            <a:endParaRPr sz="1050" b="1" i="0">
              <a:solidFill>
                <a:srgbClr val="8E3B46"/>
              </a:solidFill>
              <a:latin typeface="Calibri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11798" y="5522976"/>
            <a:ext cx="5577840" cy="52260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595959"/>
                </a:solidFill>
                <a:latin typeface="Calibri"/>
              </a:rPr>
              <a:t>Why r = 5:  </a:t>
            </a:r>
            <a:r>
              <a:rPr sz="1000" b="0" i="0">
                <a:solidFill>
                  <a:srgbClr val="595959"/>
                </a:solidFill>
                <a:latin typeface="Calibri"/>
              </a:rPr>
              <a:t>a text-only LM step takes 11 ms ⇒ 6 fit in 80 ms; 5 with the motion head on the same GPU</a:t>
            </a:r>
            <a:endParaRPr sz="1000" b="0" i="0">
              <a:solidFill>
                <a:srgbClr val="595959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595959"/>
                </a:solidFill>
                <a:latin typeface="Calibri"/>
              </a:rPr>
              <a:t>Training mixes r per clip:  </a:t>
            </a:r>
            <a:r>
              <a:rPr sz="1000" b="0" i="0">
                <a:solidFill>
                  <a:srgbClr val="595959"/>
                </a:solidFill>
                <a:latin typeface="Calibri"/>
              </a:rPr>
              <a:t>half r = 5, the rest r = 1, 2, 3, 4, 6</a:t>
            </a:r>
            <a:endParaRPr sz="10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355398" y="4041648"/>
            <a:ext cx="5394960" cy="23558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alibri"/>
              </a:rPr>
              <a:t>vs the old scheme: 1 plan token = 80 ms</a:t>
            </a:r>
            <a:endParaRPr sz="1300" b="1" i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355398" y="4526153"/>
            <a:ext cx="640080" cy="21971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Calibri"/>
              </a:rPr>
              <a:t>Old</a:t>
            </a:r>
            <a:endParaRPr sz="1200" b="1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7041198" y="4489704"/>
            <a:ext cx="3818534" cy="29260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10859732" y="4434840"/>
            <a:ext cx="0" cy="402336"/>
          </a:xfrm>
          <a:prstGeom prst="line">
            <a:avLst/>
          </a:prstGeom>
          <a:ln w="19050">
            <a:solidFill>
              <a:srgbClr val="8E3B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041198" y="4537583"/>
            <a:ext cx="3818534" cy="196850"/>
          </a:xfrm>
          <a:prstGeom prst="rect">
            <a:avLst/>
          </a:prstGeom>
          <a:noFill/>
        </p:spPr>
        <p:txBody>
          <a:bodyPr wrap="square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18 tokens × 80 ms = 1.44 s</a:t>
            </a:r>
            <a:endParaRPr sz="105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0914595" y="4541393"/>
            <a:ext cx="914400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8E3B46"/>
                </a:solidFill>
                <a:latin typeface="Calibri"/>
              </a:rPr>
              <a:t>→ move</a:t>
            </a:r>
            <a:endParaRPr sz="1000" b="1" i="0">
              <a:solidFill>
                <a:srgbClr val="8E3B46"/>
              </a:solidFill>
              <a:latin typeface="Calibri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355398" y="5074793"/>
            <a:ext cx="640080" cy="21971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Calibri"/>
              </a:rPr>
              <a:t>New</a:t>
            </a:r>
            <a:endParaRPr sz="1200" b="1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7041198" y="5038344"/>
            <a:ext cx="848563" cy="292608"/>
          </a:xfrm>
          <a:prstGeom prst="rect">
            <a:avLst/>
          </a:prstGeom>
          <a:solidFill>
            <a:srgbClr val="9C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7889761" y="4983480"/>
            <a:ext cx="0" cy="402336"/>
          </a:xfrm>
          <a:prstGeom prst="line">
            <a:avLst/>
          </a:prstGeom>
          <a:ln w="19050">
            <a:solidFill>
              <a:srgbClr val="8E3B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7962913" y="5086223"/>
            <a:ext cx="3200400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9C7A2B"/>
                </a:solidFill>
                <a:latin typeface="Calibri"/>
              </a:rPr>
              <a:t>4 steps = 0.32 s</a:t>
            </a:r>
            <a:r>
              <a:rPr sz="1000" b="0" i="0">
                <a:solidFill>
                  <a:srgbClr val="8E3B46"/>
                </a:solidFill>
                <a:latin typeface="Calibri"/>
              </a:rPr>
              <a:t>   → move</a:t>
            </a:r>
            <a:endParaRPr sz="1000" b="0" i="0">
              <a:solidFill>
                <a:srgbClr val="8E3B46"/>
              </a:solidFill>
              <a:latin typeface="Calibri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041198" y="5522976"/>
            <a:ext cx="1828800" cy="17399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8C8C8C"/>
                </a:solidFill>
                <a:latin typeface="Calibri"/>
              </a:rPr>
              <a:t>same 18-token plan</a:t>
            </a:r>
            <a:endParaRPr sz="900" b="0" i="0">
              <a:solidFill>
                <a:srgbClr val="8C8C8C"/>
              </a:solidFill>
              <a:latin typeface="Calibri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6355398" y="5824728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EA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92558" y="5966016"/>
            <a:ext cx="5212080" cy="26606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Calibri"/>
              </a:rPr>
              <a:t>Median think time on the test set:  </a:t>
            </a:r>
            <a:r>
              <a:rPr sz="1500" b="1" i="0">
                <a:solidFill>
                  <a:srgbClr val="3F7A4F"/>
                </a:solidFill>
                <a:latin typeface="Calibri"/>
              </a:rPr>
              <a:t>1.44 s → 0.32 s</a:t>
            </a:r>
            <a:endParaRPr sz="1500" b="1" i="0">
              <a:solidFill>
                <a:srgbClr val="3F7A4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09600" y="152401"/>
            <a:ext cx="9906000" cy="685793"/>
          </a:xfrm>
          <a:prstGeom prst="rect">
            <a:avLst/>
          </a:prstGeom>
          <a:noFill/>
        </p:spPr>
        <p:txBody>
          <a:bodyPr wrap="square" lIns="91440" tIns="45720" rIns="91440" bIns="45720" anchor="b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+mj-lt"/>
                <a:ea typeface="+mj-ea"/>
              </a:rPr>
              <a:t>Think first: how the plan reaches the motion head</a:t>
            </a:r>
            <a:endParaRPr sz="2800" b="0">
              <a:solidFill>
                <a:srgbClr val="000000"/>
              </a:solidFill>
              <a:latin typeface="+mj-lt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64464" y="950000"/>
            <a:ext cx="11131614" cy="266065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  <a:latin typeface="Calibri"/>
              </a:rPr>
              <a:t>Two routes into the head's speech slot: a plan summary that switches on at &lt;ECOT&gt;, and the 7B's state, updated every step</a:t>
            </a:r>
            <a:endParaRPr sz="15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11798" y="1627632"/>
            <a:ext cx="1691640" cy="1627632"/>
          </a:xfrm>
          <a:prstGeom prst="roundRect">
            <a:avLst>
              <a:gd name="adj" fmla="val 6000"/>
            </a:avLst>
          </a:prstGeom>
          <a:solidFill>
            <a:srgbClr val="F4F0E8"/>
          </a:solidFill>
          <a:ln w="12700">
            <a:solidFill>
              <a:srgbClr val="9C7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250" b="1" i="0">
                <a:solidFill>
                  <a:srgbClr val="9C7A2B"/>
                </a:solidFill>
                <a:latin typeface="Calibri"/>
              </a:rPr>
              <a:t>Plan tokens</a:t>
            </a:r>
            <a:endParaRPr sz="1250" b="1" i="0">
              <a:solidFill>
                <a:srgbClr val="9C7A2B"/>
              </a:solidFill>
              <a:latin typeface="Calibri"/>
            </a:endParaRPr>
          </a:p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“Okay, I'll jump</a:t>
            </a:r>
            <a:endParaRPr sz="1000" b="0" i="0">
              <a:solidFill>
                <a:srgbClr val="595959"/>
              </a:solidFill>
              <a:latin typeface="Calibri"/>
            </a:endParaRPr>
          </a:p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sideways to my left</a:t>
            </a:r>
            <a:endParaRPr sz="1000" b="0" i="0">
              <a:solidFill>
                <a:srgbClr val="595959"/>
              </a:solidFill>
              <a:latin typeface="Calibri"/>
            </a:endParaRPr>
          </a:p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with my whole body.”</a:t>
            </a:r>
            <a:endParaRPr sz="10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23478" y="1325880"/>
            <a:ext cx="6400800" cy="21209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50" b="1" i="0">
                <a:solidFill>
                  <a:srgbClr val="9C7A2B"/>
                </a:solidFill>
                <a:latin typeface="Calibri"/>
              </a:rPr>
              <a:t>A  ·  plan slot  —  the whole plan at once</a:t>
            </a:r>
            <a:endParaRPr sz="1150" b="1" i="0">
              <a:solidFill>
                <a:srgbClr val="9C7A2B"/>
              </a:solidFill>
              <a:latin typeface="Calibri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2103438" y="1892807"/>
            <a:ext cx="320040" cy="0"/>
          </a:xfrm>
          <a:prstGeom prst="line">
            <a:avLst/>
          </a:prstGeom>
          <a:ln w="15875">
            <a:solidFill>
              <a:srgbClr val="9C7A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23478" y="1627632"/>
            <a:ext cx="1325880" cy="530352"/>
          </a:xfrm>
          <a:prstGeom prst="roundRect">
            <a:avLst>
              <a:gd name="adj" fmla="val 6000"/>
            </a:avLst>
          </a:prstGeom>
          <a:solidFill>
            <a:srgbClr val="F5F5F3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9C7A2B"/>
                </a:solidFill>
                <a:latin typeface="Calibri"/>
              </a:rPr>
              <a:t>text embedding</a:t>
            </a:r>
            <a:endParaRPr sz="1050" b="1" i="0">
              <a:solidFill>
                <a:srgbClr val="9C7A2B"/>
              </a:solidFill>
              <a:latin typeface="Calibri"/>
            </a:endParaRPr>
          </a:p>
          <a:p>
            <a:pPr algn="ctr"/>
            <a:r>
              <a:rPr sz="850" b="0" i="0">
                <a:solidFill>
                  <a:srgbClr val="595959"/>
                </a:solidFill>
                <a:latin typeface="Calibri"/>
              </a:rPr>
              <a:t>of the 7B · frozen</a:t>
            </a:r>
            <a:endParaRPr sz="850" b="0" i="0">
              <a:solidFill>
                <a:srgbClr val="595959"/>
              </a:solidFill>
              <a:latin typeface="Calibri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3749357" y="1892807"/>
            <a:ext cx="182881" cy="0"/>
          </a:xfrm>
          <a:prstGeom prst="line">
            <a:avLst/>
          </a:prstGeom>
          <a:ln w="15875">
            <a:solidFill>
              <a:srgbClr val="9C7A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932238" y="1627632"/>
            <a:ext cx="68580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9C7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9C7A2B"/>
                </a:solidFill>
                <a:latin typeface="Calibri"/>
              </a:rPr>
              <a:t>linear</a:t>
            </a:r>
            <a:endParaRPr sz="1050" b="1" i="0">
              <a:solidFill>
                <a:srgbClr val="9C7A2B"/>
              </a:solidFill>
              <a:latin typeface="Calibri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4618038" y="1892807"/>
            <a:ext cx="182880" cy="0"/>
          </a:xfrm>
          <a:prstGeom prst="line">
            <a:avLst/>
          </a:prstGeom>
          <a:ln w="15875">
            <a:solidFill>
              <a:srgbClr val="9C7A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800918" y="1627632"/>
            <a:ext cx="132588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9C7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9C7A2B"/>
                </a:solidFill>
                <a:latin typeface="Calibri"/>
              </a:rPr>
              <a:t>2-layer causal</a:t>
            </a:r>
            <a:endParaRPr sz="1050" b="1" i="0">
              <a:solidFill>
                <a:srgbClr val="9C7A2B"/>
              </a:solidFill>
              <a:latin typeface="Calibri"/>
            </a:endParaRPr>
          </a:p>
          <a:p>
            <a:pPr algn="ctr"/>
            <a:r>
              <a:rPr sz="1050" b="1" i="0">
                <a:solidFill>
                  <a:srgbClr val="9C7A2B"/>
                </a:solidFill>
                <a:latin typeface="Calibri"/>
              </a:rPr>
              <a:t>encoder</a:t>
            </a:r>
            <a:endParaRPr sz="1050" b="1" i="0">
              <a:solidFill>
                <a:srgbClr val="9C7A2B"/>
              </a:solidFill>
              <a:latin typeface="Calibri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6126798" y="1892807"/>
            <a:ext cx="182880" cy="0"/>
          </a:xfrm>
          <a:prstGeom prst="line">
            <a:avLst/>
          </a:prstGeom>
          <a:ln w="15875">
            <a:solidFill>
              <a:srgbClr val="9C7A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09678" y="1627632"/>
            <a:ext cx="91440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9C7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9C7A2B"/>
                </a:solidFill>
                <a:latin typeface="Calibri"/>
              </a:rPr>
              <a:t>projection</a:t>
            </a:r>
            <a:endParaRPr sz="1050" b="1" i="0">
              <a:solidFill>
                <a:srgbClr val="9C7A2B"/>
              </a:solidFill>
              <a:latin typeface="Calibri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7224078" y="1892807"/>
            <a:ext cx="182880" cy="0"/>
          </a:xfrm>
          <a:prstGeom prst="line">
            <a:avLst/>
          </a:prstGeom>
          <a:ln w="15875">
            <a:solidFill>
              <a:srgbClr val="9C7A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06958" y="1627632"/>
            <a:ext cx="137160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9C7A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9C7A2B"/>
                </a:solidFill>
                <a:latin typeface="Calibri"/>
              </a:rPr>
              <a:t>0 until &lt;ECOT&gt;</a:t>
            </a:r>
            <a:endParaRPr sz="1050" b="1" i="0">
              <a:solidFill>
                <a:srgbClr val="9C7A2B"/>
              </a:solidFill>
              <a:latin typeface="Calibri"/>
            </a:endParaRPr>
          </a:p>
          <a:p>
            <a:pPr algn="ctr"/>
            <a:r>
              <a:rPr sz="850" b="0" i="0">
                <a:solidFill>
                  <a:srgbClr val="595959"/>
                </a:solidFill>
                <a:latin typeface="Calibri"/>
              </a:rPr>
              <a:t>then the summary</a:t>
            </a:r>
            <a:endParaRPr sz="8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423478" y="2423160"/>
            <a:ext cx="6400800" cy="21209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alibri"/>
              </a:rPr>
              <a:t>B  ·  LM state  —  updates every step</a:t>
            </a:r>
            <a:endParaRPr sz="1150" b="1" i="0">
              <a:solidFill>
                <a:srgbClr val="1F3A5F"/>
              </a:solidFill>
              <a:latin typeface="Calibri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2103438" y="2990088"/>
            <a:ext cx="320040" cy="0"/>
          </a:xfrm>
          <a:prstGeom prst="line">
            <a:avLst/>
          </a:prstGeom>
          <a:ln w="1587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423478" y="2724912"/>
            <a:ext cx="1325880" cy="530352"/>
          </a:xfrm>
          <a:prstGeom prst="roundRect">
            <a:avLst>
              <a:gd name="adj" fmla="val 6000"/>
            </a:avLst>
          </a:prstGeom>
          <a:solidFill>
            <a:srgbClr val="F5F5F3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F3A5F"/>
                </a:solidFill>
                <a:latin typeface="Calibri"/>
              </a:rPr>
              <a:t>7B speech LM</a:t>
            </a:r>
            <a:endParaRPr sz="1050" b="1" i="0">
              <a:solidFill>
                <a:srgbClr val="1F3A5F"/>
              </a:solidFill>
              <a:latin typeface="Calibri"/>
            </a:endParaRPr>
          </a:p>
          <a:p>
            <a:pPr algn="ctr"/>
            <a:r>
              <a:rPr sz="850" b="0" i="0">
                <a:solidFill>
                  <a:srgbClr val="595959"/>
                </a:solidFill>
                <a:latin typeface="Calibri"/>
              </a:rPr>
              <a:t>frozen · writes r tokens</a:t>
            </a:r>
            <a:endParaRPr sz="850" b="0" i="0">
              <a:solidFill>
                <a:srgbClr val="595959"/>
              </a:solidFill>
              <a:latin typeface="Calibri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3749357" y="2990088"/>
            <a:ext cx="182881" cy="0"/>
          </a:xfrm>
          <a:prstGeom prst="line">
            <a:avLst/>
          </a:prstGeom>
          <a:ln w="1587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932238" y="2724912"/>
            <a:ext cx="1280160" cy="530352"/>
          </a:xfrm>
          <a:prstGeom prst="roundRect">
            <a:avLst>
              <a:gd name="adj" fmla="val 6000"/>
            </a:avLst>
          </a:prstGeom>
          <a:solidFill>
            <a:srgbClr val="F5F5F3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F3A5F"/>
                </a:solidFill>
                <a:latin typeface="Calibri"/>
              </a:rPr>
              <a:t>last hidden state</a:t>
            </a:r>
            <a:endParaRPr sz="1050" b="1" i="0">
              <a:solidFill>
                <a:srgbClr val="1F3A5F"/>
              </a:solidFill>
              <a:latin typeface="Calibri"/>
            </a:endParaRPr>
          </a:p>
          <a:p>
            <a:pPr algn="ctr"/>
            <a:r>
              <a:rPr sz="850" b="0" i="0">
                <a:solidFill>
                  <a:srgbClr val="595959"/>
                </a:solidFill>
                <a:latin typeface="Calibri"/>
              </a:rPr>
              <a:t>every 80 ms</a:t>
            </a:r>
            <a:endParaRPr sz="850" b="0" i="0">
              <a:solidFill>
                <a:srgbClr val="595959"/>
              </a:solidFill>
              <a:latin typeface="Calibri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212397" y="2990088"/>
            <a:ext cx="182880" cy="0"/>
          </a:xfrm>
          <a:prstGeom prst="line">
            <a:avLst/>
          </a:prstGeom>
          <a:ln w="1587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395277" y="2724912"/>
            <a:ext cx="1280160" cy="530352"/>
          </a:xfrm>
          <a:prstGeom prst="roundRect">
            <a:avLst>
              <a:gd name="adj" fmla="val 6000"/>
            </a:avLst>
          </a:prstGeom>
          <a:solidFill>
            <a:srgbClr val="F5F5F3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F3A5F"/>
                </a:solidFill>
                <a:latin typeface="Calibri"/>
              </a:rPr>
              <a:t>average 2 steps</a:t>
            </a:r>
            <a:endParaRPr sz="1050" b="1" i="0">
              <a:solidFill>
                <a:srgbClr val="1F3A5F"/>
              </a:solidFill>
              <a:latin typeface="Calibri"/>
            </a:endParaRPr>
          </a:p>
          <a:p>
            <a:pPr algn="ctr"/>
            <a:r>
              <a:rPr sz="850" b="0" i="0">
                <a:solidFill>
                  <a:srgbClr val="595959"/>
                </a:solidFill>
                <a:latin typeface="Calibri"/>
              </a:rPr>
              <a:t>→ one per 160 ms</a:t>
            </a:r>
            <a:endParaRPr sz="850" b="0" i="0">
              <a:solidFill>
                <a:srgbClr val="595959"/>
              </a:solidFill>
              <a:latin typeface="Calibri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6675437" y="2990088"/>
            <a:ext cx="182880" cy="0"/>
          </a:xfrm>
          <a:prstGeom prst="line">
            <a:avLst/>
          </a:prstGeom>
          <a:ln w="1587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858317" y="2724912"/>
            <a:ext cx="82296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F3A5F"/>
                </a:solidFill>
                <a:latin typeface="Calibri"/>
              </a:rPr>
              <a:t>linear</a:t>
            </a:r>
            <a:endParaRPr sz="1050" b="1" i="0">
              <a:solidFill>
                <a:srgbClr val="1F3A5F"/>
              </a:solidFill>
              <a:latin typeface="Calibri"/>
            </a:endParaRPr>
          </a:p>
          <a:p>
            <a:pPr algn="ctr"/>
            <a:r>
              <a:rPr sz="850" b="0" i="0">
                <a:solidFill>
                  <a:srgbClr val="595959"/>
                </a:solidFill>
                <a:latin typeface="Calibri"/>
              </a:rPr>
              <a:t>starts at 0</a:t>
            </a:r>
            <a:endParaRPr sz="850" b="0" i="0">
              <a:solidFill>
                <a:srgbClr val="595959"/>
              </a:solidFill>
              <a:latin typeface="Calibri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8778558" y="1892807"/>
            <a:ext cx="621792" cy="0"/>
          </a:xfrm>
          <a:prstGeom prst="line">
            <a:avLst/>
          </a:prstGeom>
          <a:ln w="15875">
            <a:solidFill>
              <a:srgbClr val="9C7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400350" y="1892807"/>
            <a:ext cx="0" cy="384049"/>
          </a:xfrm>
          <a:prstGeom prst="line">
            <a:avLst/>
          </a:prstGeom>
          <a:ln w="15875">
            <a:solidFill>
              <a:srgbClr val="9C7A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681277" y="2990088"/>
            <a:ext cx="1719073" cy="0"/>
          </a:xfrm>
          <a:prstGeom prst="line">
            <a:avLst/>
          </a:prstGeom>
          <a:ln w="1587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9400350" y="2606040"/>
            <a:ext cx="0" cy="384048"/>
          </a:xfrm>
          <a:prstGeom prst="line">
            <a:avLst/>
          </a:prstGeom>
          <a:ln w="1587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9235758" y="2276856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222222"/>
                </a:solidFill>
                <a:latin typeface="Calibri"/>
              </a:rPr>
              <a:t>+</a:t>
            </a:r>
            <a:endParaRPr sz="1500" b="1" i="0">
              <a:solidFill>
                <a:srgbClr val="222222"/>
              </a:solidFill>
              <a:latin typeface="Calibri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9564942" y="2441448"/>
            <a:ext cx="219456" cy="0"/>
          </a:xfrm>
          <a:prstGeom prst="line">
            <a:avLst/>
          </a:prstGeom>
          <a:ln w="19050">
            <a:solidFill>
              <a:srgbClr val="3557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784398" y="1874519"/>
            <a:ext cx="2011680" cy="1133856"/>
          </a:xfrm>
          <a:prstGeom prst="roundRect">
            <a:avLst>
              <a:gd name="adj" fmla="val 6000"/>
            </a:avLst>
          </a:prstGeom>
          <a:solidFill>
            <a:srgbClr val="EDF0F3"/>
          </a:solidFill>
          <a:ln w="12700">
            <a:solidFill>
              <a:srgbClr val="3557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250" b="1" i="0">
                <a:solidFill>
                  <a:srgbClr val="35577A"/>
                </a:solidFill>
                <a:latin typeface="Calibri"/>
              </a:rPr>
              <a:t>S</a:t>
            </a:r>
            <a:r>
              <a:rPr sz="1250" b="1" i="0">
                <a:solidFill>
                  <a:srgbClr val="35577A"/>
                </a:solidFill>
                <a:latin typeface="Calibri"/>
              </a:rPr>
              <a:t>  speech slot</a:t>
            </a:r>
            <a:endParaRPr sz="1250" b="1" i="0">
              <a:solidFill>
                <a:srgbClr val="35577A"/>
              </a:solidFill>
              <a:latin typeface="Calibri"/>
            </a:endParaRPr>
          </a:p>
          <a:p>
            <a:pPr algn="ctr"/>
            <a:r>
              <a:rPr sz="950" b="0" i="0">
                <a:solidFill>
                  <a:srgbClr val="595959"/>
                </a:solidFill>
                <a:latin typeface="Calibri"/>
              </a:rPr>
              <a:t>own voice (8 audio codes)</a:t>
            </a:r>
            <a:endParaRPr sz="950" b="0" i="0">
              <a:solidFill>
                <a:srgbClr val="595959"/>
              </a:solidFill>
              <a:latin typeface="Calibri"/>
            </a:endParaRPr>
          </a:p>
          <a:p>
            <a:pPr algn="ctr"/>
            <a:r>
              <a:rPr sz="950" b="0" i="0">
                <a:solidFill>
                  <a:srgbClr val="595959"/>
                </a:solidFill>
                <a:latin typeface="Calibri"/>
              </a:rPr>
              <a:t>+ A + B</a:t>
            </a:r>
            <a:endParaRPr sz="950" b="0" i="0">
              <a:solidFill>
                <a:srgbClr val="595959"/>
              </a:solidFill>
              <a:latin typeface="Calibri"/>
            </a:endParaRPr>
          </a:p>
          <a:p>
            <a:pPr algn="ctr"/>
            <a:r>
              <a:rPr sz="950" b="0" i="0">
                <a:solidFill>
                  <a:srgbClr val="595959"/>
                </a:solidFill>
                <a:latin typeface="Calibri"/>
              </a:rPr>
              <a:t>→ trunk → diffusion head</a:t>
            </a:r>
            <a:endParaRPr sz="9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11798" y="3584448"/>
            <a:ext cx="7315200" cy="23558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alibri"/>
              </a:rPr>
              <a:t>What each motion frame receives  (the 18-token plan, r = 5)</a:t>
            </a:r>
            <a:endParaRPr sz="1300" b="1" i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103438" y="3886200"/>
            <a:ext cx="2423160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1" i="0">
                <a:solidFill>
                  <a:srgbClr val="222222"/>
                </a:solidFill>
                <a:latin typeface="Calibri"/>
              </a:rPr>
              <a:t>frame 1  ·  plan</a:t>
            </a:r>
            <a:endParaRPr sz="1000" b="1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526596" y="3886200"/>
            <a:ext cx="2423160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1" i="0">
                <a:solidFill>
                  <a:srgbClr val="222222"/>
                </a:solidFill>
                <a:latin typeface="Calibri"/>
              </a:rPr>
              <a:t>frame 2  ·  plan, has &lt;ECOT&gt;</a:t>
            </a:r>
            <a:endParaRPr sz="1000" b="1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949758" y="3886200"/>
            <a:ext cx="2423160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1" i="0">
                <a:solidFill>
                  <a:srgbClr val="222222"/>
                </a:solidFill>
                <a:latin typeface="Calibri"/>
              </a:rPr>
              <a:t>frame 3  ·  bridge</a:t>
            </a:r>
            <a:endParaRPr sz="1000" b="1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372918" y="3886200"/>
            <a:ext cx="2423160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1" i="0">
                <a:solidFill>
                  <a:srgbClr val="222222"/>
                </a:solidFill>
                <a:latin typeface="Calibri"/>
              </a:rPr>
              <a:t>frame 4 …  ·  move</a:t>
            </a:r>
            <a:endParaRPr sz="1000" b="1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11798" y="4255642"/>
            <a:ext cx="1645920" cy="21209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1" i="0">
                <a:solidFill>
                  <a:srgbClr val="9C7A2B"/>
                </a:solidFill>
                <a:latin typeface="Calibri"/>
              </a:rPr>
              <a:t>A  plan slot</a:t>
            </a:r>
            <a:endParaRPr sz="1150" b="1" i="0">
              <a:solidFill>
                <a:srgbClr val="9C7A2B"/>
              </a:solidFill>
              <a:latin typeface="Calibri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2149157" y="4169663"/>
            <a:ext cx="233172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00" b="1" i="0">
                <a:solidFill>
                  <a:srgbClr val="8C8C8C"/>
                </a:solidFill>
                <a:latin typeface="Calibri"/>
              </a:rPr>
              <a:t>0</a:t>
            </a:r>
            <a:endParaRPr sz="1100" b="1" i="0">
              <a:solidFill>
                <a:srgbClr val="8C8C8C"/>
              </a:solidFill>
              <a:latin typeface="Calibri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4572317" y="4169663"/>
            <a:ext cx="2331720" cy="384048"/>
          </a:xfrm>
          <a:prstGeom prst="roundRect">
            <a:avLst>
              <a:gd name="adj" fmla="val 6000"/>
            </a:avLst>
          </a:prstGeom>
          <a:solidFill>
            <a:srgbClr val="F4F0E8"/>
          </a:solidFill>
          <a:ln w="9525">
            <a:solidFill>
              <a:srgbClr val="9C7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0" i="0">
                <a:solidFill>
                  <a:srgbClr val="9C7A2B"/>
                </a:solidFill>
                <a:latin typeface="Calibri"/>
              </a:rPr>
              <a:t>whole-plan summary</a:t>
            </a:r>
            <a:endParaRPr sz="1000" b="0" i="0">
              <a:solidFill>
                <a:srgbClr val="9C7A2B"/>
              </a:solidFill>
              <a:latin typeface="Calibri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6995477" y="4169663"/>
            <a:ext cx="2331720" cy="384048"/>
          </a:xfrm>
          <a:prstGeom prst="roundRect">
            <a:avLst>
              <a:gd name="adj" fmla="val 6000"/>
            </a:avLst>
          </a:prstGeom>
          <a:solidFill>
            <a:srgbClr val="F4F0E8"/>
          </a:solidFill>
          <a:ln w="9525">
            <a:solidFill>
              <a:srgbClr val="9C7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0" i="0">
                <a:solidFill>
                  <a:srgbClr val="9C7A2B"/>
                </a:solidFill>
                <a:latin typeface="Calibri"/>
              </a:rPr>
              <a:t>whole-plan summary</a:t>
            </a:r>
            <a:endParaRPr sz="1000" b="0" i="0">
              <a:solidFill>
                <a:srgbClr val="9C7A2B"/>
              </a:solidFill>
              <a:latin typeface="Calibri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9418638" y="4169663"/>
            <a:ext cx="2331720" cy="384048"/>
          </a:xfrm>
          <a:prstGeom prst="roundRect">
            <a:avLst>
              <a:gd name="adj" fmla="val 6000"/>
            </a:avLst>
          </a:prstGeom>
          <a:solidFill>
            <a:srgbClr val="F4F0E8"/>
          </a:solidFill>
          <a:ln w="9525">
            <a:solidFill>
              <a:srgbClr val="9C7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0" i="0">
                <a:solidFill>
                  <a:srgbClr val="9C7A2B"/>
                </a:solidFill>
                <a:latin typeface="Calibri"/>
              </a:rPr>
              <a:t>whole-plan summary</a:t>
            </a:r>
            <a:endParaRPr sz="1000" b="0" i="0">
              <a:solidFill>
                <a:srgbClr val="9C7A2B"/>
              </a:solidFill>
              <a:latin typeface="Calibr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11798" y="4712843"/>
            <a:ext cx="1645920" cy="21209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alibri"/>
              </a:rPr>
              <a:t>B  LM state</a:t>
            </a:r>
            <a:endParaRPr sz="1150" b="1" i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2149157" y="4626864"/>
            <a:ext cx="2331720" cy="384048"/>
          </a:xfrm>
          <a:prstGeom prst="roundRect">
            <a:avLst>
              <a:gd name="adj" fmla="val 6000"/>
            </a:avLst>
          </a:prstGeom>
          <a:solidFill>
            <a:srgbClr val="EBEDF1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0" i="0">
                <a:solidFill>
                  <a:srgbClr val="1F3A5F"/>
                </a:solidFill>
                <a:latin typeface="Calibri"/>
              </a:rPr>
              <a:t>after “… side ways to”</a:t>
            </a:r>
            <a:endParaRPr sz="1000" b="0" i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4572317" y="4626864"/>
            <a:ext cx="2331720" cy="384048"/>
          </a:xfrm>
          <a:prstGeom prst="roundRect">
            <a:avLst>
              <a:gd name="adj" fmla="val 6000"/>
            </a:avLst>
          </a:prstGeom>
          <a:solidFill>
            <a:srgbClr val="EBEDF1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0" i="0">
                <a:solidFill>
                  <a:srgbClr val="1F3A5F"/>
                </a:solidFill>
                <a:latin typeface="Calibri"/>
              </a:rPr>
              <a:t>after “… body . &lt;ECOT&gt;”</a:t>
            </a:r>
            <a:endParaRPr sz="1000" b="0" i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6995477" y="4626864"/>
            <a:ext cx="2331720" cy="384048"/>
          </a:xfrm>
          <a:prstGeom prst="roundRect">
            <a:avLst>
              <a:gd name="adj" fmla="val 6000"/>
            </a:avLst>
          </a:prstGeom>
          <a:solidFill>
            <a:srgbClr val="EBEDF1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0" i="0">
                <a:solidFill>
                  <a:srgbClr val="1F3A5F"/>
                </a:solidFill>
                <a:latin typeface="Calibri"/>
              </a:rPr>
              <a:t>keeps updating</a:t>
            </a:r>
            <a:endParaRPr sz="1000" b="0" i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9418638" y="4626864"/>
            <a:ext cx="2331720" cy="384048"/>
          </a:xfrm>
          <a:prstGeom prst="roundRect">
            <a:avLst>
              <a:gd name="adj" fmla="val 6000"/>
            </a:avLst>
          </a:prstGeom>
          <a:solidFill>
            <a:srgbClr val="EBEDF1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0" i="0">
                <a:solidFill>
                  <a:srgbClr val="1F3A5F"/>
                </a:solidFill>
                <a:latin typeface="Calibri"/>
              </a:rPr>
              <a:t>keeps updating</a:t>
            </a:r>
            <a:endParaRPr sz="1000" b="0" i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11798" y="5148072"/>
            <a:ext cx="11384280" cy="914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798" y="5257800"/>
            <a:ext cx="3657600" cy="5765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3F7A4F"/>
                </a:solidFill>
                <a:latin typeface="Calibri"/>
              </a:rPr>
              <a:t>The motion follows the plan</a:t>
            </a:r>
            <a:endParaRPr sz="1250" b="1" i="0">
              <a:solidFill>
                <a:srgbClr val="3F7A4F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595959"/>
                </a:solidFill>
                <a:latin typeface="Calibri"/>
              </a:rPr>
              <a:t>give it another clip's plan ⇒ text-match R1 falls to chance (.01–.04 vs .03); earlier model</a:t>
            </a:r>
            <a:endParaRPr sz="10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252278" y="5257800"/>
            <a:ext cx="3657600" cy="5765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9C7A2B"/>
                </a:solidFill>
                <a:latin typeface="Calibri"/>
              </a:rPr>
              <a:t>Module training</a:t>
            </a:r>
            <a:endParaRPr sz="1250" b="1" i="0">
              <a:solidFill>
                <a:srgbClr val="9C7A2B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595959"/>
                </a:solidFill>
                <a:latin typeface="Calibri"/>
              </a:rPr>
              <a:t>plan text comes from the data; the frozen 7B reads it; plan or speech dropped on ~10 % of rows</a:t>
            </a:r>
            <a:endParaRPr sz="10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092758" y="5257800"/>
            <a:ext cx="3657600" cy="5765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B7791F"/>
                </a:solidFill>
                <a:latin typeface="Calibri"/>
              </a:rPr>
              <a:t>Not built yet</a:t>
            </a:r>
            <a:endParaRPr sz="1250" b="1" i="0">
              <a:solidFill>
                <a:srgbClr val="B7791F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595959"/>
                </a:solidFill>
                <a:latin typeface="Calibri"/>
              </a:rPr>
              <a:t>the live loop where the LM writes its own plan at r tokens per step, and the end-to-end model</a:t>
            </a:r>
            <a:endParaRPr sz="1050" b="0" i="0">
              <a:solidFill>
                <a:srgbClr val="59595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09600" y="152401"/>
            <a:ext cx="9906000" cy="685793"/>
          </a:xfrm>
          <a:prstGeom prst="rect">
            <a:avLst/>
          </a:prstGeom>
          <a:noFill/>
        </p:spPr>
        <p:txBody>
          <a:bodyPr wrap="square" lIns="91440" tIns="45720" rIns="91440" bIns="45720" anchor="b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+mj-lt"/>
                <a:ea typeface="+mj-ea"/>
              </a:rPr>
              <a:t>Training data: what we start from</a:t>
            </a:r>
            <a:endParaRPr sz="2800" b="0">
              <a:solidFill>
                <a:srgbClr val="000000"/>
              </a:solidFill>
              <a:latin typeface="+mj-lt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64464" y="950000"/>
            <a:ext cx="11131614" cy="266065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  <a:latin typeface="Calibri"/>
              </a:rPr>
              <a:t>Five kinds of real data — then synthesized into two-person dialogues (next pages)</a:t>
            </a:r>
            <a:endParaRPr sz="15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11798" y="1325880"/>
            <a:ext cx="2185416" cy="3611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798" y="1325880"/>
            <a:ext cx="2185416" cy="6400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526" y="1435607"/>
            <a:ext cx="2002536" cy="2273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Real conversations</a:t>
            </a:r>
            <a:endParaRPr sz="1250" b="1" i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21526" y="1709928"/>
            <a:ext cx="2002536" cy="40449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 i="0">
                <a:solidFill>
                  <a:srgbClr val="222222"/>
                </a:solidFill>
                <a:latin typeface="Calibri"/>
              </a:rPr>
              <a:t>2.5k h</a:t>
            </a:r>
            <a:endParaRPr sz="2400" b="1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1526" y="2167128"/>
            <a:ext cx="2002536" cy="1816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Calibri"/>
              </a:rPr>
              <a:t>two people · voice + face + body</a:t>
            </a:r>
            <a:endParaRPr sz="9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21526" y="2468880"/>
            <a:ext cx="1408176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Mosaic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47406" y="2468880"/>
            <a:ext cx="640080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1" i="0">
                <a:solidFill>
                  <a:srgbClr val="222222"/>
                </a:solidFill>
                <a:latin typeface="Calibri"/>
              </a:rPr>
              <a:t>2,199</a:t>
            </a:r>
            <a:endParaRPr sz="1000" b="1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39814" y="2683764"/>
            <a:ext cx="1929384" cy="457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526" y="2729484"/>
            <a:ext cx="1408176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MSR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847406" y="2729484"/>
            <a:ext cx="640080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1" i="0">
                <a:solidFill>
                  <a:srgbClr val="222222"/>
                </a:solidFill>
                <a:latin typeface="Calibri"/>
              </a:rPr>
              <a:t>325</a:t>
            </a:r>
            <a:endParaRPr sz="1000" b="1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39814" y="2944368"/>
            <a:ext cx="285152" cy="457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526" y="4087368"/>
            <a:ext cx="2002536" cy="3124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1">
                <a:solidFill>
                  <a:srgbClr val="8C8C8C"/>
                </a:solidFill>
                <a:latin typeface="Calibri"/>
              </a:rPr>
              <a:t>9.1k h captured; 2.2k h have every track</a:t>
            </a:r>
            <a:endParaRPr sz="900" b="0" i="1">
              <a:solidFill>
                <a:srgbClr val="8C8C8C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21526" y="4334256"/>
            <a:ext cx="1965960" cy="914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526" y="4370832"/>
            <a:ext cx="2002536" cy="3276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 b="1" i="0">
                <a:solidFill>
                  <a:srgbClr val="1F3A5F"/>
                </a:solidFill>
                <a:latin typeface="Calibri"/>
              </a:rPr>
              <a:t>Used for  </a:t>
            </a:r>
            <a:r>
              <a:rPr sz="950" b="0" i="0">
                <a:solidFill>
                  <a:srgbClr val="595959"/>
                </a:solidFill>
                <a:latin typeface="Calibri"/>
              </a:rPr>
              <a:t>face &amp; body from speech · turn-taking · VAEs</a:t>
            </a:r>
            <a:endParaRPr sz="9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2711514" y="1325880"/>
            <a:ext cx="2185416" cy="3611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11514" y="1325880"/>
            <a:ext cx="2185416" cy="64008"/>
          </a:xfrm>
          <a:prstGeom prst="rect">
            <a:avLst/>
          </a:prstGeom>
          <a:solidFill>
            <a:srgbClr val="3D7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21242" y="1435607"/>
            <a:ext cx="2002536" cy="2273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1" i="0">
                <a:solidFill>
                  <a:srgbClr val="3D7068"/>
                </a:solidFill>
                <a:latin typeface="Calibri"/>
              </a:rPr>
              <a:t>Body motion + captions</a:t>
            </a:r>
            <a:endParaRPr sz="1250" b="1" i="0">
              <a:solidFill>
                <a:srgbClr val="3D7068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821242" y="1709928"/>
            <a:ext cx="2002536" cy="40449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 i="0">
                <a:solidFill>
                  <a:srgbClr val="222222"/>
                </a:solidFill>
                <a:latin typeface="Calibri"/>
              </a:rPr>
              <a:t>1.5k h</a:t>
            </a:r>
            <a:endParaRPr sz="2400" b="1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821242" y="2167128"/>
            <a:ext cx="2002536" cy="1816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Calibri"/>
              </a:rPr>
              <a:t>one person · one caption per clip</a:t>
            </a:r>
            <a:endParaRPr sz="9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821242" y="2468880"/>
            <a:ext cx="1408176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RoMo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147122" y="2468880"/>
            <a:ext cx="640080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1" i="0">
                <a:solidFill>
                  <a:srgbClr val="222222"/>
                </a:solidFill>
                <a:latin typeface="Calibri"/>
              </a:rPr>
              <a:t>1,053</a:t>
            </a:r>
            <a:endParaRPr sz="1000" b="1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839530" y="2683764"/>
            <a:ext cx="1929384" cy="45720"/>
          </a:xfrm>
          <a:prstGeom prst="rect">
            <a:avLst/>
          </a:prstGeom>
          <a:solidFill>
            <a:srgbClr val="3D7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21242" y="2729484"/>
            <a:ext cx="1408176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Bones-Seed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147122" y="2729484"/>
            <a:ext cx="640080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1" i="0">
                <a:solidFill>
                  <a:srgbClr val="222222"/>
                </a:solidFill>
                <a:latin typeface="Calibri"/>
              </a:rPr>
              <a:t>286</a:t>
            </a:r>
            <a:endParaRPr sz="1000" b="1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839530" y="2944368"/>
            <a:ext cx="524030" cy="45720"/>
          </a:xfrm>
          <a:prstGeom prst="rect">
            <a:avLst/>
          </a:prstGeom>
          <a:solidFill>
            <a:srgbClr val="3D7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21242" y="2990088"/>
            <a:ext cx="1408176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Motion-X++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147122" y="2990088"/>
            <a:ext cx="640080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1" i="0">
                <a:solidFill>
                  <a:srgbClr val="222222"/>
                </a:solidFill>
                <a:latin typeface="Calibri"/>
              </a:rPr>
              <a:t>83</a:t>
            </a:r>
            <a:endParaRPr sz="1000" b="1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839530" y="3204972"/>
            <a:ext cx="152078" cy="45720"/>
          </a:xfrm>
          <a:prstGeom prst="rect">
            <a:avLst/>
          </a:prstGeom>
          <a:solidFill>
            <a:srgbClr val="3D7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21242" y="3250692"/>
            <a:ext cx="1408176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HumanML3D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147122" y="3250692"/>
            <a:ext cx="640080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1" i="0">
                <a:solidFill>
                  <a:srgbClr val="222222"/>
                </a:solidFill>
                <a:latin typeface="Calibri"/>
              </a:rPr>
              <a:t>44</a:t>
            </a:r>
            <a:endParaRPr sz="1000" b="1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839530" y="3465576"/>
            <a:ext cx="80620" cy="45720"/>
          </a:xfrm>
          <a:prstGeom prst="rect">
            <a:avLst/>
          </a:prstGeom>
          <a:solidFill>
            <a:srgbClr val="3D7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21242" y="4087368"/>
            <a:ext cx="2002536" cy="17399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1">
                <a:solidFill>
                  <a:srgbClr val="8C8C8C"/>
                </a:solidFill>
                <a:latin typeface="Calibri"/>
              </a:rPr>
              <a:t>+ Nymeria 264 h (body VAE only)</a:t>
            </a:r>
            <a:endParaRPr sz="900" b="0" i="1">
              <a:solidFill>
                <a:srgbClr val="8C8C8C"/>
              </a:solidFill>
              <a:latin typeface="Calibri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821242" y="4334256"/>
            <a:ext cx="1965960" cy="914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21242" y="4370832"/>
            <a:ext cx="2002536" cy="4737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 b="1" i="0">
                <a:solidFill>
                  <a:srgbClr val="3D7068"/>
                </a:solidFill>
                <a:latin typeface="Calibri"/>
              </a:rPr>
              <a:t>Used for  </a:t>
            </a:r>
            <a:r>
              <a:rPr sz="950" b="0" i="0">
                <a:solidFill>
                  <a:srgbClr val="595959"/>
                </a:solidFill>
                <a:latin typeface="Calibri"/>
              </a:rPr>
              <a:t>body from instruction · body understanding · body VAE</a:t>
            </a:r>
            <a:endParaRPr sz="9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5011230" y="1325880"/>
            <a:ext cx="2185416" cy="3611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11230" y="1325880"/>
            <a:ext cx="2185416" cy="64008"/>
          </a:xfrm>
          <a:prstGeom prst="rect">
            <a:avLst/>
          </a:prstGeom>
          <a:solidFill>
            <a:srgbClr val="B05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20957" y="1435607"/>
            <a:ext cx="2002536" cy="2273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1" i="0">
                <a:solidFill>
                  <a:srgbClr val="B0573A"/>
                </a:solidFill>
                <a:latin typeface="Calibri"/>
              </a:rPr>
              <a:t>Face video</a:t>
            </a:r>
            <a:endParaRPr sz="1250" b="1" i="0">
              <a:solidFill>
                <a:srgbClr val="B0573A"/>
              </a:solidFill>
              <a:latin typeface="Calibri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120957" y="1709928"/>
            <a:ext cx="2002536" cy="40449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 i="0">
                <a:solidFill>
                  <a:srgbClr val="222222"/>
                </a:solidFill>
                <a:latin typeface="Calibri"/>
              </a:rPr>
              <a:t>2.9k h</a:t>
            </a:r>
            <a:endParaRPr sz="2400" b="1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120957" y="2167128"/>
            <a:ext cx="2002536" cy="1816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Calibri"/>
              </a:rPr>
              <a:t>11 public talking-head sets</a:t>
            </a:r>
            <a:endParaRPr sz="9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120957" y="2468880"/>
            <a:ext cx="1408176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VoxCeleb2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446838" y="2468880"/>
            <a:ext cx="640080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1" i="0">
                <a:solidFill>
                  <a:srgbClr val="222222"/>
                </a:solidFill>
                <a:latin typeface="Calibri"/>
              </a:rPr>
              <a:t>2,041</a:t>
            </a:r>
            <a:endParaRPr sz="1000" b="1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5139246" y="2683764"/>
            <a:ext cx="1929384" cy="45720"/>
          </a:xfrm>
          <a:prstGeom prst="rect">
            <a:avLst/>
          </a:prstGeom>
          <a:solidFill>
            <a:srgbClr val="B05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20957" y="2729484"/>
            <a:ext cx="1408176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MEAD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446838" y="2729484"/>
            <a:ext cx="640080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1" i="0">
                <a:solidFill>
                  <a:srgbClr val="222222"/>
                </a:solidFill>
                <a:latin typeface="Calibri"/>
              </a:rPr>
              <a:t>236</a:t>
            </a:r>
            <a:endParaRPr sz="1000" b="1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5139246" y="2944368"/>
            <a:ext cx="223093" cy="45720"/>
          </a:xfrm>
          <a:prstGeom prst="rect">
            <a:avLst/>
          </a:prstGeom>
          <a:solidFill>
            <a:srgbClr val="B05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120957" y="2990088"/>
            <a:ext cx="1408176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CelebV-Text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446838" y="2990088"/>
            <a:ext cx="640080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1" i="0">
                <a:solidFill>
                  <a:srgbClr val="222222"/>
                </a:solidFill>
                <a:latin typeface="Calibri"/>
              </a:rPr>
              <a:t>193</a:t>
            </a:r>
            <a:endParaRPr sz="1000" b="1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5139246" y="3204972"/>
            <a:ext cx="182445" cy="45720"/>
          </a:xfrm>
          <a:prstGeom prst="rect">
            <a:avLst/>
          </a:prstGeom>
          <a:solidFill>
            <a:srgbClr val="B05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120957" y="3250692"/>
            <a:ext cx="1408176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TalkingHead-1KH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446838" y="3250692"/>
            <a:ext cx="640080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1" i="0">
                <a:solidFill>
                  <a:srgbClr val="222222"/>
                </a:solidFill>
                <a:latin typeface="Calibri"/>
              </a:rPr>
              <a:t>156</a:t>
            </a:r>
            <a:endParaRPr sz="1000" b="1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5139246" y="3465576"/>
            <a:ext cx="147468" cy="45720"/>
          </a:xfrm>
          <a:prstGeom prst="rect">
            <a:avLst/>
          </a:prstGeom>
          <a:solidFill>
            <a:srgbClr val="B05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120957" y="3511296"/>
            <a:ext cx="1408176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Hallo3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446838" y="3511296"/>
            <a:ext cx="640080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1" i="0">
                <a:solidFill>
                  <a:srgbClr val="222222"/>
                </a:solidFill>
                <a:latin typeface="Calibri"/>
              </a:rPr>
              <a:t>124</a:t>
            </a:r>
            <a:endParaRPr sz="1000" b="1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5139246" y="3726180"/>
            <a:ext cx="117218" cy="45720"/>
          </a:xfrm>
          <a:prstGeom prst="rect">
            <a:avLst/>
          </a:prstGeom>
          <a:solidFill>
            <a:srgbClr val="B05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120957" y="3771900"/>
            <a:ext cx="1408176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6 others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446838" y="3771900"/>
            <a:ext cx="640080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1" i="0">
                <a:solidFill>
                  <a:srgbClr val="222222"/>
                </a:solidFill>
                <a:latin typeface="Calibri"/>
              </a:rPr>
              <a:t>185</a:t>
            </a:r>
            <a:endParaRPr sz="1000" b="1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5139246" y="3986784"/>
            <a:ext cx="174882" cy="45720"/>
          </a:xfrm>
          <a:prstGeom prst="rect">
            <a:avLst/>
          </a:prstGeom>
          <a:solidFill>
            <a:srgbClr val="B05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120957" y="4087368"/>
            <a:ext cx="2002536" cy="17399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1">
                <a:solidFill>
                  <a:srgbClr val="8C8C8C"/>
                </a:solidFill>
                <a:latin typeface="Calibri"/>
              </a:rPr>
              <a:t>raw 3.5k h before the head-pose filter</a:t>
            </a:r>
            <a:endParaRPr sz="900" b="0" i="1">
              <a:solidFill>
                <a:srgbClr val="8C8C8C"/>
              </a:solidFill>
              <a:latin typeface="Calibri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5120958" y="4334256"/>
            <a:ext cx="1965960" cy="914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120957" y="4370832"/>
            <a:ext cx="2002536" cy="3276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 b="1" i="0">
                <a:solidFill>
                  <a:srgbClr val="B0573A"/>
                </a:solidFill>
                <a:latin typeface="Calibri"/>
              </a:rPr>
              <a:t>Used for  </a:t>
            </a:r>
            <a:r>
              <a:rPr sz="950" b="0" i="0">
                <a:solidFill>
                  <a:srgbClr val="595959"/>
                </a:solidFill>
                <a:latin typeface="Calibri"/>
              </a:rPr>
              <a:t>face understanding · face from instruction · face VAE</a:t>
            </a:r>
            <a:endParaRPr sz="9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7310946" y="1325880"/>
            <a:ext cx="2185416" cy="3611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310946" y="1325880"/>
            <a:ext cx="2185416" cy="64008"/>
          </a:xfrm>
          <a:prstGeom prst="rect">
            <a:avLst/>
          </a:prstGeom>
          <a:solidFill>
            <a:srgbClr val="355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420674" y="1435607"/>
            <a:ext cx="2002536" cy="2273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1" i="0">
                <a:solidFill>
                  <a:srgbClr val="35577A"/>
                </a:solidFill>
                <a:latin typeface="Calibri"/>
              </a:rPr>
              <a:t>Spoken Q&amp;A</a:t>
            </a:r>
            <a:endParaRPr sz="1250" b="1" i="0">
              <a:solidFill>
                <a:srgbClr val="35577A"/>
              </a:solidFill>
              <a:latin typeface="Calibri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7420674" y="1709928"/>
            <a:ext cx="2002536" cy="40449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 i="0">
                <a:solidFill>
                  <a:srgbClr val="222222"/>
                </a:solidFill>
                <a:latin typeface="Calibri"/>
              </a:rPr>
              <a:t>20.3k h</a:t>
            </a:r>
            <a:endParaRPr sz="2400" b="1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7420674" y="2167128"/>
            <a:ext cx="2002536" cy="1816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Calibri"/>
              </a:rPr>
              <a:t>question → answer · voice only</a:t>
            </a:r>
            <a:endParaRPr sz="9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7420674" y="2468880"/>
            <a:ext cx="1408176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FlexiSLM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8746554" y="2468880"/>
            <a:ext cx="640080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1" i="0">
                <a:solidFill>
                  <a:srgbClr val="222222"/>
                </a:solidFill>
                <a:latin typeface="Calibri"/>
              </a:rPr>
              <a:t>12,962</a:t>
            </a:r>
            <a:endParaRPr sz="1000" b="1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7438962" y="2683764"/>
            <a:ext cx="1929384" cy="45720"/>
          </a:xfrm>
          <a:prstGeom prst="rect">
            <a:avLst/>
          </a:prstGeom>
          <a:solidFill>
            <a:srgbClr val="355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420674" y="2729484"/>
            <a:ext cx="1408176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VoiceAssistant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8746554" y="2729484"/>
            <a:ext cx="640080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1" i="0">
                <a:solidFill>
                  <a:srgbClr val="222222"/>
                </a:solidFill>
                <a:latin typeface="Calibri"/>
              </a:rPr>
              <a:t>2,866</a:t>
            </a:r>
            <a:endParaRPr sz="1000" b="1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7438962" y="2944368"/>
            <a:ext cx="426601" cy="45720"/>
          </a:xfrm>
          <a:prstGeom prst="rect">
            <a:avLst/>
          </a:prstGeom>
          <a:solidFill>
            <a:srgbClr val="355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420674" y="2990088"/>
            <a:ext cx="1408176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EchoX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8746554" y="2990088"/>
            <a:ext cx="640080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1" i="0">
                <a:solidFill>
                  <a:srgbClr val="222222"/>
                </a:solidFill>
                <a:latin typeface="Calibri"/>
              </a:rPr>
              <a:t>2,310</a:t>
            </a:r>
            <a:endParaRPr sz="1000" b="1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7438962" y="3204972"/>
            <a:ext cx="343841" cy="45720"/>
          </a:xfrm>
          <a:prstGeom prst="rect">
            <a:avLst/>
          </a:prstGeom>
          <a:solidFill>
            <a:srgbClr val="355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420674" y="3250692"/>
            <a:ext cx="1408176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InstructS2S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8746554" y="3250692"/>
            <a:ext cx="640080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1" i="0">
                <a:solidFill>
                  <a:srgbClr val="222222"/>
                </a:solidFill>
                <a:latin typeface="Calibri"/>
              </a:rPr>
              <a:t>2,209</a:t>
            </a:r>
            <a:endParaRPr sz="1000" b="1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7438962" y="3465576"/>
            <a:ext cx="328807" cy="45720"/>
          </a:xfrm>
          <a:prstGeom prst="rect">
            <a:avLst/>
          </a:prstGeom>
          <a:solidFill>
            <a:srgbClr val="355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420674" y="4334256"/>
            <a:ext cx="1965960" cy="914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420674" y="4370832"/>
            <a:ext cx="2002536" cy="3276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 b="1" i="0">
                <a:solidFill>
                  <a:srgbClr val="35577A"/>
                </a:solidFill>
                <a:latin typeface="Calibri"/>
              </a:rPr>
              <a:t>Used for  </a:t>
            </a:r>
            <a:r>
              <a:rPr sz="950" b="0" i="0">
                <a:solidFill>
                  <a:srgbClr val="595959"/>
                </a:solidFill>
                <a:latin typeface="Calibri"/>
              </a:rPr>
              <a:t>keeps the agent smart · gets synthetic face &amp; body</a:t>
            </a:r>
            <a:endParaRPr sz="9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9610662" y="1325880"/>
            <a:ext cx="2185416" cy="3611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610662" y="1325880"/>
            <a:ext cx="2185416" cy="64008"/>
          </a:xfrm>
          <a:prstGeom prst="rect">
            <a:avLst/>
          </a:prstGeom>
          <a:solidFill>
            <a:srgbClr val="6A5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720390" y="1435607"/>
            <a:ext cx="2002536" cy="2273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1" i="0">
                <a:solidFill>
                  <a:srgbClr val="6A5D7B"/>
                </a:solidFill>
                <a:latin typeface="Calibri"/>
              </a:rPr>
              <a:t>Full-duplex speech</a:t>
            </a:r>
            <a:endParaRPr sz="1250" b="1" i="0">
              <a:solidFill>
                <a:srgbClr val="6A5D7B"/>
              </a:solidFill>
              <a:latin typeface="Calibri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9720390" y="1709928"/>
            <a:ext cx="2002536" cy="40449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 i="0">
                <a:solidFill>
                  <a:srgbClr val="222222"/>
                </a:solidFill>
                <a:latin typeface="Calibri"/>
              </a:rPr>
              <a:t>3.9k h</a:t>
            </a:r>
            <a:endParaRPr sz="2400" b="1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9720390" y="2167128"/>
            <a:ext cx="2002536" cy="1816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Calibri"/>
              </a:rPr>
              <a:t>two overlapping voice channels</a:t>
            </a:r>
            <a:endParaRPr sz="9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9720390" y="2468880"/>
            <a:ext cx="1408176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Behavior-SD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11046270" y="2468880"/>
            <a:ext cx="640080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1" i="0">
                <a:solidFill>
                  <a:srgbClr val="222222"/>
                </a:solidFill>
                <a:latin typeface="Calibri"/>
              </a:rPr>
              <a:t>2,127</a:t>
            </a:r>
            <a:endParaRPr sz="1000" b="1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9738678" y="2683764"/>
            <a:ext cx="1929384" cy="45720"/>
          </a:xfrm>
          <a:prstGeom prst="rect">
            <a:avLst/>
          </a:prstGeom>
          <a:solidFill>
            <a:srgbClr val="6A5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720390" y="2729484"/>
            <a:ext cx="1408176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Fisher</a:t>
            </a:r>
            <a:endParaRPr sz="100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11046270" y="2729484"/>
            <a:ext cx="640080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1" i="0">
                <a:solidFill>
                  <a:srgbClr val="222222"/>
                </a:solidFill>
                <a:latin typeface="Calibri"/>
              </a:rPr>
              <a:t>1,802</a:t>
            </a:r>
            <a:endParaRPr sz="1000" b="1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9738678" y="2944368"/>
            <a:ext cx="1634579" cy="45720"/>
          </a:xfrm>
          <a:prstGeom prst="rect">
            <a:avLst/>
          </a:prstGeom>
          <a:solidFill>
            <a:srgbClr val="6A5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720390" y="4334256"/>
            <a:ext cx="1965960" cy="914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720390" y="4370832"/>
            <a:ext cx="2002536" cy="3276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 b="1" i="0">
                <a:solidFill>
                  <a:srgbClr val="6A5D7B"/>
                </a:solidFill>
                <a:latin typeface="Calibri"/>
              </a:rPr>
              <a:t>Used for  </a:t>
            </a:r>
            <a:r>
              <a:rPr sz="950" b="0" i="0">
                <a:solidFill>
                  <a:srgbClr val="595959"/>
                </a:solidFill>
                <a:latin typeface="Calibri"/>
              </a:rPr>
              <a:t>interruptions &amp; back-channels · side experiments only</a:t>
            </a:r>
            <a:endParaRPr sz="9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411798" y="5120640"/>
            <a:ext cx="10972800" cy="23558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alibri"/>
              </a:rPr>
              <a:t>Synthesized dialogue rows built from them</a:t>
            </a:r>
            <a:endParaRPr sz="1300" b="1" i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411798" y="5468112"/>
            <a:ext cx="1805939" cy="19685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1" i="0">
                <a:solidFill>
                  <a:srgbClr val="35577A"/>
                </a:solidFill>
                <a:latin typeface="Calibri"/>
              </a:rPr>
              <a:t>Q&amp;A + face &amp; body</a:t>
            </a:r>
            <a:endParaRPr sz="1050" b="1" i="0">
              <a:solidFill>
                <a:srgbClr val="35577A"/>
              </a:solidFill>
              <a:latin typeface="Calibri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411798" y="5705855"/>
            <a:ext cx="1805939" cy="29654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  <a:latin typeface="Calibri"/>
              </a:rPr>
              <a:t>1.92M</a:t>
            </a:r>
            <a:r>
              <a:rPr sz="1000" b="0" i="0">
                <a:solidFill>
                  <a:srgbClr val="595959"/>
                </a:solidFill>
                <a:latin typeface="Calibri"/>
              </a:rPr>
              <a:t>   ≈15k h</a:t>
            </a:r>
            <a:endParaRPr sz="10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411798" y="6153912"/>
            <a:ext cx="1714499" cy="54864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411798" y="6153912"/>
            <a:ext cx="1714499" cy="54864"/>
          </a:xfrm>
          <a:prstGeom prst="rect">
            <a:avLst/>
          </a:prstGeom>
          <a:solidFill>
            <a:srgbClr val="355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327465" y="5468112"/>
            <a:ext cx="1805939" cy="19685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1" i="0">
                <a:solidFill>
                  <a:srgbClr val="3D7068"/>
                </a:solidFill>
                <a:latin typeface="Calibri"/>
              </a:rPr>
              <a:t>Body · understand</a:t>
            </a:r>
            <a:endParaRPr sz="1050" b="1" i="0">
              <a:solidFill>
                <a:srgbClr val="3D7068"/>
              </a:solidFill>
              <a:latin typeface="Calibri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2327465" y="5705855"/>
            <a:ext cx="1805939" cy="29654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  <a:latin typeface="Calibri"/>
              </a:rPr>
              <a:t>900k</a:t>
            </a:r>
            <a:r>
              <a:rPr sz="1000" b="0" i="0">
                <a:solidFill>
                  <a:srgbClr val="595959"/>
                </a:solidFill>
                <a:latin typeface="Calibri"/>
              </a:rPr>
              <a:t>   ≈3.9k h</a:t>
            </a:r>
            <a:endParaRPr sz="10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2327466" y="6153912"/>
            <a:ext cx="1714499" cy="54864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2327466" y="6153912"/>
            <a:ext cx="803671" cy="54864"/>
          </a:xfrm>
          <a:prstGeom prst="rect">
            <a:avLst/>
          </a:prstGeom>
          <a:solidFill>
            <a:srgbClr val="3D7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243134" y="5468112"/>
            <a:ext cx="1805939" cy="19685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1" i="0">
                <a:solidFill>
                  <a:srgbClr val="3D7068"/>
                </a:solidFill>
                <a:latin typeface="Calibri"/>
              </a:rPr>
              <a:t>Body · generate</a:t>
            </a:r>
            <a:endParaRPr sz="1050" b="1" i="0">
              <a:solidFill>
                <a:srgbClr val="3D7068"/>
              </a:solidFill>
              <a:latin typeface="Calibri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4243134" y="5705855"/>
            <a:ext cx="1805939" cy="29654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  <a:latin typeface="Calibri"/>
              </a:rPr>
              <a:t>453k</a:t>
            </a:r>
            <a:r>
              <a:rPr sz="1000" b="0" i="0">
                <a:solidFill>
                  <a:srgbClr val="595959"/>
                </a:solidFill>
                <a:latin typeface="Calibri"/>
              </a:rPr>
              <a:t>   </a:t>
            </a:r>
            <a:endParaRPr sz="10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4243134" y="6153912"/>
            <a:ext cx="1714499" cy="54864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4243134" y="6153912"/>
            <a:ext cx="404514" cy="54864"/>
          </a:xfrm>
          <a:prstGeom prst="rect">
            <a:avLst/>
          </a:prstGeom>
          <a:solidFill>
            <a:srgbClr val="3D7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158801" y="5468112"/>
            <a:ext cx="1805939" cy="19685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1" i="0">
                <a:solidFill>
                  <a:srgbClr val="B0573A"/>
                </a:solidFill>
                <a:latin typeface="Calibri"/>
              </a:rPr>
              <a:t>Face · understand</a:t>
            </a:r>
            <a:endParaRPr sz="1050" b="1" i="0">
              <a:solidFill>
                <a:srgbClr val="B0573A"/>
              </a:solidFill>
              <a:latin typeface="Calibri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6158801" y="5705855"/>
            <a:ext cx="1805939" cy="29654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  <a:latin typeface="Calibri"/>
              </a:rPr>
              <a:t>334k</a:t>
            </a:r>
            <a:r>
              <a:rPr sz="1000" b="0" i="0">
                <a:solidFill>
                  <a:srgbClr val="595959"/>
                </a:solidFill>
                <a:latin typeface="Calibri"/>
              </a:rPr>
              <a:t>   ≈1.9k h</a:t>
            </a:r>
            <a:endParaRPr sz="10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16" name="Rectangle 115"/>
          <p:cNvSpPr/>
          <p:nvPr/>
        </p:nvSpPr>
        <p:spPr>
          <a:xfrm>
            <a:off x="6158801" y="6153912"/>
            <a:ext cx="1714499" cy="54864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158801" y="6153912"/>
            <a:ext cx="298251" cy="54864"/>
          </a:xfrm>
          <a:prstGeom prst="rect">
            <a:avLst/>
          </a:prstGeom>
          <a:solidFill>
            <a:srgbClr val="B05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074469" y="5468112"/>
            <a:ext cx="1805939" cy="19685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1" i="0">
                <a:solidFill>
                  <a:srgbClr val="B0573A"/>
                </a:solidFill>
                <a:latin typeface="Calibri"/>
              </a:rPr>
              <a:t>Face · dialogue</a:t>
            </a:r>
            <a:endParaRPr sz="1050" b="1" i="0">
              <a:solidFill>
                <a:srgbClr val="B0573A"/>
              </a:solidFill>
              <a:latin typeface="Calibri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8074469" y="5705855"/>
            <a:ext cx="1805939" cy="29654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  <a:latin typeface="Calibri"/>
              </a:rPr>
              <a:t>142k</a:t>
            </a:r>
            <a:r>
              <a:rPr sz="1000" b="0" i="0">
                <a:solidFill>
                  <a:srgbClr val="595959"/>
                </a:solidFill>
                <a:latin typeface="Calibri"/>
              </a:rPr>
              <a:t>   638 h</a:t>
            </a:r>
            <a:endParaRPr sz="10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20" name="Rectangle 119"/>
          <p:cNvSpPr/>
          <p:nvPr/>
        </p:nvSpPr>
        <p:spPr>
          <a:xfrm>
            <a:off x="8074469" y="6153912"/>
            <a:ext cx="1714499" cy="54864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074469" y="6153912"/>
            <a:ext cx="126801" cy="54864"/>
          </a:xfrm>
          <a:prstGeom prst="rect">
            <a:avLst/>
          </a:prstGeom>
          <a:solidFill>
            <a:srgbClr val="B05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990137" y="5468112"/>
            <a:ext cx="1805939" cy="19685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1" i="0">
                <a:solidFill>
                  <a:srgbClr val="B0573A"/>
                </a:solidFill>
                <a:latin typeface="Calibri"/>
              </a:rPr>
              <a:t>Face · from instruction</a:t>
            </a:r>
            <a:endParaRPr sz="1050" b="1" i="0">
              <a:solidFill>
                <a:srgbClr val="B0573A"/>
              </a:solidFill>
              <a:latin typeface="Calibri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9990137" y="5705855"/>
            <a:ext cx="1805939" cy="29654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  <a:latin typeface="Calibri"/>
              </a:rPr>
              <a:t>113k</a:t>
            </a:r>
            <a:r>
              <a:rPr sz="1000" b="0" i="0">
                <a:solidFill>
                  <a:srgbClr val="595959"/>
                </a:solidFill>
                <a:latin typeface="Calibri"/>
              </a:rPr>
              <a:t>   162 h</a:t>
            </a:r>
            <a:endParaRPr sz="10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24" name="Rectangle 123"/>
          <p:cNvSpPr/>
          <p:nvPr/>
        </p:nvSpPr>
        <p:spPr>
          <a:xfrm>
            <a:off x="9990137" y="6153912"/>
            <a:ext cx="1714499" cy="54864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9990137" y="6153912"/>
            <a:ext cx="100905" cy="54864"/>
          </a:xfrm>
          <a:prstGeom prst="rect">
            <a:avLst/>
          </a:prstGeom>
          <a:solidFill>
            <a:srgbClr val="B05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09600" y="152401"/>
            <a:ext cx="9906000" cy="685793"/>
          </a:xfrm>
          <a:prstGeom prst="rect">
            <a:avLst/>
          </a:prstGeom>
          <a:noFill/>
        </p:spPr>
        <p:txBody>
          <a:bodyPr wrap="square" lIns="91440" tIns="45720" rIns="91440" bIns="45720" anchor="b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+mj-lt"/>
                <a:ea typeface="+mj-ea"/>
              </a:rPr>
              <a:t>Every example becomes a two-person dialogue</a:t>
            </a:r>
            <a:endParaRPr sz="2800" b="0">
              <a:solidFill>
                <a:srgbClr val="000000"/>
              </a:solidFill>
              <a:latin typeface="+mj-lt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64464" y="950000"/>
            <a:ext cx="11131614" cy="266065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  <a:latin typeface="Calibri"/>
              </a:rPr>
              <a:t>Whatever we start from, we fill in the missing words, voices, faces and bodies until both people are complete</a:t>
            </a:r>
            <a:endParaRPr sz="15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1798" y="1371600"/>
            <a:ext cx="3931920" cy="23558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alibri"/>
              </a:rPr>
              <a:t>Every example looks like this</a:t>
            </a:r>
            <a:endParaRPr sz="1300" b="1" i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1798" y="1783080"/>
            <a:ext cx="1828800" cy="2197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Calibri"/>
              </a:rPr>
              <a:t>User</a:t>
            </a:r>
            <a:endParaRPr sz="1200" b="1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958" y="2123566"/>
            <a:ext cx="777240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0" i="0">
                <a:solidFill>
                  <a:srgbClr val="35577A"/>
                </a:solidFill>
                <a:latin typeface="Calibri"/>
              </a:rPr>
              <a:t>voice</a:t>
            </a:r>
            <a:endParaRPr sz="1050" b="0" i="0">
              <a:solidFill>
                <a:srgbClr val="35577A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326198" y="2139696"/>
            <a:ext cx="2926080" cy="182880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26198" y="2139696"/>
            <a:ext cx="1228953" cy="182880"/>
          </a:xfrm>
          <a:prstGeom prst="rect">
            <a:avLst/>
          </a:prstGeom>
          <a:solidFill>
            <a:srgbClr val="355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2626" y="2139696"/>
            <a:ext cx="263347" cy="182880"/>
          </a:xfrm>
          <a:prstGeom prst="rect">
            <a:avLst/>
          </a:prstGeom>
          <a:solidFill>
            <a:srgbClr val="355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958" y="2452750"/>
            <a:ext cx="777240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0" i="0">
                <a:solidFill>
                  <a:srgbClr val="B0573A"/>
                </a:solidFill>
                <a:latin typeface="Calibri"/>
              </a:rPr>
              <a:t>face</a:t>
            </a:r>
            <a:endParaRPr sz="1050" b="0" i="0">
              <a:solidFill>
                <a:srgbClr val="B0573A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326198" y="2468879"/>
            <a:ext cx="2926080" cy="182880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26198" y="2468879"/>
            <a:ext cx="2926080" cy="182880"/>
          </a:xfrm>
          <a:prstGeom prst="rect">
            <a:avLst/>
          </a:prstGeom>
          <a:solidFill>
            <a:srgbClr val="F8F0ED"/>
          </a:solidFill>
          <a:ln w="6350">
            <a:solidFill>
              <a:srgbClr val="B057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958" y="2781934"/>
            <a:ext cx="777240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0" i="0">
                <a:solidFill>
                  <a:srgbClr val="3D7068"/>
                </a:solidFill>
                <a:latin typeface="Calibri"/>
              </a:rPr>
              <a:t>body</a:t>
            </a:r>
            <a:endParaRPr sz="1050" b="0" i="0">
              <a:solidFill>
                <a:srgbClr val="3D7068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326198" y="2798063"/>
            <a:ext cx="2926080" cy="182880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26198" y="2798063"/>
            <a:ext cx="2926080" cy="182880"/>
          </a:xfrm>
          <a:prstGeom prst="rect">
            <a:avLst/>
          </a:prstGeom>
          <a:solidFill>
            <a:srgbClr val="EEF2F1"/>
          </a:solidFill>
          <a:ln w="6350">
            <a:solidFill>
              <a:srgbClr val="3D7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798" y="3072383"/>
            <a:ext cx="1828800" cy="2197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Calibri"/>
              </a:rPr>
              <a:t>Agent</a:t>
            </a:r>
            <a:endParaRPr sz="1200" b="1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8958" y="3412870"/>
            <a:ext cx="777240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0" i="0">
                <a:solidFill>
                  <a:srgbClr val="35577A"/>
                </a:solidFill>
                <a:latin typeface="Calibri"/>
              </a:rPr>
              <a:t>voice</a:t>
            </a:r>
            <a:endParaRPr sz="1050" b="0" i="0">
              <a:solidFill>
                <a:srgbClr val="35577A"/>
              </a:solidFill>
              <a:latin typeface="Calibr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326198" y="3428999"/>
            <a:ext cx="2926080" cy="182880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89238" y="3428999"/>
            <a:ext cx="994867" cy="182880"/>
          </a:xfrm>
          <a:prstGeom prst="rect">
            <a:avLst/>
          </a:prstGeom>
          <a:solidFill>
            <a:srgbClr val="355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958" y="3742055"/>
            <a:ext cx="777240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0" i="0">
                <a:solidFill>
                  <a:srgbClr val="9C7A2B"/>
                </a:solidFill>
                <a:latin typeface="Calibri"/>
              </a:rPr>
              <a:t>words</a:t>
            </a:r>
            <a:endParaRPr sz="1050" b="0" i="0">
              <a:solidFill>
                <a:srgbClr val="9C7A2B"/>
              </a:solidFill>
              <a:latin typeface="Calibr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326198" y="3758183"/>
            <a:ext cx="2926080" cy="182880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13673" y="3758183"/>
            <a:ext cx="175564" cy="182880"/>
          </a:xfrm>
          <a:prstGeom prst="rect">
            <a:avLst/>
          </a:prstGeom>
          <a:solidFill>
            <a:srgbClr val="9C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89238" y="3758183"/>
            <a:ext cx="994867" cy="182880"/>
          </a:xfrm>
          <a:prstGeom prst="rect">
            <a:avLst/>
          </a:prstGeom>
          <a:solidFill>
            <a:srgbClr val="9C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958" y="4071239"/>
            <a:ext cx="777240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0" i="0">
                <a:solidFill>
                  <a:srgbClr val="B0573A"/>
                </a:solidFill>
                <a:latin typeface="Calibri"/>
              </a:rPr>
              <a:t>face</a:t>
            </a:r>
            <a:endParaRPr sz="1050" b="0" i="0">
              <a:solidFill>
                <a:srgbClr val="B0573A"/>
              </a:solidFill>
              <a:latin typeface="Calibri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326198" y="4087368"/>
            <a:ext cx="2926080" cy="182880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326198" y="4087368"/>
            <a:ext cx="2926080" cy="182880"/>
          </a:xfrm>
          <a:prstGeom prst="rect">
            <a:avLst/>
          </a:prstGeom>
          <a:solidFill>
            <a:srgbClr val="F8F0ED"/>
          </a:solidFill>
          <a:ln w="6350">
            <a:solidFill>
              <a:srgbClr val="B057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958" y="4400423"/>
            <a:ext cx="777240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0" i="0">
                <a:solidFill>
                  <a:srgbClr val="3D7068"/>
                </a:solidFill>
                <a:latin typeface="Calibri"/>
              </a:rPr>
              <a:t>body</a:t>
            </a:r>
            <a:endParaRPr sz="1050" b="0" i="0">
              <a:solidFill>
                <a:srgbClr val="3D7068"/>
              </a:solidFill>
              <a:latin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326198" y="4416552"/>
            <a:ext cx="2926080" cy="182880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326198" y="4416552"/>
            <a:ext cx="2926080" cy="182880"/>
          </a:xfrm>
          <a:prstGeom prst="rect">
            <a:avLst/>
          </a:prstGeom>
          <a:solidFill>
            <a:srgbClr val="EEF2F1"/>
          </a:solidFill>
          <a:ln w="6350">
            <a:solidFill>
              <a:srgbClr val="3D7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1326198" y="4764024"/>
            <a:ext cx="2926080" cy="0"/>
          </a:xfrm>
          <a:prstGeom prst="line">
            <a:avLst/>
          </a:prstGeom>
          <a:ln w="12700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326198" y="4800600"/>
            <a:ext cx="2926080" cy="17399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Calibri"/>
              </a:rPr>
              <a:t>one clock  ·  speech 12.5 Hz  ·  motion 6.25 Hz</a:t>
            </a:r>
            <a:endParaRPr sz="9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709478" y="1371600"/>
            <a:ext cx="1965960" cy="2273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Starting from</a:t>
            </a:r>
            <a:endParaRPr sz="1250" b="1" i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675438" y="1371600"/>
            <a:ext cx="1188720" cy="37401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50" b="1" i="0">
                <a:solidFill>
                  <a:srgbClr val="1F3A5F"/>
                </a:solidFill>
                <a:latin typeface="Calibri"/>
              </a:rPr>
              <a:t>Words</a:t>
            </a:r>
            <a:endParaRPr sz="1250" b="1" i="0">
              <a:solidFill>
                <a:srgbClr val="1F3A5F"/>
              </a:solidFill>
              <a:latin typeface="Calibri"/>
            </a:endParaRPr>
          </a:p>
          <a:p>
            <a:pPr algn="ctr"/>
            <a:r>
              <a:rPr sz="950" b="0" i="0">
                <a:solidFill>
                  <a:srgbClr val="595959"/>
                </a:solidFill>
                <a:latin typeface="Calibri"/>
              </a:rPr>
              <a:t>an LLM writes</a:t>
            </a:r>
            <a:endParaRPr sz="9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864158" y="1371600"/>
            <a:ext cx="1188720" cy="37401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50" b="1" i="0">
                <a:solidFill>
                  <a:srgbClr val="1F3A5F"/>
                </a:solidFill>
                <a:latin typeface="Calibri"/>
              </a:rPr>
              <a:t>Voices</a:t>
            </a:r>
            <a:endParaRPr sz="1250" b="1" i="0">
              <a:solidFill>
                <a:srgbClr val="1F3A5F"/>
              </a:solidFill>
              <a:latin typeface="Calibri"/>
            </a:endParaRPr>
          </a:p>
          <a:p>
            <a:pPr algn="ctr"/>
            <a:r>
              <a:rPr sz="950" b="0" i="0">
                <a:solidFill>
                  <a:srgbClr val="595959"/>
                </a:solidFill>
                <a:latin typeface="Calibri"/>
              </a:rPr>
              <a:t>TTS speaks</a:t>
            </a:r>
            <a:endParaRPr sz="9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052878" y="1371600"/>
            <a:ext cx="1417320" cy="37401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50" b="1" i="0">
                <a:solidFill>
                  <a:srgbClr val="1F3A5F"/>
                </a:solidFill>
                <a:latin typeface="Calibri"/>
              </a:rPr>
              <a:t>Faces &amp; bodies</a:t>
            </a:r>
            <a:endParaRPr sz="1250" b="1" i="0">
              <a:solidFill>
                <a:srgbClr val="1F3A5F"/>
              </a:solidFill>
              <a:latin typeface="Calibri"/>
            </a:endParaRPr>
          </a:p>
          <a:p>
            <a:pPr algn="ctr"/>
            <a:r>
              <a:rPr sz="950" b="0" i="0">
                <a:solidFill>
                  <a:srgbClr val="595959"/>
                </a:solidFill>
                <a:latin typeface="Calibri"/>
              </a:rPr>
              <a:t>a motion model draws</a:t>
            </a:r>
            <a:endParaRPr sz="9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470198" y="1371600"/>
            <a:ext cx="1325880" cy="2273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Becomes</a:t>
            </a:r>
            <a:endParaRPr sz="1250" b="1" i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709478" y="2706623"/>
            <a:ext cx="7086600" cy="914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09478" y="2139379"/>
            <a:ext cx="1965960" cy="36639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Calibri"/>
              </a:rPr>
              <a:t>Real conversation</a:t>
            </a:r>
            <a:endParaRPr sz="1200" b="1" i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950" b="0" i="0">
                <a:solidFill>
                  <a:srgbClr val="595959"/>
                </a:solidFill>
                <a:latin typeface="Calibri"/>
              </a:rPr>
              <a:t>Mosaic, MSR</a:t>
            </a:r>
            <a:endParaRPr sz="9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6785166" y="2057400"/>
            <a:ext cx="969264" cy="530352"/>
          </a:xfrm>
          <a:prstGeom prst="roundRect">
            <a:avLst>
              <a:gd name="adj" fmla="val 12000"/>
            </a:avLst>
          </a:prstGeom>
          <a:solidFill>
            <a:srgbClr val="EAF0EC"/>
          </a:solidFill>
          <a:ln w="9525">
            <a:solidFill>
              <a:srgbClr val="EAF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500" b="1" i="0">
                <a:solidFill>
                  <a:srgbClr val="3F7A4F"/>
                </a:solidFill>
                <a:latin typeface="Calibri"/>
              </a:rPr>
              <a:t>✓</a:t>
            </a:r>
            <a:endParaRPr sz="1500" b="1" i="0">
              <a:solidFill>
                <a:srgbClr val="3F7A4F"/>
              </a:solidFill>
              <a:latin typeface="Calibri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7973886" y="2057400"/>
            <a:ext cx="969264" cy="530352"/>
          </a:xfrm>
          <a:prstGeom prst="roundRect">
            <a:avLst>
              <a:gd name="adj" fmla="val 12000"/>
            </a:avLst>
          </a:prstGeom>
          <a:solidFill>
            <a:srgbClr val="EAF0EC"/>
          </a:solidFill>
          <a:ln w="9525">
            <a:solidFill>
              <a:srgbClr val="EAF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500" b="1" i="0">
                <a:solidFill>
                  <a:srgbClr val="3F7A4F"/>
                </a:solidFill>
                <a:latin typeface="Calibri"/>
              </a:rPr>
              <a:t>✓</a:t>
            </a:r>
            <a:endParaRPr sz="1500" b="1" i="0">
              <a:solidFill>
                <a:srgbClr val="3F7A4F"/>
              </a:solidFill>
              <a:latin typeface="Calibri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9162606" y="2057400"/>
            <a:ext cx="1197864" cy="530352"/>
          </a:xfrm>
          <a:prstGeom prst="roundRect">
            <a:avLst>
              <a:gd name="adj" fmla="val 12000"/>
            </a:avLst>
          </a:prstGeom>
          <a:solidFill>
            <a:srgbClr val="EAF0EC"/>
          </a:solidFill>
          <a:ln w="9525">
            <a:solidFill>
              <a:srgbClr val="EAF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500" b="1" i="0">
                <a:solidFill>
                  <a:srgbClr val="3F7A4F"/>
                </a:solidFill>
                <a:latin typeface="Calibri"/>
              </a:rPr>
              <a:t>✓</a:t>
            </a:r>
            <a:endParaRPr sz="1500" b="1" i="0">
              <a:solidFill>
                <a:srgbClr val="3F7A4F"/>
              </a:solidFill>
              <a:latin typeface="Calibr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515918" y="2224151"/>
            <a:ext cx="1325880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0" i="1">
                <a:solidFill>
                  <a:srgbClr val="222222"/>
                </a:solidFill>
                <a:latin typeface="Calibri"/>
              </a:rPr>
              <a:t>dialogue as is</a:t>
            </a:r>
            <a:endParaRPr sz="1050" b="0" i="1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4709478" y="3474720"/>
            <a:ext cx="7086600" cy="914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09478" y="2907475"/>
            <a:ext cx="1965960" cy="36639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Calibri"/>
              </a:rPr>
              <a:t>Spoken Q&amp;A</a:t>
            </a:r>
            <a:endParaRPr sz="1200" b="1" i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950" b="0" i="0">
                <a:solidFill>
                  <a:srgbClr val="595959"/>
                </a:solidFill>
                <a:latin typeface="Calibri"/>
              </a:rPr>
              <a:t>FlexiSLM, InstructS2S</a:t>
            </a:r>
            <a:endParaRPr sz="9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6785166" y="2825496"/>
            <a:ext cx="969264" cy="530352"/>
          </a:xfrm>
          <a:prstGeom prst="roundRect">
            <a:avLst>
              <a:gd name="adj" fmla="val 12000"/>
            </a:avLst>
          </a:prstGeom>
          <a:solidFill>
            <a:srgbClr val="EAF0EC"/>
          </a:solidFill>
          <a:ln w="9525">
            <a:solidFill>
              <a:srgbClr val="EAF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500" b="1" i="0">
                <a:solidFill>
                  <a:srgbClr val="3F7A4F"/>
                </a:solidFill>
                <a:latin typeface="Calibri"/>
              </a:rPr>
              <a:t>✓</a:t>
            </a:r>
            <a:endParaRPr sz="1500" b="1" i="0">
              <a:solidFill>
                <a:srgbClr val="3F7A4F"/>
              </a:solidFill>
              <a:latin typeface="Calibri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7973886" y="2825496"/>
            <a:ext cx="969264" cy="530352"/>
          </a:xfrm>
          <a:prstGeom prst="roundRect">
            <a:avLst>
              <a:gd name="adj" fmla="val 12000"/>
            </a:avLst>
          </a:prstGeom>
          <a:solidFill>
            <a:srgbClr val="EAF0EC"/>
          </a:solidFill>
          <a:ln w="9525">
            <a:solidFill>
              <a:srgbClr val="EAF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500" b="1" i="0">
                <a:solidFill>
                  <a:srgbClr val="3F7A4F"/>
                </a:solidFill>
                <a:latin typeface="Calibri"/>
              </a:rPr>
              <a:t>✓</a:t>
            </a:r>
            <a:endParaRPr sz="1500" b="1" i="0">
              <a:solidFill>
                <a:srgbClr val="3F7A4F"/>
              </a:solidFill>
              <a:latin typeface="Calibri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9162606" y="2825496"/>
            <a:ext cx="1197864" cy="530352"/>
          </a:xfrm>
          <a:prstGeom prst="roundRect">
            <a:avLst>
              <a:gd name="adj" fmla="val 12000"/>
            </a:avLst>
          </a:prstGeom>
          <a:solidFill>
            <a:srgbClr val="F6EFE4"/>
          </a:solidFill>
          <a:ln w="952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500" b="1" i="0">
                <a:solidFill>
                  <a:srgbClr val="B7791F"/>
                </a:solidFill>
                <a:latin typeface="Calibri"/>
              </a:rPr>
              <a:t>+</a:t>
            </a:r>
            <a:endParaRPr sz="1500" b="1" i="0">
              <a:solidFill>
                <a:srgbClr val="B7791F"/>
              </a:solidFill>
              <a:latin typeface="Calibri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0515918" y="2992247"/>
            <a:ext cx="1325880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0" i="1">
                <a:solidFill>
                  <a:srgbClr val="222222"/>
                </a:solidFill>
                <a:latin typeface="Calibri"/>
              </a:rPr>
              <a:t>Q&amp;A with bodies</a:t>
            </a:r>
            <a:endParaRPr sz="1050" b="0" i="1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4709478" y="4242816"/>
            <a:ext cx="7086600" cy="914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09478" y="3675571"/>
            <a:ext cx="1965960" cy="36639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Calibri"/>
              </a:rPr>
              <a:t>Full-duplex speech</a:t>
            </a:r>
            <a:endParaRPr sz="1200" b="1" i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950" b="0" i="0">
                <a:solidFill>
                  <a:srgbClr val="595959"/>
                </a:solidFill>
                <a:latin typeface="Calibri"/>
              </a:rPr>
              <a:t>Fisher, Behavior-SD</a:t>
            </a:r>
            <a:endParaRPr sz="9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6785166" y="3593592"/>
            <a:ext cx="969264" cy="530352"/>
          </a:xfrm>
          <a:prstGeom prst="roundRect">
            <a:avLst>
              <a:gd name="adj" fmla="val 12000"/>
            </a:avLst>
          </a:prstGeom>
          <a:solidFill>
            <a:srgbClr val="EAF0EC"/>
          </a:solidFill>
          <a:ln w="9525">
            <a:solidFill>
              <a:srgbClr val="EAF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500" b="1" i="0">
                <a:solidFill>
                  <a:srgbClr val="3F7A4F"/>
                </a:solidFill>
                <a:latin typeface="Calibri"/>
              </a:rPr>
              <a:t>✓</a:t>
            </a:r>
            <a:endParaRPr sz="1500" b="1" i="0">
              <a:solidFill>
                <a:srgbClr val="3F7A4F"/>
              </a:solidFill>
              <a:latin typeface="Calibri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7973886" y="3593592"/>
            <a:ext cx="969264" cy="530352"/>
          </a:xfrm>
          <a:prstGeom prst="roundRect">
            <a:avLst>
              <a:gd name="adj" fmla="val 12000"/>
            </a:avLst>
          </a:prstGeom>
          <a:solidFill>
            <a:srgbClr val="EAF0EC"/>
          </a:solidFill>
          <a:ln w="9525">
            <a:solidFill>
              <a:srgbClr val="EAF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500" b="1" i="0">
                <a:solidFill>
                  <a:srgbClr val="3F7A4F"/>
                </a:solidFill>
                <a:latin typeface="Calibri"/>
              </a:rPr>
              <a:t>✓</a:t>
            </a:r>
            <a:endParaRPr sz="1500" b="1" i="0">
              <a:solidFill>
                <a:srgbClr val="3F7A4F"/>
              </a:solidFill>
              <a:latin typeface="Calibri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9162606" y="3593592"/>
            <a:ext cx="1197864" cy="530352"/>
          </a:xfrm>
          <a:prstGeom prst="roundRect">
            <a:avLst>
              <a:gd name="adj" fmla="val 12000"/>
            </a:avLst>
          </a:prstGeom>
          <a:solidFill>
            <a:srgbClr val="F6EFE4"/>
          </a:solidFill>
          <a:ln w="952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500" b="1" i="0">
                <a:solidFill>
                  <a:srgbClr val="B7791F"/>
                </a:solidFill>
                <a:latin typeface="Calibri"/>
              </a:rPr>
              <a:t>+</a:t>
            </a:r>
            <a:endParaRPr sz="1500" b="1" i="0">
              <a:solidFill>
                <a:srgbClr val="B7791F"/>
              </a:solidFill>
              <a:latin typeface="Calibri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0515918" y="3760343"/>
            <a:ext cx="1325880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0" i="1">
                <a:solidFill>
                  <a:srgbClr val="222222"/>
                </a:solidFill>
                <a:latin typeface="Calibri"/>
              </a:rPr>
              <a:t>overlapping talk</a:t>
            </a:r>
            <a:endParaRPr sz="1050" b="0" i="1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4709478" y="5010912"/>
            <a:ext cx="7086600" cy="914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09478" y="4443667"/>
            <a:ext cx="1965960" cy="36639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Calibri"/>
              </a:rPr>
              <a:t>Motion clip + caption</a:t>
            </a:r>
            <a:endParaRPr sz="1200" b="1" i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950" b="0" i="0">
                <a:solidFill>
                  <a:srgbClr val="595959"/>
                </a:solidFill>
                <a:latin typeface="Calibri"/>
              </a:rPr>
              <a:t>RoMo, Bones-Seed, …</a:t>
            </a:r>
            <a:endParaRPr sz="9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6785166" y="4361688"/>
            <a:ext cx="969264" cy="530352"/>
          </a:xfrm>
          <a:prstGeom prst="roundRect">
            <a:avLst>
              <a:gd name="adj" fmla="val 12000"/>
            </a:avLst>
          </a:prstGeom>
          <a:solidFill>
            <a:srgbClr val="F6EFE4"/>
          </a:solidFill>
          <a:ln w="952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B7791F"/>
                </a:solidFill>
                <a:latin typeface="Calibri"/>
              </a:rPr>
              <a:t>+ instruction</a:t>
            </a:r>
            <a:endParaRPr sz="1000" b="1" i="0">
              <a:solidFill>
                <a:srgbClr val="B7791F"/>
              </a:solidFill>
              <a:latin typeface="Calibri"/>
            </a:endParaRPr>
          </a:p>
          <a:p>
            <a:pPr algn="ctr"/>
            <a:r>
              <a:rPr sz="1000" b="1" i="0">
                <a:solidFill>
                  <a:srgbClr val="B7791F"/>
                </a:solidFill>
                <a:latin typeface="Calibri"/>
              </a:rPr>
              <a:t>+ plan</a:t>
            </a:r>
            <a:endParaRPr sz="1000" b="1" i="0">
              <a:solidFill>
                <a:srgbClr val="B7791F"/>
              </a:solidFill>
              <a:latin typeface="Calibri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7973886" y="4361688"/>
            <a:ext cx="969264" cy="530352"/>
          </a:xfrm>
          <a:prstGeom prst="roundRect">
            <a:avLst>
              <a:gd name="adj" fmla="val 12000"/>
            </a:avLst>
          </a:prstGeom>
          <a:solidFill>
            <a:srgbClr val="F6EFE4"/>
          </a:solidFill>
          <a:ln w="952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B7791F"/>
                </a:solidFill>
                <a:latin typeface="Calibri"/>
              </a:rPr>
              <a:t>+ user</a:t>
            </a:r>
            <a:endParaRPr sz="1000" b="1" i="0">
              <a:solidFill>
                <a:srgbClr val="B7791F"/>
              </a:solidFill>
              <a:latin typeface="Calibri"/>
            </a:endParaRPr>
          </a:p>
          <a:p>
            <a:pPr algn="ctr"/>
            <a:r>
              <a:rPr sz="1000" b="1" i="0">
                <a:solidFill>
                  <a:srgbClr val="B7791F"/>
                </a:solidFill>
                <a:latin typeface="Calibri"/>
              </a:rPr>
              <a:t>voice</a:t>
            </a:r>
            <a:endParaRPr sz="1000" b="1" i="0">
              <a:solidFill>
                <a:srgbClr val="B7791F"/>
              </a:solidFill>
              <a:latin typeface="Calibri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9162606" y="4361688"/>
            <a:ext cx="1197864" cy="530352"/>
          </a:xfrm>
          <a:prstGeom prst="roundRect">
            <a:avLst>
              <a:gd name="adj" fmla="val 12000"/>
            </a:avLst>
          </a:prstGeom>
          <a:solidFill>
            <a:srgbClr val="F6EFE4"/>
          </a:solidFill>
          <a:ln w="952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B7791F"/>
                </a:solidFill>
                <a:latin typeface="Calibri"/>
              </a:rPr>
              <a:t>real clip</a:t>
            </a:r>
            <a:endParaRPr sz="1000" b="1" i="0">
              <a:solidFill>
                <a:srgbClr val="B7791F"/>
              </a:solidFill>
              <a:latin typeface="Calibri"/>
            </a:endParaRPr>
          </a:p>
          <a:p>
            <a:pPr algn="ctr"/>
            <a:r>
              <a:rPr sz="1000" b="1" i="0">
                <a:solidFill>
                  <a:srgbClr val="B7791F"/>
                </a:solidFill>
                <a:latin typeface="Calibri"/>
              </a:rPr>
              <a:t>+ filler</a:t>
            </a:r>
            <a:endParaRPr sz="1000" b="1" i="0">
              <a:solidFill>
                <a:srgbClr val="B7791F"/>
              </a:solidFill>
              <a:latin typeface="Calibri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0515918" y="4528439"/>
            <a:ext cx="1325880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0" i="1">
                <a:solidFill>
                  <a:srgbClr val="222222"/>
                </a:solidFill>
                <a:latin typeface="Calibri"/>
              </a:rPr>
              <a:t>“show me …”</a:t>
            </a:r>
            <a:endParaRPr sz="1050" b="0" i="1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4709478" y="5779008"/>
            <a:ext cx="7086600" cy="914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09478" y="5211763"/>
            <a:ext cx="1965960" cy="36639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Calibri"/>
              </a:rPr>
              <a:t>Face clip + emotion</a:t>
            </a:r>
            <a:endParaRPr sz="1200" b="1" i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950" b="0" i="0">
                <a:solidFill>
                  <a:srgbClr val="595959"/>
                </a:solidFill>
                <a:latin typeface="Calibri"/>
              </a:rPr>
              <a:t>VoxCeleb2, MEAD, …</a:t>
            </a:r>
            <a:endParaRPr sz="9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6785166" y="5129783"/>
            <a:ext cx="969264" cy="530352"/>
          </a:xfrm>
          <a:prstGeom prst="roundRect">
            <a:avLst>
              <a:gd name="adj" fmla="val 12000"/>
            </a:avLst>
          </a:prstGeom>
          <a:solidFill>
            <a:srgbClr val="F6EFE4"/>
          </a:solidFill>
          <a:ln w="952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B7791F"/>
                </a:solidFill>
                <a:latin typeface="Calibri"/>
              </a:rPr>
              <a:t>+ instruction</a:t>
            </a:r>
            <a:endParaRPr sz="1000" b="1" i="0">
              <a:solidFill>
                <a:srgbClr val="B7791F"/>
              </a:solidFill>
              <a:latin typeface="Calibri"/>
            </a:endParaRPr>
          </a:p>
          <a:p>
            <a:pPr algn="ctr"/>
            <a:r>
              <a:rPr sz="1000" b="1" i="0">
                <a:solidFill>
                  <a:srgbClr val="B7791F"/>
                </a:solidFill>
                <a:latin typeface="Calibri"/>
              </a:rPr>
              <a:t>+ plan</a:t>
            </a:r>
            <a:endParaRPr sz="1000" b="1" i="0">
              <a:solidFill>
                <a:srgbClr val="B7791F"/>
              </a:solidFill>
              <a:latin typeface="Calibri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7973886" y="5129783"/>
            <a:ext cx="969264" cy="530352"/>
          </a:xfrm>
          <a:prstGeom prst="roundRect">
            <a:avLst>
              <a:gd name="adj" fmla="val 12000"/>
            </a:avLst>
          </a:prstGeom>
          <a:solidFill>
            <a:srgbClr val="F6EFE4"/>
          </a:solidFill>
          <a:ln w="952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B7791F"/>
                </a:solidFill>
                <a:latin typeface="Calibri"/>
              </a:rPr>
              <a:t>+ voices</a:t>
            </a:r>
            <a:endParaRPr sz="1000" b="1" i="0">
              <a:solidFill>
                <a:srgbClr val="B7791F"/>
              </a:solidFill>
              <a:latin typeface="Calibri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9162606" y="5129783"/>
            <a:ext cx="1197864" cy="530352"/>
          </a:xfrm>
          <a:prstGeom prst="roundRect">
            <a:avLst>
              <a:gd name="adj" fmla="val 12000"/>
            </a:avLst>
          </a:prstGeom>
          <a:solidFill>
            <a:srgbClr val="F6EFE4"/>
          </a:solidFill>
          <a:ln w="952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B7791F"/>
                </a:solidFill>
                <a:latin typeface="Calibri"/>
              </a:rPr>
              <a:t>real face</a:t>
            </a:r>
            <a:endParaRPr sz="1000" b="1" i="0">
              <a:solidFill>
                <a:srgbClr val="B7791F"/>
              </a:solidFill>
              <a:latin typeface="Calibri"/>
            </a:endParaRPr>
          </a:p>
          <a:p>
            <a:pPr algn="ctr"/>
            <a:r>
              <a:rPr sz="1000" b="1" i="0">
                <a:solidFill>
                  <a:srgbClr val="B7791F"/>
                </a:solidFill>
                <a:latin typeface="Calibri"/>
              </a:rPr>
              <a:t>+ bodies</a:t>
            </a:r>
            <a:endParaRPr sz="1000" b="1" i="0">
              <a:solidFill>
                <a:srgbClr val="B7791F"/>
              </a:solidFill>
              <a:latin typeface="Calibri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0515918" y="5296535"/>
            <a:ext cx="1325880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0" i="1">
                <a:solidFill>
                  <a:srgbClr val="222222"/>
                </a:solidFill>
                <a:latin typeface="Calibri"/>
              </a:rPr>
              <a:t>“look surprised …”</a:t>
            </a:r>
            <a:endParaRPr sz="1050" b="0" i="1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4709478" y="5852160"/>
            <a:ext cx="384048" cy="274320"/>
          </a:xfrm>
          <a:prstGeom prst="roundRect">
            <a:avLst>
              <a:gd name="adj" fmla="val 12000"/>
            </a:avLst>
          </a:prstGeom>
          <a:solidFill>
            <a:srgbClr val="EAF0EC"/>
          </a:solidFill>
          <a:ln w="12700">
            <a:solidFill>
              <a:srgbClr val="EAF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200" b="1" i="0">
                <a:solidFill>
                  <a:srgbClr val="3F7A4F"/>
                </a:solidFill>
                <a:latin typeface="Calibri"/>
              </a:rPr>
              <a:t>✓</a:t>
            </a:r>
            <a:endParaRPr sz="1200" b="1" i="0">
              <a:solidFill>
                <a:srgbClr val="3F7A4F"/>
              </a:solidFill>
              <a:latin typeface="Calibri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411798" y="5120640"/>
            <a:ext cx="3931920" cy="3581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1" i="0">
                <a:solidFill>
                  <a:srgbClr val="1F3A5F"/>
                </a:solidFill>
                <a:latin typeface="Calibri"/>
              </a:rPr>
              <a:t>One exception  </a:t>
            </a:r>
            <a:r>
              <a:rPr sz="1050" b="0" i="0">
                <a:solidFill>
                  <a:srgbClr val="595959"/>
                </a:solidFill>
                <a:latin typeface="Calibri"/>
              </a:rPr>
              <a:t>the two motion VAEs train on single-person clips</a:t>
            </a:r>
            <a:endParaRPr sz="10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5166678" y="5890895"/>
            <a:ext cx="1280160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already real</a:t>
            </a:r>
            <a:endParaRPr sz="105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6446838" y="5852160"/>
            <a:ext cx="384048" cy="274320"/>
          </a:xfrm>
          <a:prstGeom prst="roundRect">
            <a:avLst>
              <a:gd name="adj" fmla="val 12000"/>
            </a:avLst>
          </a:prstGeom>
          <a:solidFill>
            <a:srgbClr val="F6EFE4"/>
          </a:solidFill>
          <a:ln w="952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200" b="1" i="0">
                <a:solidFill>
                  <a:srgbClr val="B7791F"/>
                </a:solidFill>
                <a:latin typeface="Calibri"/>
              </a:rPr>
              <a:t>+</a:t>
            </a:r>
            <a:endParaRPr sz="1200" b="1" i="0">
              <a:solidFill>
                <a:srgbClr val="B7791F"/>
              </a:solidFill>
              <a:latin typeface="Calibri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904038" y="5890895"/>
            <a:ext cx="1097280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we add it</a:t>
            </a:r>
            <a:endParaRPr sz="105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8092758" y="5833110"/>
            <a:ext cx="3749039" cy="3581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1F3A5F"/>
                </a:solidFill>
                <a:latin typeface="Calibri"/>
              </a:rPr>
              <a:t>Then  </a:t>
            </a:r>
            <a:r>
              <a:rPr sz="1050" b="0" i="0">
                <a:solidFill>
                  <a:srgbClr val="595959"/>
                </a:solidFill>
                <a:latin typeface="Calibri"/>
              </a:rPr>
              <a:t>quality checks → faces &amp; bodies compressed into VAE codes</a:t>
            </a:r>
            <a:endParaRPr sz="1050" b="0" i="0">
              <a:solidFill>
                <a:srgbClr val="59595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09600" y="152401"/>
            <a:ext cx="9906000" cy="685793"/>
          </a:xfrm>
          <a:prstGeom prst="rect">
            <a:avLst/>
          </a:prstGeom>
          <a:noFill/>
        </p:spPr>
        <p:txBody>
          <a:bodyPr wrap="square" lIns="91440" tIns="45720" rIns="91440" bIns="45720" anchor="b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+mj-lt"/>
                <a:ea typeface="+mj-ea"/>
              </a:rPr>
              <a:t>One example, from a motion clip to a dialogue</a:t>
            </a:r>
            <a:endParaRPr sz="2800" b="0">
              <a:solidFill>
                <a:srgbClr val="000000"/>
              </a:solidFill>
              <a:latin typeface="+mj-lt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64464" y="950000"/>
            <a:ext cx="11131614" cy="266065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  <a:latin typeface="Calibri"/>
              </a:rPr>
              <a:t>A 3.7 s motion-capture clip becomes a 7.5 s two-person dialogue: instruction → silent plan → the real move</a:t>
            </a:r>
            <a:endParaRPr sz="15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9" name="Oval 8"/>
          <p:cNvSpPr/>
          <p:nvPr/>
        </p:nvSpPr>
        <p:spPr>
          <a:xfrm>
            <a:off x="411798" y="1417320"/>
            <a:ext cx="274320" cy="27432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0126" y="1399032"/>
            <a:ext cx="1828800" cy="2273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Real clip</a:t>
            </a:r>
            <a:endParaRPr sz="1250" b="1" i="0">
              <a:solidFill>
                <a:srgbClr val="1F3A5F"/>
              </a:solidFill>
              <a:latin typeface="Calibri"/>
            </a:endParaRPr>
          </a:p>
        </p:txBody>
      </p:sp>
      <p:pic>
        <p:nvPicPr>
          <p:cNvPr id="11" name="source_clip_hero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411798" y="1787723"/>
            <a:ext cx="1783080" cy="236815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798" y="4206240"/>
            <a:ext cx="1783080" cy="3276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50" b="0" i="1">
                <a:solidFill>
                  <a:srgbClr val="595959"/>
                </a:solidFill>
                <a:latin typeface="Calibri"/>
              </a:rPr>
              <a:t>Motion-X++  ·  3.7 s</a:t>
            </a:r>
            <a:endParaRPr sz="950" b="0" i="1">
              <a:solidFill>
                <a:srgbClr val="595959"/>
              </a:solidFill>
              <a:latin typeface="Calibri"/>
            </a:endParaRPr>
          </a:p>
          <a:p>
            <a:pPr algn="ctr"/>
            <a:r>
              <a:rPr sz="950" b="0" i="1">
                <a:solidFill>
                  <a:srgbClr val="595959"/>
                </a:solidFill>
                <a:latin typeface="Calibri"/>
              </a:rPr>
              <a:t>“Floor Tap To Knee Tuck”</a:t>
            </a:r>
            <a:endParaRPr sz="950" b="0" i="1">
              <a:solidFill>
                <a:srgbClr val="595959"/>
              </a:solidFill>
              <a:latin typeface="Calibri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2240598" y="2880360"/>
            <a:ext cx="320040" cy="0"/>
          </a:xfrm>
          <a:prstGeom prst="line">
            <a:avLst/>
          </a:prstGeom>
          <a:ln w="19050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2606358" y="1417320"/>
            <a:ext cx="274320" cy="27432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944686" y="1399032"/>
            <a:ext cx="2011680" cy="2273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Words</a:t>
            </a:r>
            <a:endParaRPr sz="1250" b="1" i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606358" y="1691640"/>
            <a:ext cx="2011680" cy="1816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Calibri"/>
              </a:rPr>
              <a:t>an LLM writes</a:t>
            </a:r>
            <a:endParaRPr sz="9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606358" y="2011680"/>
            <a:ext cx="2011680" cy="2148840"/>
          </a:xfrm>
          <a:prstGeom prst="roundRect">
            <a:avLst>
              <a:gd name="adj" fmla="val 5000"/>
            </a:avLst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97798" y="2103120"/>
            <a:ext cx="1828800" cy="11074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50" b="1" i="0">
                <a:solidFill>
                  <a:srgbClr val="35577A"/>
                </a:solidFill>
                <a:latin typeface="Calibri"/>
              </a:rPr>
              <a:t>User  </a:t>
            </a:r>
            <a:r>
              <a:rPr sz="1050" b="0" i="1">
                <a:solidFill>
                  <a:srgbClr val="222222"/>
                </a:solidFill>
                <a:latin typeface="Calibri"/>
              </a:rPr>
              <a:t>“Show me the Floor Tap To Knee Tuck move.”</a:t>
            </a:r>
            <a:endParaRPr sz="1050" b="0" i="1">
              <a:solidFill>
                <a:srgbClr val="222222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sz="1050" b="1" i="0">
                <a:solidFill>
                  <a:srgbClr val="9C7A2B"/>
                </a:solidFill>
                <a:latin typeface="Calibri"/>
              </a:rPr>
              <a:t>Plan  </a:t>
            </a:r>
            <a:r>
              <a:rPr sz="1050" b="0" i="1">
                <a:solidFill>
                  <a:srgbClr val="222222"/>
                </a:solidFill>
                <a:latin typeface="Calibri"/>
              </a:rPr>
              <a:t>“Alright, let me tap the floor with my hand and then tuck my knee up towards my chest.”</a:t>
            </a:r>
            <a:endParaRPr sz="1050" b="0" i="1">
              <a:solidFill>
                <a:srgbClr val="222222"/>
              </a:solidFill>
              <a:latin typeface="Calibri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4663758" y="2880360"/>
            <a:ext cx="182880" cy="0"/>
          </a:xfrm>
          <a:prstGeom prst="line">
            <a:avLst/>
          </a:prstGeom>
          <a:ln w="19050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4892358" y="1417320"/>
            <a:ext cx="274320" cy="27432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230686" y="1399032"/>
            <a:ext cx="2011680" cy="2273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Voice</a:t>
            </a:r>
            <a:endParaRPr sz="1250" b="1" i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892358" y="1691640"/>
            <a:ext cx="2011680" cy="1816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Calibri"/>
              </a:rPr>
              <a:t>TTS speaks</a:t>
            </a:r>
            <a:endParaRPr sz="9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892358" y="2011680"/>
            <a:ext cx="2011680" cy="2148840"/>
          </a:xfrm>
          <a:prstGeom prst="roundRect">
            <a:avLst>
              <a:gd name="adj" fmla="val 5000"/>
            </a:avLst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83796" y="2103120"/>
            <a:ext cx="1828800" cy="78422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50" b="1" i="0">
                <a:solidFill>
                  <a:srgbClr val="35577A"/>
                </a:solidFill>
                <a:latin typeface="Calibri"/>
              </a:rPr>
              <a:t>User  </a:t>
            </a:r>
            <a:r>
              <a:rPr sz="1050" b="0" i="0">
                <a:solidFill>
                  <a:srgbClr val="222222"/>
                </a:solidFill>
                <a:latin typeface="Calibri"/>
              </a:rPr>
              <a:t>the instruction in a random voice · 2.75 s</a:t>
            </a:r>
            <a:endParaRPr sz="1050" b="0" i="0">
              <a:solidFill>
                <a:srgbClr val="222222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sz="1050" b="1" i="0">
                <a:solidFill>
                  <a:srgbClr val="35577A"/>
                </a:solidFill>
                <a:latin typeface="Calibri"/>
              </a:rPr>
              <a:t>Agent  </a:t>
            </a:r>
            <a:r>
              <a:rPr sz="1050" b="0" i="0">
                <a:solidFill>
                  <a:srgbClr val="222222"/>
                </a:solidFill>
                <a:latin typeface="Calibri"/>
              </a:rPr>
              <a:t>stays silent; the plan is never spoken</a:t>
            </a:r>
            <a:endParaRPr sz="1050" b="0" i="0">
              <a:solidFill>
                <a:srgbClr val="222222"/>
              </a:solidFill>
              <a:latin typeface="Calibri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6949758" y="2880360"/>
            <a:ext cx="182880" cy="0"/>
          </a:xfrm>
          <a:prstGeom prst="line">
            <a:avLst/>
          </a:prstGeom>
          <a:ln w="19050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7178358" y="1417320"/>
            <a:ext cx="274320" cy="27432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516685" y="1399032"/>
            <a:ext cx="2011680" cy="2273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Faces &amp; bodies</a:t>
            </a:r>
            <a:endParaRPr sz="1250" b="1" i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78358" y="1691640"/>
            <a:ext cx="2011680" cy="1816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Calibri"/>
              </a:rPr>
              <a:t>a motion model draws</a:t>
            </a:r>
            <a:endParaRPr sz="9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178358" y="2011680"/>
            <a:ext cx="2011680" cy="2148840"/>
          </a:xfrm>
          <a:prstGeom prst="roundRect">
            <a:avLst>
              <a:gd name="adj" fmla="val 5000"/>
            </a:avLst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69797" y="2103120"/>
            <a:ext cx="1828800" cy="12687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50" b="1" i="0">
                <a:solidFill>
                  <a:srgbClr val="8E3B46"/>
                </a:solidFill>
                <a:latin typeface="Calibri"/>
              </a:rPr>
              <a:t>Both people  </a:t>
            </a:r>
            <a:r>
              <a:rPr sz="1050" b="0" i="0">
                <a:solidFill>
                  <a:srgbClr val="222222"/>
                </a:solidFill>
                <a:latin typeface="Calibri"/>
              </a:rPr>
              <a:t>drawn from the audio: user talks, agent listens</a:t>
            </a:r>
            <a:endParaRPr sz="1050" b="0" i="0">
              <a:solidFill>
                <a:srgbClr val="222222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sz="1050" b="1" i="0">
                <a:solidFill>
                  <a:srgbClr val="8E3B46"/>
                </a:solidFill>
                <a:latin typeface="Calibri"/>
              </a:rPr>
              <a:t>The move  </a:t>
            </a:r>
            <a:r>
              <a:rPr sz="1050" b="0" i="0">
                <a:solidFill>
                  <a:srgbClr val="222222"/>
                </a:solidFill>
                <a:latin typeface="Calibri"/>
              </a:rPr>
              <a:t>agent's body replaced by the real clip, frame-exact — turned upright, put on the ground</a:t>
            </a:r>
            <a:endParaRPr sz="1050" b="0" i="0">
              <a:solidFill>
                <a:srgbClr val="222222"/>
              </a:solidFill>
              <a:latin typeface="Calibri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9235758" y="2880360"/>
            <a:ext cx="182879" cy="0"/>
          </a:xfrm>
          <a:prstGeom prst="line">
            <a:avLst/>
          </a:prstGeom>
          <a:ln w="19050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9464358" y="1417320"/>
            <a:ext cx="274320" cy="274320"/>
          </a:xfrm>
          <a:prstGeom prst="ellipse">
            <a:avLst/>
          </a:prstGeom>
          <a:solidFill>
            <a:srgbClr val="3F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802685" y="1399032"/>
            <a:ext cx="2286000" cy="2273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1" i="0">
                <a:solidFill>
                  <a:srgbClr val="3F7A4F"/>
                </a:solidFill>
                <a:latin typeface="Calibri"/>
              </a:rPr>
              <a:t>The dialogue</a:t>
            </a:r>
            <a:endParaRPr sz="1250" b="1" i="0">
              <a:solidFill>
                <a:srgbClr val="3F7A4F"/>
              </a:solidFill>
              <a:latin typeface="Calibri"/>
            </a:endParaRPr>
          </a:p>
        </p:txBody>
      </p:sp>
      <p:pic>
        <p:nvPicPr>
          <p:cNvPr id="34" name="dialogue_example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468620" y="1783080"/>
            <a:ext cx="2231755" cy="292608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464358" y="4727448"/>
            <a:ext cx="2240280" cy="3124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00" b="0" i="1">
                <a:solidFill>
                  <a:srgbClr val="595959"/>
                </a:solidFill>
                <a:latin typeface="Calibri"/>
              </a:rPr>
              <a:t>left user · right agent  ·  ▶ plays in PowerPoint</a:t>
            </a:r>
            <a:endParaRPr sz="900" b="0" i="1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11798" y="4800600"/>
            <a:ext cx="7315200" cy="2273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The 7.5 s timeline, to scale</a:t>
            </a:r>
            <a:endParaRPr sz="1250" b="1" i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11798" y="5257800"/>
            <a:ext cx="4191000" cy="347472"/>
          </a:xfrm>
          <a:prstGeom prst="rect">
            <a:avLst/>
          </a:prstGeom>
          <a:solidFill>
            <a:srgbClr val="355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798" y="5329301"/>
            <a:ext cx="4191000" cy="20447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user asks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602798" y="5257800"/>
            <a:ext cx="198119" cy="347472"/>
          </a:xfrm>
          <a:prstGeom prst="rect">
            <a:avLst/>
          </a:prstGeom>
          <a:solidFill>
            <a:srgbClr val="F4F4F4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800918" y="5257800"/>
            <a:ext cx="609600" cy="347472"/>
          </a:xfrm>
          <a:prstGeom prst="rect">
            <a:avLst/>
          </a:prstGeom>
          <a:solidFill>
            <a:srgbClr val="9C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40998" y="5257800"/>
            <a:ext cx="655320" cy="347472"/>
          </a:xfrm>
          <a:prstGeom prst="rect">
            <a:avLst/>
          </a:prstGeom>
          <a:solidFill>
            <a:srgbClr val="F5EDEE"/>
          </a:solidFill>
          <a:ln w="9525">
            <a:solidFill>
              <a:srgbClr val="8E3B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96318" y="5257800"/>
            <a:ext cx="5699760" cy="347472"/>
          </a:xfrm>
          <a:prstGeom prst="rect">
            <a:avLst/>
          </a:prstGeom>
          <a:solidFill>
            <a:srgbClr val="8E3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6318" y="5329301"/>
            <a:ext cx="5699760" cy="20447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the real clip, frame-exact</a:t>
            </a:r>
            <a:endParaRPr sz="11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551238" y="5641848"/>
            <a:ext cx="1005840" cy="1816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50" b="0" i="0">
                <a:solidFill>
                  <a:srgbClr val="595959"/>
                </a:solidFill>
                <a:latin typeface="Calibri"/>
              </a:rPr>
              <a:t>pause</a:t>
            </a:r>
            <a:endParaRPr sz="9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618038" y="5641848"/>
            <a:ext cx="914400" cy="1816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 b="1" i="0">
                <a:solidFill>
                  <a:srgbClr val="9C7A2B"/>
                </a:solidFill>
                <a:latin typeface="Calibri"/>
              </a:rPr>
              <a:t>plan 0.4 s</a:t>
            </a:r>
            <a:endParaRPr sz="950" b="1" i="0">
              <a:solidFill>
                <a:srgbClr val="9C7A2B"/>
              </a:solidFill>
              <a:latin typeface="Calibri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532438" y="4983480"/>
            <a:ext cx="1463040" cy="1816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 b="1" i="0">
                <a:solidFill>
                  <a:srgbClr val="8E3B46"/>
                </a:solidFill>
                <a:latin typeface="Calibri"/>
              </a:rPr>
              <a:t>bridge 0.4 s</a:t>
            </a:r>
            <a:endParaRPr sz="950" b="1" i="0">
              <a:solidFill>
                <a:srgbClr val="8E3B46"/>
              </a:solidFill>
              <a:latin typeface="Calibr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28918" y="5861304"/>
            <a:ext cx="365760" cy="16573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50" b="0" i="0">
                <a:solidFill>
                  <a:srgbClr val="8C8C8C"/>
                </a:solidFill>
                <a:latin typeface="Calibri"/>
              </a:rPr>
              <a:t>0 s</a:t>
            </a:r>
            <a:endParaRPr sz="850" b="0" i="0">
              <a:solidFill>
                <a:srgbClr val="8C8C8C"/>
              </a:solidFill>
              <a:latin typeface="Calibr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752918" y="5861304"/>
            <a:ext cx="365760" cy="16573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50" b="0" i="0">
                <a:solidFill>
                  <a:srgbClr val="8C8C8C"/>
                </a:solidFill>
                <a:latin typeface="Calibri"/>
              </a:rPr>
              <a:t>1 s</a:t>
            </a:r>
            <a:endParaRPr sz="850" b="0" i="0">
              <a:solidFill>
                <a:srgbClr val="8C8C8C"/>
              </a:solidFill>
              <a:latin typeface="Calibri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276918" y="5861304"/>
            <a:ext cx="365760" cy="16573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50" b="0" i="0">
                <a:solidFill>
                  <a:srgbClr val="8C8C8C"/>
                </a:solidFill>
                <a:latin typeface="Calibri"/>
              </a:rPr>
              <a:t>2 s</a:t>
            </a:r>
            <a:endParaRPr sz="850" b="0" i="0">
              <a:solidFill>
                <a:srgbClr val="8C8C8C"/>
              </a:solidFill>
              <a:latin typeface="Calibri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800918" y="5861304"/>
            <a:ext cx="365760" cy="16573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50" b="0" i="0">
                <a:solidFill>
                  <a:srgbClr val="8C8C8C"/>
                </a:solidFill>
                <a:latin typeface="Calibri"/>
              </a:rPr>
              <a:t>3 s</a:t>
            </a:r>
            <a:endParaRPr sz="850" b="0" i="0">
              <a:solidFill>
                <a:srgbClr val="8C8C8C"/>
              </a:solidFill>
              <a:latin typeface="Calibr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324918" y="5861304"/>
            <a:ext cx="365760" cy="16573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50" b="0" i="0">
                <a:solidFill>
                  <a:srgbClr val="8C8C8C"/>
                </a:solidFill>
                <a:latin typeface="Calibri"/>
              </a:rPr>
              <a:t>4 s</a:t>
            </a:r>
            <a:endParaRPr sz="850" b="0" i="0">
              <a:solidFill>
                <a:srgbClr val="8C8C8C"/>
              </a:solidFill>
              <a:latin typeface="Calibri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848918" y="5861304"/>
            <a:ext cx="365760" cy="16573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50" b="0" i="0">
                <a:solidFill>
                  <a:srgbClr val="8C8C8C"/>
                </a:solidFill>
                <a:latin typeface="Calibri"/>
              </a:rPr>
              <a:t>5 s</a:t>
            </a:r>
            <a:endParaRPr sz="850" b="0" i="0">
              <a:solidFill>
                <a:srgbClr val="8C8C8C"/>
              </a:solidFill>
              <a:latin typeface="Calibri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372918" y="5861304"/>
            <a:ext cx="365760" cy="16573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50" b="0" i="0">
                <a:solidFill>
                  <a:srgbClr val="8C8C8C"/>
                </a:solidFill>
                <a:latin typeface="Calibri"/>
              </a:rPr>
              <a:t>6 s</a:t>
            </a:r>
            <a:endParaRPr sz="850" b="0" i="0">
              <a:solidFill>
                <a:srgbClr val="8C8C8C"/>
              </a:solidFill>
              <a:latin typeface="Calibri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0896918" y="5861304"/>
            <a:ext cx="365760" cy="16573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50" b="0" i="0">
                <a:solidFill>
                  <a:srgbClr val="8C8C8C"/>
                </a:solidFill>
                <a:latin typeface="Calibri"/>
              </a:rPr>
              <a:t>7 s</a:t>
            </a:r>
            <a:endParaRPr sz="850" b="0" i="0">
              <a:solidFill>
                <a:srgbClr val="8C8C8C"/>
              </a:solidFill>
              <a:latin typeface="Calibri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11798" y="6144768"/>
            <a:ext cx="11384280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F3A5F"/>
                </a:solidFill>
                <a:latin typeface="Calibri"/>
              </a:rPr>
              <a:t>Trains on  </a:t>
            </a:r>
            <a:r>
              <a:rPr sz="1000" b="0" i="0">
                <a:solidFill>
                  <a:srgbClr val="595959"/>
                </a:solidFill>
                <a:latin typeface="Calibri"/>
              </a:rPr>
              <a:t>voice tokens 12.5 Hz  ·  plan tokens  ·  per person: body codes 46 × 48 and face codes 46 × 16 (6.25 Hz)</a:t>
            </a:r>
            <a:endParaRPr sz="1000" b="0" i="0">
              <a:solidFill>
                <a:srgbClr val="595959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34"/>
                </p:tgtEl>
              </p:cMediaNode>
            </p:video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09600" y="152401"/>
            <a:ext cx="9906000" cy="685793"/>
          </a:xfrm>
          <a:prstGeom prst="rect">
            <a:avLst/>
          </a:prstGeom>
          <a:noFill/>
        </p:spPr>
        <p:txBody>
          <a:bodyPr wrap="square" lIns="91440" tIns="45720" rIns="91440" bIns="45720" anchor="b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+mj-lt"/>
                <a:ea typeface="+mj-ea"/>
              </a:rPr>
              <a:t>Training: learn each skill alone, then join, then merge</a:t>
            </a:r>
            <a:endParaRPr sz="2800" b="0">
              <a:solidFill>
                <a:srgbClr val="000000"/>
              </a:solidFill>
              <a:latin typeface="+mj-lt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64464" y="950000"/>
            <a:ext cx="11131614" cy="266065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  <a:latin typeface="Calibri"/>
              </a:rPr>
              <a:t>Modules first (cheap, easy to measure), on top of the same frozen 7B — the end-to-end merge comes last</a:t>
            </a:r>
            <a:endParaRPr sz="15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11798" y="1353312"/>
            <a:ext cx="11384280" cy="402336"/>
          </a:xfrm>
          <a:prstGeom prst="roundRect">
            <a:avLst>
              <a:gd name="adj" fmla="val 10000"/>
            </a:avLst>
          </a:prstGeom>
          <a:solidFill>
            <a:srgbClr val="F1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958" y="1440815"/>
            <a:ext cx="11155680" cy="2273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50" b="1" i="0">
                <a:solidFill>
                  <a:srgbClr val="667A35"/>
                </a:solidFill>
                <a:latin typeface="Calibri"/>
              </a:rPr>
              <a:t>0  Motion VAEs  </a:t>
            </a:r>
            <a:r>
              <a:rPr sz="1100" b="0" i="0">
                <a:solidFill>
                  <a:srgbClr val="222222"/>
                </a:solidFill>
                <a:latin typeface="Calibri"/>
              </a:rPr>
              <a:t>body 48-d + face 16-d per 160 ms  ·  trained first, then frozen  ·  </a:t>
            </a:r>
            <a:r>
              <a:rPr sz="1100" b="1" i="0">
                <a:solidFill>
                  <a:srgbClr val="3F7A4F"/>
                </a:solidFill>
                <a:latin typeface="Calibri"/>
              </a:rPr>
              <a:t>done</a:t>
            </a:r>
            <a:endParaRPr sz="1100" b="1" i="0">
              <a:solidFill>
                <a:srgbClr val="3F7A4F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11798" y="5943600"/>
            <a:ext cx="11384280" cy="365760"/>
          </a:xfrm>
          <a:prstGeom prst="roundRect">
            <a:avLst>
              <a:gd name="adj" fmla="val 10000"/>
            </a:avLst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958" y="6028055"/>
            <a:ext cx="11155680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Calibri"/>
              </a:rPr>
              <a:t>7B speech LM frozen in steps 1–3</a:t>
            </a:r>
            <a:r>
              <a:rPr sz="1050" b="0" i="0">
                <a:solidFill>
                  <a:srgbClr val="595959"/>
                </a:solidFill>
                <a:latin typeface="Calibri"/>
              </a:rPr>
              <a:t>  ⇒ modules train cheaply and the LM keeps its voice  ·  </a:t>
            </a:r>
            <a:r>
              <a:rPr sz="1050" b="0" i="0">
                <a:solidFill>
                  <a:srgbClr val="222222"/>
                </a:solidFill>
                <a:latin typeface="Calibri"/>
              </a:rPr>
              <a:t>today two frozen 7Bs: body reads PersonaPlex, face and understanding read Moshi</a:t>
            </a:r>
            <a:endParaRPr sz="105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411798" y="1938528"/>
            <a:ext cx="329184" cy="329184"/>
          </a:xfrm>
          <a:prstGeom prst="ellipse">
            <a:avLst/>
          </a:prstGeom>
          <a:solidFill>
            <a:srgbClr val="8E3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  <a:endParaRPr sz="13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3278" y="1901952"/>
            <a:ext cx="2651760" cy="25082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 i="0">
                <a:solidFill>
                  <a:srgbClr val="8E3B46"/>
                </a:solidFill>
                <a:latin typeface="Calibri"/>
              </a:rPr>
              <a:t>Generation</a:t>
            </a:r>
            <a:endParaRPr sz="1400" b="1" i="0">
              <a:solidFill>
                <a:srgbClr val="8E3B46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3278" y="2194560"/>
            <a:ext cx="2651760" cy="3276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Calibri"/>
              </a:rPr>
              <a:t>face and body heads train;</a:t>
            </a:r>
            <a:endParaRPr sz="950" b="0" i="0">
              <a:solidFill>
                <a:srgbClr val="595959"/>
              </a:solidFill>
              <a:latin typeface="Calibri"/>
            </a:endParaRPr>
          </a:p>
          <a:p>
            <a:pPr algn="l"/>
            <a:r>
              <a:rPr sz="950" b="0" i="0">
                <a:solidFill>
                  <a:srgbClr val="595959"/>
                </a:solidFill>
                <a:latin typeface="Calibri"/>
              </a:rPr>
              <a:t>everything else frozen</a:t>
            </a:r>
            <a:endParaRPr sz="9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53830" y="2054225"/>
            <a:ext cx="548640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1000" b="1" i="0">
                <a:solidFill>
                  <a:srgbClr val="B0573A"/>
                </a:solidFill>
                <a:latin typeface="Calibri"/>
              </a:rPr>
              <a:t>face</a:t>
            </a:r>
            <a:endParaRPr sz="1000" b="1" i="0">
              <a:solidFill>
                <a:srgbClr val="B0573A"/>
              </a:solidFill>
              <a:latin typeface="Calibri"/>
            </a:endParaRPr>
          </a:p>
        </p:txBody>
      </p:sp>
      <p:sp>
        <p:nvSpPr>
          <p:cNvPr id="17" name="Pentagon 16"/>
          <p:cNvSpPr/>
          <p:nvPr/>
        </p:nvSpPr>
        <p:spPr>
          <a:xfrm>
            <a:off x="3520758" y="1920240"/>
            <a:ext cx="2775204" cy="457200"/>
          </a:xfrm>
          <a:prstGeom prst="homePlate">
            <a:avLst>
              <a:gd name="adj" fmla="val 32000"/>
            </a:avLst>
          </a:prstGeom>
          <a:solidFill>
            <a:srgbClr val="EAF0EC"/>
          </a:solidFill>
          <a:ln w="12700">
            <a:solidFill>
              <a:srgbClr val="3F7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tIns="27432" rIns="155448" bIns="27432" rtlCol="0" anchor="ctr"/>
          <a:lstStyle/>
          <a:p>
            <a:pPr algn="ctr"/>
            <a:r>
              <a:rPr sz="1050" b="1" i="0">
                <a:solidFill>
                  <a:srgbClr val="3F7A4F"/>
                </a:solidFill>
                <a:latin typeface="Calibri"/>
              </a:rPr>
              <a:t>Speech → face</a:t>
            </a:r>
            <a:endParaRPr sz="1050" b="1" i="0">
              <a:solidFill>
                <a:srgbClr val="3F7A4F"/>
              </a:solidFill>
              <a:latin typeface="Calibri"/>
            </a:endParaRPr>
          </a:p>
          <a:p>
            <a:pPr algn="ctr"/>
            <a:r>
              <a:rPr sz="850" b="0" i="0">
                <a:solidFill>
                  <a:srgbClr val="595959"/>
                </a:solidFill>
                <a:latin typeface="Calibri"/>
              </a:rPr>
              <a:t>conversation</a:t>
            </a:r>
            <a:endParaRPr sz="8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8" name="Chevron 17"/>
          <p:cNvSpPr/>
          <p:nvPr/>
        </p:nvSpPr>
        <p:spPr>
          <a:xfrm>
            <a:off x="6186234" y="1920240"/>
            <a:ext cx="2775204" cy="457200"/>
          </a:xfrm>
          <a:prstGeom prst="chevron">
            <a:avLst>
              <a:gd name="adj" fmla="val 32000"/>
            </a:avLst>
          </a:prstGeom>
          <a:solidFill>
            <a:srgbClr val="F6EFE4"/>
          </a:solidFill>
          <a:ln w="12700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3736" tIns="27432" rIns="155448" bIns="27432" rtlCol="0" anchor="ctr"/>
          <a:lstStyle/>
          <a:p>
            <a:pPr algn="ctr"/>
            <a:r>
              <a:rPr sz="1050" b="1" i="0">
                <a:solidFill>
                  <a:srgbClr val="B7791F"/>
                </a:solidFill>
                <a:latin typeface="Calibri"/>
              </a:rPr>
              <a:t>+ face from instruction</a:t>
            </a:r>
            <a:endParaRPr sz="1050" b="1" i="0">
              <a:solidFill>
                <a:srgbClr val="B7791F"/>
              </a:solidFill>
              <a:latin typeface="Calibri"/>
            </a:endParaRPr>
          </a:p>
          <a:p>
            <a:pPr algn="ctr"/>
            <a:r>
              <a:rPr sz="850" b="0" i="0">
                <a:solidFill>
                  <a:srgbClr val="595959"/>
                </a:solidFill>
                <a:latin typeface="Calibri"/>
              </a:rPr>
              <a:t>1 : 1 mix</a:t>
            </a:r>
            <a:endParaRPr sz="8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53830" y="2621153"/>
            <a:ext cx="548640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1000" b="1" i="0">
                <a:solidFill>
                  <a:srgbClr val="3D7068"/>
                </a:solidFill>
                <a:latin typeface="Calibri"/>
              </a:rPr>
              <a:t>body</a:t>
            </a:r>
            <a:endParaRPr sz="1000" b="1" i="0">
              <a:solidFill>
                <a:srgbClr val="3D7068"/>
              </a:solidFill>
              <a:latin typeface="Calibri"/>
            </a:endParaRPr>
          </a:p>
        </p:txBody>
      </p:sp>
      <p:sp>
        <p:nvSpPr>
          <p:cNvPr id="20" name="Pentagon 19"/>
          <p:cNvSpPr/>
          <p:nvPr/>
        </p:nvSpPr>
        <p:spPr>
          <a:xfrm>
            <a:off x="3520758" y="2487168"/>
            <a:ext cx="1442466" cy="457200"/>
          </a:xfrm>
          <a:prstGeom prst="homePlate">
            <a:avLst>
              <a:gd name="adj" fmla="val 32000"/>
            </a:avLst>
          </a:prstGeom>
          <a:solidFill>
            <a:srgbClr val="EAF0EC"/>
          </a:solidFill>
          <a:ln w="12700">
            <a:solidFill>
              <a:srgbClr val="3F7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tIns="27432" rIns="155448" bIns="27432" rtlCol="0" anchor="ctr"/>
          <a:lstStyle/>
          <a:p>
            <a:pPr algn="ctr"/>
            <a:r>
              <a:rPr sz="1050" b="1" i="0">
                <a:solidFill>
                  <a:srgbClr val="3F7A4F"/>
                </a:solidFill>
                <a:latin typeface="Calibri"/>
              </a:rPr>
              <a:t>Clean captions</a:t>
            </a:r>
            <a:endParaRPr sz="1050" b="1" i="0">
              <a:solidFill>
                <a:srgbClr val="3F7A4F"/>
              </a:solidFill>
              <a:latin typeface="Calibri"/>
            </a:endParaRPr>
          </a:p>
        </p:txBody>
      </p:sp>
      <p:sp>
        <p:nvSpPr>
          <p:cNvPr id="21" name="Chevron 20"/>
          <p:cNvSpPr/>
          <p:nvPr/>
        </p:nvSpPr>
        <p:spPr>
          <a:xfrm>
            <a:off x="4853496" y="2487168"/>
            <a:ext cx="1442466" cy="457200"/>
          </a:xfrm>
          <a:prstGeom prst="chevron">
            <a:avLst>
              <a:gd name="adj" fmla="val 32000"/>
            </a:avLst>
          </a:prstGeom>
          <a:solidFill>
            <a:srgbClr val="EAF0EC"/>
          </a:solidFill>
          <a:ln w="12700">
            <a:solidFill>
              <a:srgbClr val="3F7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3736" tIns="27432" rIns="155448" bIns="27432" rtlCol="0" anchor="ctr"/>
          <a:lstStyle/>
          <a:p>
            <a:pPr algn="ctr"/>
            <a:r>
              <a:rPr sz="1050" b="1" i="0">
                <a:solidFill>
                  <a:srgbClr val="3F7A4F"/>
                </a:solidFill>
                <a:latin typeface="Calibri"/>
              </a:rPr>
              <a:t>4 motion sources</a:t>
            </a:r>
            <a:endParaRPr sz="1050" b="1" i="0">
              <a:solidFill>
                <a:srgbClr val="3F7A4F"/>
              </a:solidFill>
              <a:latin typeface="Calibri"/>
            </a:endParaRPr>
          </a:p>
        </p:txBody>
      </p:sp>
      <p:sp>
        <p:nvSpPr>
          <p:cNvPr id="22" name="Chevron 21"/>
          <p:cNvSpPr/>
          <p:nvPr/>
        </p:nvSpPr>
        <p:spPr>
          <a:xfrm>
            <a:off x="6186234" y="2487168"/>
            <a:ext cx="1442466" cy="457200"/>
          </a:xfrm>
          <a:prstGeom prst="chevron">
            <a:avLst>
              <a:gd name="adj" fmla="val 32000"/>
            </a:avLst>
          </a:prstGeom>
          <a:solidFill>
            <a:srgbClr val="EAF0EC"/>
          </a:solidFill>
          <a:ln w="12700">
            <a:solidFill>
              <a:srgbClr val="3F7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3736" tIns="27432" rIns="155448" bIns="27432" rtlCol="0" anchor="ctr"/>
          <a:lstStyle/>
          <a:p>
            <a:pPr algn="ctr"/>
            <a:r>
              <a:rPr sz="1050" b="1" i="0">
                <a:solidFill>
                  <a:srgbClr val="3F7A4F"/>
                </a:solidFill>
                <a:latin typeface="Calibri"/>
              </a:rPr>
              <a:t>+ own past motion</a:t>
            </a:r>
            <a:endParaRPr sz="1050" b="1" i="0">
              <a:solidFill>
                <a:srgbClr val="3F7A4F"/>
              </a:solidFill>
              <a:latin typeface="Calibri"/>
            </a:endParaRPr>
          </a:p>
        </p:txBody>
      </p:sp>
      <p:sp>
        <p:nvSpPr>
          <p:cNvPr id="23" name="Chevron 22"/>
          <p:cNvSpPr/>
          <p:nvPr/>
        </p:nvSpPr>
        <p:spPr>
          <a:xfrm>
            <a:off x="7518972" y="2487168"/>
            <a:ext cx="1442466" cy="457200"/>
          </a:xfrm>
          <a:prstGeom prst="chevron">
            <a:avLst>
              <a:gd name="adj" fmla="val 32000"/>
            </a:avLst>
          </a:prstGeom>
          <a:solidFill>
            <a:srgbClr val="EAF0EC"/>
          </a:solidFill>
          <a:ln w="12700">
            <a:solidFill>
              <a:srgbClr val="3F7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3736" tIns="27432" rIns="155448" bIns="27432" rtlCol="0" anchor="ctr"/>
          <a:lstStyle/>
          <a:p>
            <a:pPr algn="ctr"/>
            <a:r>
              <a:rPr sz="1050" b="1" i="0">
                <a:solidFill>
                  <a:srgbClr val="3F7A4F"/>
                </a:solidFill>
                <a:latin typeface="Calibri"/>
              </a:rPr>
              <a:t>+ conversation</a:t>
            </a:r>
            <a:endParaRPr sz="1050" b="1" i="0">
              <a:solidFill>
                <a:srgbClr val="3F7A4F"/>
              </a:solidFill>
              <a:latin typeface="Calibri"/>
            </a:endParaRPr>
          </a:p>
          <a:p>
            <a:pPr algn="ctr"/>
            <a:r>
              <a:rPr sz="850" b="0" i="0">
                <a:solidFill>
                  <a:srgbClr val="595959"/>
                </a:solidFill>
                <a:latin typeface="Calibri"/>
              </a:rPr>
              <a:t>2 : 1</a:t>
            </a:r>
            <a:endParaRPr sz="8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144318" y="1929384"/>
            <a:ext cx="1417320" cy="2560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algn="ctr"/>
            <a:r>
              <a:rPr sz="950" b="1" i="0">
                <a:solidFill>
                  <a:srgbClr val="B7791F"/>
                </a:solidFill>
                <a:latin typeface="Calibri"/>
              </a:rPr>
              <a:t>face: eval running</a:t>
            </a:r>
            <a:endParaRPr sz="950" b="1" i="0">
              <a:solidFill>
                <a:srgbClr val="B7791F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144318" y="2231136"/>
            <a:ext cx="2651760" cy="1816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endParaRPr sz="9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144318" y="2496312"/>
            <a:ext cx="1417320" cy="2560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3F7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algn="ctr"/>
            <a:r>
              <a:rPr sz="950" b="1" i="0">
                <a:solidFill>
                  <a:srgbClr val="3F7A4F"/>
                </a:solidFill>
                <a:latin typeface="Calibri"/>
              </a:rPr>
              <a:t>body: done</a:t>
            </a:r>
            <a:endParaRPr sz="950" b="1" i="0">
              <a:solidFill>
                <a:srgbClr val="3F7A4F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144318" y="2798064"/>
            <a:ext cx="2651760" cy="1816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Calibri"/>
              </a:rPr>
              <a:t>rerun on the new VAE at step 3 → 4</a:t>
            </a:r>
            <a:endParaRPr sz="9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11798" y="3081528"/>
            <a:ext cx="11384280" cy="914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11798" y="3218688"/>
            <a:ext cx="329184" cy="329184"/>
          </a:xfrm>
          <a:prstGeom prst="ellipse">
            <a:avLst/>
          </a:prstGeom>
          <a:solidFill>
            <a:srgbClr val="6A5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  <a:endParaRPr sz="13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3278" y="3182112"/>
            <a:ext cx="2651760" cy="25082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 i="0">
                <a:solidFill>
                  <a:srgbClr val="6A5D7B"/>
                </a:solidFill>
                <a:latin typeface="Calibri"/>
              </a:rPr>
              <a:t>Understanding</a:t>
            </a:r>
            <a:endParaRPr sz="1400" b="1" i="0">
              <a:solidFill>
                <a:srgbClr val="6A5D7B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23278" y="3474720"/>
            <a:ext cx="2651760" cy="3276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Calibri"/>
              </a:rPr>
              <a:t>only the user encoder trains;</a:t>
            </a:r>
            <a:endParaRPr sz="950" b="0" i="0">
              <a:solidFill>
                <a:srgbClr val="595959"/>
              </a:solidFill>
              <a:latin typeface="Calibri"/>
            </a:endParaRPr>
          </a:p>
          <a:p>
            <a:pPr algn="l"/>
            <a:r>
              <a:rPr sz="950" b="0" i="0">
                <a:solidFill>
                  <a:srgbClr val="595959"/>
                </a:solidFill>
                <a:latin typeface="Calibri"/>
              </a:rPr>
              <a:t>text loss only</a:t>
            </a:r>
            <a:endParaRPr sz="9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32" name="Pentagon 31"/>
          <p:cNvSpPr/>
          <p:nvPr/>
        </p:nvSpPr>
        <p:spPr>
          <a:xfrm>
            <a:off x="3520758" y="3200400"/>
            <a:ext cx="2775204" cy="457200"/>
          </a:xfrm>
          <a:prstGeom prst="homePlate">
            <a:avLst>
              <a:gd name="adj" fmla="val 32000"/>
            </a:avLst>
          </a:prstGeom>
          <a:solidFill>
            <a:srgbClr val="EAF0EC"/>
          </a:solidFill>
          <a:ln w="12700">
            <a:solidFill>
              <a:srgbClr val="3F7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tIns="27432" rIns="155448" bIns="27432" rtlCol="0" anchor="ctr"/>
          <a:lstStyle/>
          <a:p>
            <a:pPr algn="ctr"/>
            <a:r>
              <a:rPr sz="1050" b="1" i="0">
                <a:solidFill>
                  <a:srgbClr val="3F7A4F"/>
                </a:solidFill>
                <a:latin typeface="Calibri"/>
              </a:rPr>
              <a:t>Body motion → text</a:t>
            </a:r>
            <a:endParaRPr sz="1050" b="1" i="0">
              <a:solidFill>
                <a:srgbClr val="3F7A4F"/>
              </a:solidFill>
              <a:latin typeface="Calibri"/>
            </a:endParaRPr>
          </a:p>
        </p:txBody>
      </p:sp>
      <p:sp>
        <p:nvSpPr>
          <p:cNvPr id="33" name="Chevron 32"/>
          <p:cNvSpPr/>
          <p:nvPr/>
        </p:nvSpPr>
        <p:spPr>
          <a:xfrm>
            <a:off x="6186234" y="3200400"/>
            <a:ext cx="2775204" cy="457200"/>
          </a:xfrm>
          <a:prstGeom prst="chevron">
            <a:avLst>
              <a:gd name="adj" fmla="val 32000"/>
            </a:avLst>
          </a:prstGeom>
          <a:solidFill>
            <a:srgbClr val="EAF0EC"/>
          </a:solidFill>
          <a:ln w="12700">
            <a:solidFill>
              <a:srgbClr val="3F7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3736" tIns="27432" rIns="155448" bIns="27432" rtlCol="0" anchor="ctr"/>
          <a:lstStyle/>
          <a:p>
            <a:pPr algn="ctr"/>
            <a:r>
              <a:rPr sz="1050" b="1" i="0">
                <a:solidFill>
                  <a:srgbClr val="3F7A4F"/>
                </a:solidFill>
                <a:latin typeface="Calibri"/>
              </a:rPr>
              <a:t>+ face</a:t>
            </a:r>
            <a:endParaRPr sz="1050" b="1" i="0">
              <a:solidFill>
                <a:srgbClr val="3F7A4F"/>
              </a:solidFill>
              <a:latin typeface="Calibri"/>
            </a:endParaRPr>
          </a:p>
          <a:p>
            <a:pPr algn="ctr"/>
            <a:r>
              <a:rPr sz="850" b="0" i="0">
                <a:solidFill>
                  <a:srgbClr val="595959"/>
                </a:solidFill>
                <a:latin typeface="Calibri"/>
              </a:rPr>
              <a:t>1 : 1 mix</a:t>
            </a:r>
            <a:endParaRPr sz="8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144318" y="3227832"/>
            <a:ext cx="1417320" cy="2560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3F7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algn="ctr"/>
            <a:r>
              <a:rPr sz="950" b="1" i="0">
                <a:solidFill>
                  <a:srgbClr val="3F7A4F"/>
                </a:solidFill>
                <a:latin typeface="Calibri"/>
              </a:rPr>
              <a:t>done</a:t>
            </a:r>
            <a:endParaRPr sz="950" b="1" i="0">
              <a:solidFill>
                <a:srgbClr val="3F7A4F"/>
              </a:solidFill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144318" y="3529584"/>
            <a:ext cx="2651760" cy="3276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Calibri"/>
              </a:rPr>
              <a:t>the LM can already talk; it only has to learn to see</a:t>
            </a:r>
            <a:endParaRPr sz="9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11798" y="3922776"/>
            <a:ext cx="11384280" cy="914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11798" y="4059935"/>
            <a:ext cx="329184" cy="329184"/>
          </a:xfrm>
          <a:prstGeom prst="ellipse">
            <a:avLst/>
          </a:prstGeom>
          <a:solidFill>
            <a:srgbClr val="8E3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  <a:endParaRPr sz="13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23278" y="4023360"/>
            <a:ext cx="2651760" cy="25082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 i="0">
                <a:solidFill>
                  <a:srgbClr val="8E3B46"/>
                </a:solidFill>
                <a:latin typeface="Calibri"/>
              </a:rPr>
              <a:t>Joint face + body</a:t>
            </a:r>
            <a:endParaRPr sz="1400" b="1" i="0">
              <a:solidFill>
                <a:srgbClr val="8E3B46"/>
              </a:solidFill>
              <a:latin typeface="Calibr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23278" y="4315968"/>
            <a:ext cx="2651760" cy="3276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Calibri"/>
              </a:rPr>
              <a:t>links between the two heads;</a:t>
            </a:r>
            <a:endParaRPr sz="950" b="0" i="0">
              <a:solidFill>
                <a:srgbClr val="595959"/>
              </a:solidFill>
              <a:latin typeface="Calibri"/>
            </a:endParaRPr>
          </a:p>
          <a:p>
            <a:pPr algn="l"/>
            <a:r>
              <a:rPr sz="950" b="0" i="0">
                <a:solidFill>
                  <a:srgbClr val="595959"/>
                </a:solidFill>
                <a:latin typeface="Calibri"/>
              </a:rPr>
              <a:t>branches frozen, then unfrozen</a:t>
            </a:r>
            <a:endParaRPr sz="9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40" name="Pentagon 39"/>
          <p:cNvSpPr/>
          <p:nvPr/>
        </p:nvSpPr>
        <p:spPr>
          <a:xfrm>
            <a:off x="3520758" y="4041648"/>
            <a:ext cx="1886712" cy="457200"/>
          </a:xfrm>
          <a:prstGeom prst="homePlate">
            <a:avLst>
              <a:gd name="adj" fmla="val 32000"/>
            </a:avLst>
          </a:prstGeom>
          <a:solidFill>
            <a:srgbClr val="EAF0EC"/>
          </a:solidFill>
          <a:ln w="12700">
            <a:solidFill>
              <a:srgbClr val="3F7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tIns="27432" rIns="155448" bIns="27432" rtlCol="0" anchor="ctr"/>
          <a:lstStyle/>
          <a:p>
            <a:pPr algn="ctr"/>
            <a:r>
              <a:rPr sz="1050" b="1" i="0">
                <a:solidFill>
                  <a:srgbClr val="3F7A4F"/>
                </a:solidFill>
                <a:latin typeface="Calibri"/>
              </a:rPr>
              <a:t>Face model + body model</a:t>
            </a:r>
            <a:endParaRPr sz="1050" b="1" i="0">
              <a:solidFill>
                <a:srgbClr val="3F7A4F"/>
              </a:solidFill>
              <a:latin typeface="Calibri"/>
            </a:endParaRPr>
          </a:p>
          <a:p>
            <a:pPr algn="ctr"/>
            <a:r>
              <a:rPr sz="850" b="0" i="0">
                <a:solidFill>
                  <a:srgbClr val="595959"/>
                </a:solidFill>
                <a:latin typeface="Calibri"/>
              </a:rPr>
              <a:t>from step 1</a:t>
            </a:r>
            <a:endParaRPr sz="8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41" name="Chevron 40"/>
          <p:cNvSpPr/>
          <p:nvPr/>
        </p:nvSpPr>
        <p:spPr>
          <a:xfrm>
            <a:off x="5297742" y="4041648"/>
            <a:ext cx="1886712" cy="457200"/>
          </a:xfrm>
          <a:prstGeom prst="chevron">
            <a:avLst>
              <a:gd name="adj" fmla="val 32000"/>
            </a:avLst>
          </a:prstGeom>
          <a:solidFill>
            <a:srgbClr val="F6EFE4"/>
          </a:solidFill>
          <a:ln w="12700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3736" tIns="27432" rIns="155448" bIns="27432" rtlCol="0" anchor="ctr"/>
          <a:lstStyle/>
          <a:p>
            <a:pPr algn="ctr"/>
            <a:r>
              <a:rPr sz="1050" b="1" i="0">
                <a:solidFill>
                  <a:srgbClr val="B7791F"/>
                </a:solidFill>
                <a:latin typeface="Calibri"/>
              </a:rPr>
              <a:t>Links only</a:t>
            </a:r>
            <a:endParaRPr sz="1050" b="1" i="0">
              <a:solidFill>
                <a:srgbClr val="B7791F"/>
              </a:solidFill>
              <a:latin typeface="Calibri"/>
            </a:endParaRPr>
          </a:p>
          <a:p>
            <a:pPr algn="ctr"/>
            <a:r>
              <a:rPr sz="850" b="0" i="0">
                <a:solidFill>
                  <a:srgbClr val="595959"/>
                </a:solidFill>
                <a:latin typeface="Calibri"/>
              </a:rPr>
              <a:t>20k steps</a:t>
            </a:r>
            <a:endParaRPr sz="8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42" name="Chevron 41"/>
          <p:cNvSpPr/>
          <p:nvPr/>
        </p:nvSpPr>
        <p:spPr>
          <a:xfrm>
            <a:off x="7074726" y="4041648"/>
            <a:ext cx="1886712" cy="457200"/>
          </a:xfrm>
          <a:prstGeom prst="chevron">
            <a:avLst>
              <a:gd name="adj" fmla="val 32000"/>
            </a:avLst>
          </a:prstGeom>
          <a:solidFill>
            <a:srgbClr val="F6EFE4"/>
          </a:solidFill>
          <a:ln w="12700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3736" tIns="27432" rIns="155448" bIns="27432" rtlCol="0" anchor="ctr"/>
          <a:lstStyle/>
          <a:p>
            <a:pPr algn="ctr"/>
            <a:r>
              <a:rPr sz="1050" b="1" i="0">
                <a:solidFill>
                  <a:srgbClr val="B7791F"/>
                </a:solidFill>
                <a:latin typeface="Calibri"/>
              </a:rPr>
              <a:t>Unfreeze all</a:t>
            </a:r>
            <a:endParaRPr sz="1050" b="1" i="0">
              <a:solidFill>
                <a:srgbClr val="B7791F"/>
              </a:solidFill>
              <a:latin typeface="Calibri"/>
            </a:endParaRPr>
          </a:p>
          <a:p>
            <a:pPr algn="ctr"/>
            <a:r>
              <a:rPr sz="850" b="0" i="0">
                <a:solidFill>
                  <a:srgbClr val="595959"/>
                </a:solidFill>
                <a:latin typeface="Calibri"/>
              </a:rPr>
              <a:t>100k · low lr</a:t>
            </a:r>
            <a:endParaRPr sz="8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9144318" y="4069080"/>
            <a:ext cx="1417320" cy="2560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algn="ctr"/>
            <a:r>
              <a:rPr sz="950" b="1" i="0">
                <a:solidFill>
                  <a:srgbClr val="B7791F"/>
                </a:solidFill>
                <a:latin typeface="Calibri"/>
              </a:rPr>
              <a:t>running · 5 designs</a:t>
            </a:r>
            <a:endParaRPr sz="950" b="1" i="0">
              <a:solidFill>
                <a:srgbClr val="B7791F"/>
              </a:solidFill>
              <a:latin typeface="Calibr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144318" y="4370832"/>
            <a:ext cx="2651760" cy="3276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Calibri"/>
              </a:rPr>
              <a:t>links start at 0 ⇒ training starts from two working models</a:t>
            </a:r>
            <a:endParaRPr sz="9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411798" y="4764024"/>
            <a:ext cx="11384280" cy="914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11798" y="4901183"/>
            <a:ext cx="329184" cy="329184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  <a:endParaRPr sz="13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23278" y="4864608"/>
            <a:ext cx="2651760" cy="25082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Unified</a:t>
            </a:r>
            <a:endParaRPr sz="1400" b="1" i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23278" y="5157216"/>
            <a:ext cx="2651760" cy="1816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Calibri"/>
              </a:rPr>
              <a:t>all weights train</a:t>
            </a:r>
            <a:endParaRPr sz="9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49" name="Pentagon 48"/>
          <p:cNvSpPr/>
          <p:nvPr/>
        </p:nvSpPr>
        <p:spPr>
          <a:xfrm>
            <a:off x="3520758" y="4882896"/>
            <a:ext cx="2775204" cy="457200"/>
          </a:xfrm>
          <a:prstGeom prst="homePlate">
            <a:avLst>
              <a:gd name="adj" fmla="val 32000"/>
            </a:avLst>
          </a:prstGeom>
          <a:solidFill>
            <a:srgbClr val="F4F4F4"/>
          </a:solidFill>
          <a:ln w="12700">
            <a:solidFill>
              <a:srgbClr val="8C8C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tIns="27432" rIns="155448" bIns="27432" rtlCol="0" anchor="ctr"/>
          <a:lstStyle/>
          <a:p>
            <a:pPr algn="ctr"/>
            <a:r>
              <a:rPr sz="1050" b="1" i="0">
                <a:solidFill>
                  <a:srgbClr val="8C8C8C"/>
                </a:solidFill>
                <a:latin typeface="Calibri"/>
              </a:rPr>
              <a:t>Merge modules</a:t>
            </a:r>
            <a:endParaRPr sz="1050" b="1" i="0">
              <a:solidFill>
                <a:srgbClr val="8C8C8C"/>
              </a:solidFill>
              <a:latin typeface="Calibri"/>
            </a:endParaRPr>
          </a:p>
          <a:p>
            <a:pPr algn="ctr"/>
            <a:r>
              <a:rPr sz="850" b="0" i="0">
                <a:solidFill>
                  <a:srgbClr val="595959"/>
                </a:solidFill>
                <a:latin typeface="Calibri"/>
              </a:rPr>
              <a:t>+ spoken Q&amp;A + full-duplex</a:t>
            </a:r>
            <a:endParaRPr sz="8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50" name="Chevron 49"/>
          <p:cNvSpPr/>
          <p:nvPr/>
        </p:nvSpPr>
        <p:spPr>
          <a:xfrm>
            <a:off x="6186234" y="4882896"/>
            <a:ext cx="2775204" cy="457200"/>
          </a:xfrm>
          <a:prstGeom prst="chevron">
            <a:avLst>
              <a:gd name="adj" fmla="val 32000"/>
            </a:avLst>
          </a:prstGeom>
          <a:solidFill>
            <a:srgbClr val="F4F4F4"/>
          </a:solidFill>
          <a:ln w="12700">
            <a:solidFill>
              <a:srgbClr val="8C8C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3736" tIns="27432" rIns="155448" bIns="27432" rtlCol="0" anchor="ctr"/>
          <a:lstStyle/>
          <a:p>
            <a:pPr algn="ctr"/>
            <a:r>
              <a:rPr sz="1050" b="1" i="0">
                <a:solidFill>
                  <a:srgbClr val="8C8C8C"/>
                </a:solidFill>
                <a:latin typeface="Calibri"/>
              </a:rPr>
              <a:t>End-to-end fine-tune</a:t>
            </a:r>
            <a:endParaRPr sz="1050" b="1" i="0">
              <a:solidFill>
                <a:srgbClr val="8C8C8C"/>
              </a:solidFill>
              <a:latin typeface="Calibri"/>
            </a:endParaRPr>
          </a:p>
          <a:p>
            <a:pPr algn="ctr"/>
            <a:r>
              <a:rPr sz="850" b="0" i="0">
                <a:solidFill>
                  <a:srgbClr val="595959"/>
                </a:solidFill>
                <a:latin typeface="Calibri"/>
              </a:rPr>
              <a:t>full mix</a:t>
            </a:r>
            <a:endParaRPr sz="8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9144318" y="4910328"/>
            <a:ext cx="1417320" cy="2560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algn="ctr"/>
            <a:r>
              <a:rPr sz="950" b="1" i="0">
                <a:solidFill>
                  <a:srgbClr val="8C8C8C"/>
                </a:solidFill>
                <a:latin typeface="Calibri"/>
              </a:rPr>
              <a:t>not started</a:t>
            </a:r>
            <a:endParaRPr sz="950" b="1" i="0">
              <a:solidFill>
                <a:srgbClr val="8C8C8C"/>
              </a:solidFill>
              <a:latin typeface="Calibri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144318" y="5212080"/>
            <a:ext cx="2651760" cy="1816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endParaRPr sz="9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520757" y="5385816"/>
            <a:ext cx="8183879" cy="1816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 b="0" i="1">
                <a:solidFill>
                  <a:srgbClr val="595959"/>
                </a:solidFill>
                <a:latin typeface="Calibri"/>
              </a:rPr>
              <a:t>Demo today = an earlier merge of older modules (no think-first plan, older VAEs, camera off)</a:t>
            </a:r>
            <a:endParaRPr sz="950" b="0" i="1">
              <a:solidFill>
                <a:srgbClr val="595959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14" grpId="0" animBg="1"/>
      <p:bldP spid="15" grpId="0" animBg="1"/>
      <p:bldP spid="16" grpId="0" animBg="1"/>
      <p:bldP spid="17" grpId="0" bldLvl="0" animBg="1"/>
      <p:bldP spid="18" grpId="0" bldLvl="0" animBg="1"/>
      <p:bldP spid="19" grpId="0" animBg="1"/>
      <p:bldP spid="20" grpId="0" bldLvl="0" animBg="1"/>
      <p:bldP spid="21" grpId="0" bldLvl="0" animBg="1"/>
      <p:bldP spid="22" grpId="0" bldLvl="0" animBg="1"/>
      <p:bldP spid="23" grpId="0" bldLvl="0" animBg="1"/>
      <p:bldP spid="24" grpId="0" bldLvl="0" animBg="1"/>
      <p:bldP spid="25" grpId="0" animBg="1"/>
      <p:bldP spid="26" grpId="0" bldLvl="0" animBg="1"/>
      <p:bldP spid="27" grpId="0" animBg="1"/>
      <p:bldP spid="28" grpId="0" bldLvl="0" animBg="1"/>
      <p:bldP spid="29" grpId="0" bldLvl="0" animBg="1"/>
      <p:bldP spid="30" grpId="0" animBg="1"/>
      <p:bldP spid="31" grpId="0" animBg="1"/>
      <p:bldP spid="32" grpId="0" bldLvl="0" animBg="1"/>
      <p:bldP spid="33" grpId="0" bldLvl="0" animBg="1"/>
      <p:bldP spid="34" grpId="0" bldLvl="0" animBg="1"/>
      <p:bldP spid="35" grpId="0" animBg="1"/>
      <p:bldP spid="36" grpId="0" bldLvl="0" animBg="1"/>
      <p:bldP spid="37" grpId="0" bldLvl="0" animBg="1"/>
      <p:bldP spid="38" grpId="0" animBg="1"/>
      <p:bldP spid="39" grpId="0" animBg="1"/>
      <p:bldP spid="40" grpId="0" bldLvl="0" animBg="1"/>
      <p:bldP spid="41" grpId="0" bldLvl="0" animBg="1"/>
      <p:bldP spid="42" grpId="0" bldLvl="0" animBg="1"/>
      <p:bldP spid="43" grpId="0" bldLvl="0" animBg="1"/>
      <p:bldP spid="44" grpId="0" animBg="1"/>
      <p:bldP spid="45" grpId="0" bldLvl="0" animBg="1"/>
      <p:bldP spid="46" grpId="0" bldLvl="0" animBg="1"/>
      <p:bldP spid="47" grpId="0" animBg="1"/>
      <p:bldP spid="48" grpId="0" animBg="1"/>
      <p:bldP spid="49" grpId="0" bldLvl="0" animBg="1"/>
      <p:bldP spid="50" grpId="0" bldLvl="0" animBg="1"/>
      <p:bldP spid="51" grpId="0" bldLvl="0" animBg="1"/>
      <p:bldP spid="52" grpId="0" animBg="1"/>
      <p:bldP spid="5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09600" y="152401"/>
            <a:ext cx="9906000" cy="685793"/>
          </a:xfrm>
          <a:prstGeom prst="rect">
            <a:avLst/>
          </a:prstGeom>
          <a:noFill/>
        </p:spPr>
        <p:txBody>
          <a:bodyPr wrap="square" lIns="91440" tIns="45720" rIns="91440" bIns="45720" anchor="b">
            <a:no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+mj-lt"/>
                <a:ea typeface="+mj-ea"/>
              </a:rPr>
              <a:t>How we measure each capability</a:t>
            </a:r>
            <a:endParaRPr sz="2800" b="0">
              <a:solidFill>
                <a:srgbClr val="000000"/>
              </a:solidFill>
              <a:latin typeface="+mj-lt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64464" y="950000"/>
            <a:ext cx="11131614" cy="266065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  <a:latin typeface="Calibri"/>
              </a:rPr>
              <a:t>One test set and a few metrics per capability — every number is read next to a reference row</a:t>
            </a:r>
            <a:endParaRPr sz="150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48374" y="1356995"/>
            <a:ext cx="1764791" cy="21209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alibri"/>
              </a:rPr>
              <a:t>Capability</a:t>
            </a:r>
            <a:endParaRPr sz="1150" b="1" i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322894" y="1356995"/>
            <a:ext cx="2084831" cy="21209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alibri"/>
              </a:rPr>
              <a:t>Test set</a:t>
            </a:r>
            <a:endParaRPr sz="1150" b="1" i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17453" y="1356995"/>
            <a:ext cx="4645152" cy="21209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alibri"/>
              </a:rPr>
              <a:t>Metrics  —  what they mean</a:t>
            </a:r>
            <a:endParaRPr sz="1150" b="1" i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272334" y="1356995"/>
            <a:ext cx="2450591" cy="21209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alibri"/>
              </a:rPr>
              <a:t>Read it against</a:t>
            </a:r>
            <a:endParaRPr sz="1150" b="1" i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11798" y="1609343"/>
            <a:ext cx="11347704" cy="1828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798" y="1673351"/>
            <a:ext cx="11347704" cy="5029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798" y="1673351"/>
            <a:ext cx="64008" cy="502919"/>
          </a:xfrm>
          <a:prstGeom prst="rect">
            <a:avLst/>
          </a:prstGeom>
          <a:solidFill>
            <a:srgbClr val="3D7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814" y="1818765"/>
            <a:ext cx="1691639" cy="21209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1" i="0">
                <a:solidFill>
                  <a:srgbClr val="3D7068"/>
                </a:solidFill>
                <a:latin typeface="Calibri"/>
              </a:rPr>
              <a:t>Body from instruction</a:t>
            </a:r>
            <a:endParaRPr sz="1150" b="1" i="0">
              <a:solidFill>
                <a:srgbClr val="3D7068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359469" y="1826385"/>
            <a:ext cx="2048255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HumanML3D test · 512</a:t>
            </a:r>
            <a:endParaRPr sz="105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54030" y="1664778"/>
            <a:ext cx="4608576" cy="52006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Calibri"/>
              </a:rPr>
              <a:t>R1 ↑  (Guo / MS evaluators)</a:t>
            </a:r>
            <a:r>
              <a:rPr sz="1050" b="0" i="0">
                <a:solidFill>
                  <a:srgbClr val="595959"/>
                </a:solidFill>
                <a:latin typeface="Calibri"/>
              </a:rPr>
              <a:t>  the right instruction ranked 1st of 32 · chance .03</a:t>
            </a:r>
            <a:endParaRPr sz="1050" b="0" i="0">
              <a:solidFill>
                <a:srgbClr val="595959"/>
              </a:solidFill>
              <a:latin typeface="Calibri"/>
            </a:endParaRPr>
          </a:p>
          <a:p>
            <a:pPr algn="l"/>
            <a:r>
              <a:rPr sz="1050" b="1" i="0">
                <a:solidFill>
                  <a:srgbClr val="222222"/>
                </a:solidFill>
                <a:latin typeface="Calibri"/>
              </a:rPr>
              <a:t>FID ↓</a:t>
            </a:r>
            <a:r>
              <a:rPr sz="1050" b="0" i="0">
                <a:solidFill>
                  <a:srgbClr val="595959"/>
                </a:solidFill>
                <a:latin typeface="Calibri"/>
              </a:rPr>
              <a:t>  realism: generated vs real motion, as distributions</a:t>
            </a:r>
            <a:endParaRPr sz="10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308910" y="1745740"/>
            <a:ext cx="2414015" cy="3581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real motion, same evaluator</a:t>
            </a:r>
            <a:endParaRPr sz="1050" b="0" i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MotionStreamer (public)</a:t>
            </a:r>
            <a:endParaRPr sz="105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11798" y="2221991"/>
            <a:ext cx="11347704" cy="502919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798" y="2221991"/>
            <a:ext cx="64008" cy="502919"/>
          </a:xfrm>
          <a:prstGeom prst="rect">
            <a:avLst/>
          </a:prstGeom>
          <a:solidFill>
            <a:srgbClr val="3D7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9814" y="2367405"/>
            <a:ext cx="1691639" cy="21209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1" i="0">
                <a:solidFill>
                  <a:srgbClr val="3D7068"/>
                </a:solidFill>
                <a:latin typeface="Calibri"/>
              </a:rPr>
              <a:t>Body in conversation</a:t>
            </a:r>
            <a:endParaRPr sz="1150" b="1" i="0">
              <a:solidFill>
                <a:srgbClr val="3D7068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359469" y="2375025"/>
            <a:ext cx="2048255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conversation test · 200</a:t>
            </a:r>
            <a:endParaRPr sz="105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54030" y="2375025"/>
            <a:ext cx="4608576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Calibri"/>
              </a:rPr>
              <a:t>FGD ↓</a:t>
            </a:r>
            <a:r>
              <a:rPr sz="1050" b="0" i="0">
                <a:solidFill>
                  <a:srgbClr val="595959"/>
                </a:solidFill>
                <a:latin typeface="Calibri"/>
              </a:rPr>
              <a:t>  distance between generated and real gesture statistics</a:t>
            </a:r>
            <a:endParaRPr sz="10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308910" y="2294380"/>
            <a:ext cx="2414015" cy="3581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the model the run started from</a:t>
            </a:r>
            <a:endParaRPr sz="1050" b="0" i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(no real-vs-real floor yet)</a:t>
            </a:r>
            <a:endParaRPr sz="105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11798" y="2770632"/>
            <a:ext cx="11347704" cy="5029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798" y="2770632"/>
            <a:ext cx="64008" cy="502919"/>
          </a:xfrm>
          <a:prstGeom prst="rect">
            <a:avLst/>
          </a:prstGeom>
          <a:solidFill>
            <a:srgbClr val="B05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9814" y="2916047"/>
            <a:ext cx="1691639" cy="21209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1" i="0">
                <a:solidFill>
                  <a:srgbClr val="B0573A"/>
                </a:solidFill>
                <a:latin typeface="Calibri"/>
              </a:rPr>
              <a:t>Face from speech</a:t>
            </a:r>
            <a:endParaRPr sz="1150" b="1" i="0">
              <a:solidFill>
                <a:srgbClr val="B0573A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359469" y="2923667"/>
            <a:ext cx="2048255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conversation · 200</a:t>
            </a:r>
            <a:endParaRPr sz="105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54030" y="2843022"/>
            <a:ext cx="4608576" cy="3581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Calibri"/>
              </a:rPr>
              <a:t>Sync-C ↑ / Sync-D ↓</a:t>
            </a:r>
            <a:r>
              <a:rPr sz="1050" b="0" i="0">
                <a:solidFill>
                  <a:srgbClr val="595959"/>
                </a:solidFill>
                <a:latin typeface="Calibri"/>
              </a:rPr>
              <a:t>  lip-sync confidence / distance (SyncNet)</a:t>
            </a:r>
            <a:endParaRPr sz="1050" b="0" i="0">
              <a:solidFill>
                <a:srgbClr val="595959"/>
              </a:solidFill>
              <a:latin typeface="Calibri"/>
            </a:endParaRPr>
          </a:p>
          <a:p>
            <a:pPr algn="l"/>
            <a:r>
              <a:rPr sz="1050" b="1" i="0">
                <a:solidFill>
                  <a:srgbClr val="222222"/>
                </a:solidFill>
                <a:latin typeface="Calibri"/>
              </a:rPr>
              <a:t>FFD ↓ · face FID ↓</a:t>
            </a:r>
            <a:r>
              <a:rPr sz="1050" b="0" i="0">
                <a:solidFill>
                  <a:srgbClr val="595959"/>
                </a:solidFill>
                <a:latin typeface="Calibri"/>
              </a:rPr>
              <a:t>  realism of the face vs real faces</a:t>
            </a:r>
            <a:endParaRPr sz="10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308910" y="2843022"/>
            <a:ext cx="2414015" cy="3581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real Mosaic clips</a:t>
            </a:r>
            <a:endParaRPr sz="1050" b="0" i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offline model that sees the future</a:t>
            </a:r>
            <a:endParaRPr sz="105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11798" y="3319272"/>
            <a:ext cx="11347704" cy="502919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1798" y="3319272"/>
            <a:ext cx="64008" cy="502919"/>
          </a:xfrm>
          <a:prstGeom prst="rect">
            <a:avLst/>
          </a:prstGeom>
          <a:solidFill>
            <a:srgbClr val="B05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9814" y="3464687"/>
            <a:ext cx="1691639" cy="21209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1" i="0">
                <a:solidFill>
                  <a:srgbClr val="B0573A"/>
                </a:solidFill>
                <a:latin typeface="Calibri"/>
              </a:rPr>
              <a:t>Face from instruction</a:t>
            </a:r>
            <a:endParaRPr sz="1150" b="1" i="0">
              <a:solidFill>
                <a:srgbClr val="B0573A"/>
              </a:solidFill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359469" y="3472307"/>
            <a:ext cx="2048255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673 instructions × 3 seeds</a:t>
            </a:r>
            <a:endParaRPr sz="105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554030" y="3391662"/>
            <a:ext cx="4608576" cy="3581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Calibri"/>
              </a:rPr>
              <a:t>Emotion hit ↑</a:t>
            </a:r>
            <a:r>
              <a:rPr sz="1050" b="0" i="0">
                <a:solidFill>
                  <a:srgbClr val="595959"/>
                </a:solidFill>
                <a:latin typeface="Calibri"/>
              </a:rPr>
              <a:t>  a classifier sees the asked-for emotion</a:t>
            </a:r>
            <a:endParaRPr sz="1050" b="0" i="0">
              <a:solidFill>
                <a:srgbClr val="595959"/>
              </a:solidFill>
              <a:latin typeface="Calibri"/>
            </a:endParaRPr>
          </a:p>
          <a:p>
            <a:pPr algn="l"/>
            <a:r>
              <a:rPr sz="1050" b="1" i="0">
                <a:solidFill>
                  <a:srgbClr val="222222"/>
                </a:solidFill>
                <a:latin typeface="Calibri"/>
              </a:rPr>
              <a:t>R@1 ↑</a:t>
            </a:r>
            <a:r>
              <a:rPr sz="1050" b="0" i="0">
                <a:solidFill>
                  <a:srgbClr val="595959"/>
                </a:solidFill>
                <a:latin typeface="Calibri"/>
              </a:rPr>
              <a:t>  the right instruction is found from the face</a:t>
            </a:r>
            <a:endParaRPr sz="10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308910" y="3472307"/>
            <a:ext cx="2414015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real faces · shuffled instructions</a:t>
            </a:r>
            <a:endParaRPr sz="105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11798" y="3867911"/>
            <a:ext cx="11347704" cy="5029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798" y="3867911"/>
            <a:ext cx="64008" cy="502919"/>
          </a:xfrm>
          <a:prstGeom prst="rect">
            <a:avLst/>
          </a:prstGeom>
          <a:solidFill>
            <a:srgbClr val="6A5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9814" y="4013326"/>
            <a:ext cx="1691639" cy="21209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1" i="0">
                <a:solidFill>
                  <a:srgbClr val="6A5D7B"/>
                </a:solidFill>
                <a:latin typeface="Calibri"/>
              </a:rPr>
              <a:t>Body understanding</a:t>
            </a:r>
            <a:endParaRPr sz="1150" b="1" i="0">
              <a:solidFill>
                <a:srgbClr val="6A5D7B"/>
              </a:solidFill>
              <a:latin typeface="Calibr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359469" y="4020946"/>
            <a:ext cx="2048255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675 motions the user performs</a:t>
            </a:r>
            <a:endParaRPr sz="105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554030" y="3940301"/>
            <a:ext cx="4608576" cy="3581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Calibri"/>
              </a:rPr>
              <a:t>BLEU-4 ↑</a:t>
            </a:r>
            <a:r>
              <a:rPr sz="1050" b="0" i="0">
                <a:solidFill>
                  <a:srgbClr val="595959"/>
                </a:solidFill>
                <a:latin typeface="Calibri"/>
              </a:rPr>
              <a:t>  word overlap with the reference description</a:t>
            </a:r>
            <a:endParaRPr sz="1050" b="0" i="0">
              <a:solidFill>
                <a:srgbClr val="595959"/>
              </a:solidFill>
              <a:latin typeface="Calibri"/>
            </a:endParaRPr>
          </a:p>
          <a:p>
            <a:pPr algn="l"/>
            <a:r>
              <a:rPr sz="1050" b="1" i="0">
                <a:solidFill>
                  <a:srgbClr val="222222"/>
                </a:solidFill>
                <a:latin typeface="Calibri"/>
              </a:rPr>
              <a:t>BERTScore ↑</a:t>
            </a:r>
            <a:r>
              <a:rPr sz="1050" b="0" i="0">
                <a:solidFill>
                  <a:srgbClr val="595959"/>
                </a:solidFill>
                <a:latin typeface="Calibri"/>
              </a:rPr>
              <a:t>  meaning overlap</a:t>
            </a:r>
            <a:endParaRPr sz="10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308910" y="3940301"/>
            <a:ext cx="2414015" cy="3581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one real answer scored against</a:t>
            </a:r>
            <a:endParaRPr sz="1050" b="0" i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the others (BLEU-4 .107)</a:t>
            </a:r>
            <a:endParaRPr sz="105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411798" y="4416552"/>
            <a:ext cx="11347704" cy="502919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11798" y="4416552"/>
            <a:ext cx="64008" cy="502919"/>
          </a:xfrm>
          <a:prstGeom prst="rect">
            <a:avLst/>
          </a:prstGeom>
          <a:solidFill>
            <a:srgbClr val="6A5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9814" y="4473384"/>
            <a:ext cx="1691639" cy="38925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1" i="0">
                <a:solidFill>
                  <a:srgbClr val="6A5D7B"/>
                </a:solidFill>
                <a:latin typeface="Calibri"/>
              </a:rPr>
              <a:t>Face &amp; emotion</a:t>
            </a:r>
            <a:endParaRPr sz="1150" b="1" i="0">
              <a:solidFill>
                <a:srgbClr val="6A5D7B"/>
              </a:solidFill>
              <a:latin typeface="Calibri"/>
            </a:endParaRPr>
          </a:p>
          <a:p>
            <a:pPr algn="l"/>
            <a:r>
              <a:rPr sz="1150" b="1" i="0">
                <a:solidFill>
                  <a:srgbClr val="6A5D7B"/>
                </a:solidFill>
                <a:latin typeface="Calibri"/>
              </a:rPr>
              <a:t>understanding</a:t>
            </a:r>
            <a:endParaRPr sz="1150" b="1" i="0">
              <a:solidFill>
                <a:srgbClr val="6A5D7B"/>
              </a:solidFill>
              <a:latin typeface="Calibr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359469" y="4488942"/>
            <a:ext cx="2048255" cy="3581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256 “what's my expression?”</a:t>
            </a:r>
            <a:endParaRPr sz="1050" b="0" i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2,068 emotion clips</a:t>
            </a:r>
            <a:endParaRPr sz="105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554030" y="4488942"/>
            <a:ext cx="4608576" cy="3581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Calibri"/>
              </a:rPr>
              <a:t>Emotion hit ↑</a:t>
            </a:r>
            <a:r>
              <a:rPr sz="1050" b="0" i="0">
                <a:solidFill>
                  <a:srgbClr val="595959"/>
                </a:solidFill>
                <a:latin typeface="Calibri"/>
              </a:rPr>
              <a:t>  the answer names the right emotion</a:t>
            </a:r>
            <a:endParaRPr sz="1050" b="0" i="0">
              <a:solidFill>
                <a:srgbClr val="595959"/>
              </a:solidFill>
              <a:latin typeface="Calibri"/>
            </a:endParaRPr>
          </a:p>
          <a:p>
            <a:pPr algn="l"/>
            <a:r>
              <a:rPr sz="1050" b="1" i="0">
                <a:solidFill>
                  <a:srgbClr val="222222"/>
                </a:solidFill>
                <a:latin typeface="Calibri"/>
              </a:rPr>
              <a:t>Accuracy ↑</a:t>
            </a:r>
            <a:r>
              <a:rPr sz="1050" b="0" i="0">
                <a:solidFill>
                  <a:srgbClr val="595959"/>
                </a:solidFill>
                <a:latin typeface="Calibri"/>
              </a:rPr>
              <a:t>  10-way emotion</a:t>
            </a:r>
            <a:endParaRPr sz="10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308910" y="4488942"/>
            <a:ext cx="2414015" cy="3581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a public expression model (S2D)</a:t>
            </a:r>
            <a:endParaRPr sz="1050" b="0" i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on the same clips</a:t>
            </a:r>
            <a:endParaRPr sz="105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411798" y="4965192"/>
            <a:ext cx="11347704" cy="5029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1798" y="4965192"/>
            <a:ext cx="64008" cy="502919"/>
          </a:xfrm>
          <a:prstGeom prst="rect">
            <a:avLst/>
          </a:prstGeom>
          <a:solidFill>
            <a:srgbClr val="355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9814" y="5110607"/>
            <a:ext cx="1691639" cy="21209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1" i="0">
                <a:solidFill>
                  <a:srgbClr val="35577A"/>
                </a:solidFill>
                <a:latin typeface="Calibri"/>
              </a:rPr>
              <a:t>Full-duplex dialogue</a:t>
            </a:r>
            <a:endParaRPr sz="1150" b="1" i="0">
              <a:solidFill>
                <a:srgbClr val="35577A"/>
              </a:solidFill>
              <a:latin typeface="Calibri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359469" y="5037582"/>
            <a:ext cx="2048255" cy="3581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Full-Duplex-Bench</a:t>
            </a:r>
            <a:endParaRPr sz="1050" b="0" i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v1.0 · v1.5</a:t>
            </a:r>
            <a:endParaRPr sz="105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554030" y="4956619"/>
            <a:ext cx="4608576" cy="52006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Calibri"/>
              </a:rPr>
              <a:t>Handled correctly ↑</a:t>
            </a:r>
            <a:r>
              <a:rPr sz="1050" b="0" i="0">
                <a:solidFill>
                  <a:srgbClr val="595959"/>
                </a:solidFill>
                <a:latin typeface="Calibri"/>
              </a:rPr>
              <a:t>  speaks when it should, stays quiet on pauses / “uh-huh”</a:t>
            </a:r>
            <a:endParaRPr sz="1050" b="0" i="0">
              <a:solidFill>
                <a:srgbClr val="595959"/>
              </a:solidFill>
              <a:latin typeface="Calibri"/>
            </a:endParaRPr>
          </a:p>
          <a:p>
            <a:pPr algn="l"/>
            <a:r>
              <a:rPr sz="1050" b="1" i="0">
                <a:solidFill>
                  <a:srgbClr val="222222"/>
                </a:solidFill>
                <a:latin typeface="Calibri"/>
              </a:rPr>
              <a:t>Latency ↓</a:t>
            </a:r>
            <a:r>
              <a:rPr sz="1050" b="0" i="0">
                <a:solidFill>
                  <a:srgbClr val="595959"/>
                </a:solidFill>
                <a:latin typeface="Calibri"/>
              </a:rPr>
              <a:t>  how fast it responds or stops</a:t>
            </a:r>
            <a:endParaRPr sz="10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308910" y="5037582"/>
            <a:ext cx="2414015" cy="3581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PersonaPlex 7B (public),</a:t>
            </a:r>
            <a:endParaRPr sz="1050" b="0" i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run with our prompt</a:t>
            </a:r>
            <a:endParaRPr sz="105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411798" y="5513832"/>
            <a:ext cx="11347704" cy="502919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11798" y="5513832"/>
            <a:ext cx="64008" cy="502919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39814" y="5659247"/>
            <a:ext cx="1691639" cy="21209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alibri"/>
              </a:rPr>
              <a:t>Real time</a:t>
            </a:r>
            <a:endParaRPr sz="1150" b="1" i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359469" y="5666867"/>
            <a:ext cx="2048255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live server · 1 node</a:t>
            </a:r>
            <a:endParaRPr sz="105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4554030" y="5666867"/>
            <a:ext cx="4608576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i="0">
                <a:solidFill>
                  <a:srgbClr val="222222"/>
                </a:solidFill>
                <a:latin typeface="Calibri"/>
              </a:rPr>
              <a:t>ms per 160 ms step ↓</a:t>
            </a:r>
            <a:r>
              <a:rPr sz="1050" b="0" i="0">
                <a:solidFill>
                  <a:srgbClr val="595959"/>
                </a:solidFill>
                <a:latin typeface="Calibri"/>
              </a:rPr>
              <a:t>  GPU work per motion step — must fit in 160 ms</a:t>
            </a:r>
            <a:endParaRPr sz="1050" b="0" i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9308910" y="5666867"/>
            <a:ext cx="2414015" cy="19685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the 160 ms budget</a:t>
            </a:r>
            <a:endParaRPr sz="1050" b="0" i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11798" y="6126480"/>
            <a:ext cx="11384280" cy="1892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9E3A2F"/>
                </a:solidFill>
                <a:latin typeface="Calibri"/>
              </a:rPr>
              <a:t>Noise  </a:t>
            </a:r>
            <a:r>
              <a:rPr sz="1000" b="0" i="0">
                <a:solidFill>
                  <a:srgbClr val="595959"/>
                </a:solidFill>
                <a:latin typeface="Calibri"/>
              </a:rPr>
              <a:t>R1 moves up to .02–.03 with the seed · FGD jumps 7–41 between neighbouring checkpoints · conversation numbers come from two evaluation setups that are never mixed</a:t>
            </a:r>
            <a:endParaRPr sz="1000" b="0" i="0">
              <a:solidFill>
                <a:srgbClr val="59595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52401"/>
            <a:ext cx="9906000" cy="685793"/>
          </a:xfrm>
        </p:spPr>
        <p:txBody>
          <a:bodyPr/>
          <a:lstStyle/>
          <a:p>
            <a:r>
              <a:rPr lang="en-US" altLang="en-US" dirty="0"/>
              <a:t>Real-time Latency Budget: camera off</a:t>
            </a:r>
            <a:endParaRPr lang="en-US" altLang="zh-CN" dirty="0" err="1"/>
          </a:p>
        </p:txBody>
      </p:sp>
      <p:pic>
        <p:nvPicPr>
          <p:cNvPr id="4" name="图片 3" descr="server"/>
          <p:cNvPicPr>
            <a:picLocks noChangeAspect="1"/>
          </p:cNvPicPr>
          <p:nvPr/>
        </p:nvPicPr>
        <p:blipFill>
          <a:blip r:embed="rId1"/>
          <a:srcRect t="6333" r="-10" b="71796"/>
          <a:stretch>
            <a:fillRect/>
          </a:stretch>
        </p:blipFill>
        <p:spPr>
          <a:xfrm>
            <a:off x="227965" y="2343785"/>
            <a:ext cx="11470640" cy="27387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52401"/>
            <a:ext cx="9906000" cy="685793"/>
          </a:xfrm>
        </p:spPr>
        <p:txBody>
          <a:bodyPr/>
          <a:lstStyle/>
          <a:p>
            <a:r>
              <a:rPr lang="en-US" altLang="en-US" dirty="0"/>
              <a:t>Real-time Latency Budget: camera on</a:t>
            </a:r>
            <a:endParaRPr lang="en-US" altLang="zh-CN" dirty="0" err="1"/>
          </a:p>
        </p:txBody>
      </p:sp>
      <p:pic>
        <p:nvPicPr>
          <p:cNvPr id="4" name="图片 3" descr="server"/>
          <p:cNvPicPr>
            <a:picLocks noChangeAspect="1"/>
          </p:cNvPicPr>
          <p:nvPr/>
        </p:nvPicPr>
        <p:blipFill>
          <a:blip r:embed="rId1"/>
          <a:srcRect t="28537" r="172" b="22426"/>
          <a:stretch>
            <a:fillRect/>
          </a:stretch>
        </p:blipFill>
        <p:spPr>
          <a:xfrm>
            <a:off x="1331760" y="1247775"/>
            <a:ext cx="9528175" cy="5110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Long-Term Vision</a:t>
            </a:r>
            <a:endParaRPr lang="en-US" altLang="zh-CN"/>
          </a:p>
        </p:txBody>
      </p:sp>
      <p:sp>
        <p:nvSpPr>
          <p:cNvPr id="5" name="TextBox 4"/>
          <p:cNvSpPr txBox="1"/>
          <p:nvPr/>
        </p:nvSpPr>
        <p:spPr>
          <a:xfrm>
            <a:off x="612648" y="1207008"/>
            <a:ext cx="10972800" cy="4572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2300" b="1" i="0">
                <a:solidFill>
                  <a:srgbClr val="1B4F9C"/>
                </a:solidFill>
                <a:latin typeface="Calibri"/>
              </a:rPr>
              <a:t>Always on  ·  Sees and hears  ·  Learns by interacting</a:t>
            </a:r>
            <a:endParaRPr sz="2300" b="1" i="0">
              <a:solidFill>
                <a:srgbClr val="1B4F9C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12648" y="1828800"/>
            <a:ext cx="5303520" cy="306324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920240"/>
            <a:ext cx="5303520" cy="4114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2200" b="1" i="0">
                <a:solidFill>
                  <a:srgbClr val="1B4F9C"/>
                </a:solidFill>
                <a:latin typeface="Calibri"/>
              </a:rPr>
              <a:t>Virtual / Embodied Agent</a:t>
            </a:r>
            <a:endParaRPr sz="2200" b="1" i="0">
              <a:solidFill>
                <a:srgbClr val="1B4F9C"/>
              </a:solidFill>
              <a:latin typeface="Calibri"/>
            </a:endParaRPr>
          </a:p>
        </p:txBody>
      </p:sp>
      <p:sp>
        <p:nvSpPr>
          <p:cNvPr id="8" name="Oval 7"/>
          <p:cNvSpPr/>
          <p:nvPr/>
        </p:nvSpPr>
        <p:spPr>
          <a:xfrm>
            <a:off x="1417320" y="2606040"/>
            <a:ext cx="402336" cy="402336"/>
          </a:xfrm>
          <a:prstGeom prst="ellipse">
            <a:avLst/>
          </a:prstGeom>
          <a:solidFill>
            <a:srgbClr val="9AA5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>
            <a:off x="1234440" y="3054096"/>
            <a:ext cx="768096" cy="42062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AA5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3529584"/>
            <a:ext cx="109728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250" b="0" i="0">
                <a:solidFill>
                  <a:srgbClr val="777777"/>
                </a:solidFill>
                <a:latin typeface="Calibri"/>
              </a:rPr>
              <a:t>you</a:t>
            </a:r>
            <a:endParaRPr sz="1250" b="0" i="0">
              <a:solidFill>
                <a:srgbClr val="777777"/>
              </a:solidFill>
              <a:latin typeface="Calibri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709160" y="2606040"/>
            <a:ext cx="402336" cy="402336"/>
          </a:xfrm>
          <a:prstGeom prst="ellipse">
            <a:avLst/>
          </a:prstGeom>
          <a:solidFill>
            <a:srgbClr val="1B4F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3054096"/>
            <a:ext cx="768096" cy="42062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B4F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3529584"/>
            <a:ext cx="109728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250" b="1" i="0">
                <a:solidFill>
                  <a:srgbClr val="1B4F9C"/>
                </a:solidFill>
                <a:latin typeface="Calibri"/>
              </a:rPr>
              <a:t>AI agent</a:t>
            </a:r>
            <a:endParaRPr sz="1250" b="1" i="0">
              <a:solidFill>
                <a:srgbClr val="1B4F9C"/>
              </a:solidFill>
              <a:latin typeface="Calibri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2258568" y="2761488"/>
            <a:ext cx="2011680" cy="237744"/>
          </a:xfrm>
          <a:prstGeom prst="rightArrow">
            <a:avLst>
              <a:gd name="adj1" fmla="val 42000"/>
              <a:gd name="adj2" fmla="val 75000"/>
            </a:avLst>
          </a:prstGeom>
          <a:solidFill>
            <a:srgbClr val="9AA5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67128" y="2468880"/>
            <a:ext cx="219456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200" b="0" i="0">
                <a:solidFill>
                  <a:srgbClr val="777777"/>
                </a:solidFill>
                <a:latin typeface="Calibri"/>
              </a:rPr>
              <a:t>your voice · face · room</a:t>
            </a:r>
            <a:endParaRPr sz="1200" b="0" i="0">
              <a:solidFill>
                <a:srgbClr val="777777"/>
              </a:solidFill>
              <a:latin typeface="Calibri"/>
            </a:endParaRPr>
          </a:p>
        </p:txBody>
      </p:sp>
      <p:sp>
        <p:nvSpPr>
          <p:cNvPr id="16" name="Left Arrow 15"/>
          <p:cNvSpPr/>
          <p:nvPr/>
        </p:nvSpPr>
        <p:spPr>
          <a:xfrm>
            <a:off x="2258568" y="3200400"/>
            <a:ext cx="2011680" cy="237744"/>
          </a:xfrm>
          <a:prstGeom prst="leftArrow">
            <a:avLst>
              <a:gd name="adj1" fmla="val 42000"/>
              <a:gd name="adj2" fmla="val 75000"/>
            </a:avLst>
          </a:prstGeom>
          <a:solidFill>
            <a:srgbClr val="1B4F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67128" y="3474720"/>
            <a:ext cx="219456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200" b="0" i="0">
                <a:solidFill>
                  <a:srgbClr val="1B4F9C"/>
                </a:solidFill>
                <a:latin typeface="Calibri"/>
              </a:rPr>
              <a:t>its voice · face · actions</a:t>
            </a:r>
            <a:endParaRPr sz="1200" b="0" i="0">
              <a:solidFill>
                <a:srgbClr val="1B4F9C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2648" y="4005072"/>
            <a:ext cx="530352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700" b="0" i="1">
                <a:solidFill>
                  <a:srgbClr val="333333"/>
                </a:solidFill>
                <a:latin typeface="Calibri"/>
              </a:rPr>
              <a:t>AI as someone you talk to</a:t>
            </a:r>
            <a:endParaRPr sz="1700" b="0" i="1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2648" y="4407408"/>
            <a:ext cx="5303520" cy="29260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350" b="0" i="0">
                <a:solidFill>
                  <a:srgbClr val="777777"/>
                </a:solidFill>
                <a:latin typeface="Calibri"/>
              </a:rPr>
              <a:t>avatars  ·  game characters  ·  robots</a:t>
            </a:r>
            <a:endParaRPr sz="1350" b="0" i="0">
              <a:solidFill>
                <a:srgbClr val="777777"/>
              </a:solidFill>
              <a:latin typeface="Calibri"/>
            </a:endParaRPr>
          </a:p>
        </p:txBody>
      </p:sp>
      <p:sp>
        <p:nvSpPr>
          <p:cNvPr id="20" name="Down Arrow 19"/>
          <p:cNvSpPr/>
          <p:nvPr/>
        </p:nvSpPr>
        <p:spPr>
          <a:xfrm>
            <a:off x="3081528" y="4956048"/>
            <a:ext cx="365760" cy="310896"/>
          </a:xfrm>
          <a:prstGeom prst="downArrow">
            <a:avLst>
              <a:gd name="adj1" fmla="val 42000"/>
              <a:gd name="adj2" fmla="val 75000"/>
            </a:avLst>
          </a:prstGeom>
          <a:solidFill>
            <a:srgbClr val="7C9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81928" y="1828800"/>
            <a:ext cx="5303520" cy="306324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81928" y="1920240"/>
            <a:ext cx="5303520" cy="4114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2200" b="1" i="0">
                <a:solidFill>
                  <a:srgbClr val="1B4F9C"/>
                </a:solidFill>
                <a:latin typeface="Calibri"/>
              </a:rPr>
              <a:t>Interactive World Model</a:t>
            </a:r>
            <a:endParaRPr sz="2200" b="1" i="0">
              <a:solidFill>
                <a:srgbClr val="1B4F9C"/>
              </a:solidFill>
              <a:latin typeface="Calibri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7086600" y="2606040"/>
            <a:ext cx="402336" cy="402336"/>
          </a:xfrm>
          <a:prstGeom prst="ellipse">
            <a:avLst/>
          </a:prstGeom>
          <a:solidFill>
            <a:srgbClr val="9AA5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>
            <a:off x="6903720" y="3054096"/>
            <a:ext cx="768096" cy="42062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AA5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39128" y="3529584"/>
            <a:ext cx="109728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250" b="0" i="0">
                <a:solidFill>
                  <a:srgbClr val="777777"/>
                </a:solidFill>
                <a:latin typeface="Calibri"/>
              </a:rPr>
              <a:t>you</a:t>
            </a:r>
            <a:endParaRPr sz="1250" b="0" i="0">
              <a:solidFill>
                <a:srgbClr val="777777"/>
              </a:solidFill>
              <a:latin typeface="Calibri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0012680" y="2606040"/>
            <a:ext cx="1133856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B4F9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Isosceles Triangle 26"/>
          <p:cNvSpPr/>
          <p:nvPr/>
        </p:nvSpPr>
        <p:spPr>
          <a:xfrm>
            <a:off x="10104120" y="2953512"/>
            <a:ext cx="585216" cy="457200"/>
          </a:xfrm>
          <a:prstGeom prst="triangle">
            <a:avLst/>
          </a:prstGeom>
          <a:solidFill>
            <a:srgbClr val="1B4F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Isosceles Triangle 27"/>
          <p:cNvSpPr/>
          <p:nvPr/>
        </p:nvSpPr>
        <p:spPr>
          <a:xfrm>
            <a:off x="10488168" y="3081528"/>
            <a:ext cx="548640" cy="329184"/>
          </a:xfrm>
          <a:prstGeom prst="triangle">
            <a:avLst/>
          </a:prstGeom>
          <a:solidFill>
            <a:srgbClr val="7C9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799064" y="2724912"/>
            <a:ext cx="182880" cy="182880"/>
          </a:xfrm>
          <a:prstGeom prst="ellipse">
            <a:avLst/>
          </a:prstGeom>
          <a:solidFill>
            <a:srgbClr val="7C9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85832" y="2633472"/>
            <a:ext cx="320040" cy="29260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1500" b="0" i="0">
                <a:solidFill>
                  <a:srgbClr val="1B4F9C"/>
                </a:solidFill>
                <a:latin typeface="Calibri"/>
              </a:rPr>
              <a:t>♪</a:t>
            </a:r>
            <a:endParaRPr sz="1500" b="0" i="0">
              <a:solidFill>
                <a:srgbClr val="1B4F9C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030967" y="3529584"/>
            <a:ext cx="109728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250" b="1" i="0">
                <a:solidFill>
                  <a:srgbClr val="1B4F9C"/>
                </a:solidFill>
                <a:latin typeface="Calibri"/>
              </a:rPr>
              <a:t>AI world</a:t>
            </a:r>
            <a:endParaRPr sz="1250" b="1" i="0">
              <a:solidFill>
                <a:srgbClr val="1B4F9C"/>
              </a:solidFill>
              <a:latin typeface="Calibri"/>
            </a:endParaRPr>
          </a:p>
        </p:txBody>
      </p:sp>
      <p:sp>
        <p:nvSpPr>
          <p:cNvPr id="32" name="Right Arrow 31"/>
          <p:cNvSpPr/>
          <p:nvPr/>
        </p:nvSpPr>
        <p:spPr>
          <a:xfrm>
            <a:off x="7927848" y="2761488"/>
            <a:ext cx="2011680" cy="237744"/>
          </a:xfrm>
          <a:prstGeom prst="rightArrow">
            <a:avLst>
              <a:gd name="adj1" fmla="val 42000"/>
              <a:gd name="adj2" fmla="val 75000"/>
            </a:avLst>
          </a:prstGeom>
          <a:solidFill>
            <a:srgbClr val="9AA5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36408" y="2468880"/>
            <a:ext cx="219456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200" b="0" i="0">
                <a:solidFill>
                  <a:srgbClr val="777777"/>
                </a:solidFill>
                <a:latin typeface="Calibri"/>
              </a:rPr>
              <a:t>your actions</a:t>
            </a:r>
            <a:endParaRPr sz="1200" b="0" i="0">
              <a:solidFill>
                <a:srgbClr val="777777"/>
              </a:solidFill>
              <a:latin typeface="Calibri"/>
            </a:endParaRPr>
          </a:p>
        </p:txBody>
      </p:sp>
      <p:sp>
        <p:nvSpPr>
          <p:cNvPr id="34" name="Left Arrow 33"/>
          <p:cNvSpPr/>
          <p:nvPr/>
        </p:nvSpPr>
        <p:spPr>
          <a:xfrm>
            <a:off x="7927848" y="3200400"/>
            <a:ext cx="2011680" cy="237744"/>
          </a:xfrm>
          <a:prstGeom prst="leftArrow">
            <a:avLst>
              <a:gd name="adj1" fmla="val 42000"/>
              <a:gd name="adj2" fmla="val 75000"/>
            </a:avLst>
          </a:prstGeom>
          <a:solidFill>
            <a:srgbClr val="1B4F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36408" y="3474720"/>
            <a:ext cx="219456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200" b="0" i="0">
                <a:solidFill>
                  <a:srgbClr val="1B4F9C"/>
                </a:solidFill>
                <a:latin typeface="Calibri"/>
              </a:rPr>
              <a:t>sight + sound of the world</a:t>
            </a:r>
            <a:endParaRPr sz="1200" b="0" i="0">
              <a:solidFill>
                <a:srgbClr val="1B4F9C"/>
              </a:solidFill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281928" y="4005072"/>
            <a:ext cx="530352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700" b="0" i="1">
                <a:solidFill>
                  <a:srgbClr val="333333"/>
                </a:solidFill>
                <a:latin typeface="Calibri"/>
              </a:rPr>
              <a:t>AI as a world you step into</a:t>
            </a:r>
            <a:endParaRPr sz="1700" b="0" i="1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281928" y="4407408"/>
            <a:ext cx="5303520" cy="29260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350" b="0" i="0">
                <a:solidFill>
                  <a:srgbClr val="777777"/>
                </a:solidFill>
                <a:latin typeface="Calibri"/>
              </a:rPr>
              <a:t>games  ·  films  ·  robot training grounds</a:t>
            </a:r>
            <a:endParaRPr sz="1350" b="0" i="0">
              <a:solidFill>
                <a:srgbClr val="777777"/>
              </a:solidFill>
              <a:latin typeface="Calibri"/>
            </a:endParaRPr>
          </a:p>
        </p:txBody>
      </p:sp>
      <p:sp>
        <p:nvSpPr>
          <p:cNvPr id="38" name="Down Arrow 37"/>
          <p:cNvSpPr/>
          <p:nvPr/>
        </p:nvSpPr>
        <p:spPr>
          <a:xfrm>
            <a:off x="8750808" y="4956048"/>
            <a:ext cx="365760" cy="310896"/>
          </a:xfrm>
          <a:prstGeom prst="downArrow">
            <a:avLst>
              <a:gd name="adj1" fmla="val 42000"/>
              <a:gd name="adj2" fmla="val 75000"/>
            </a:avLst>
          </a:prstGeom>
          <a:solidFill>
            <a:srgbClr val="7C9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12648" y="5340096"/>
            <a:ext cx="10972800" cy="731520"/>
          </a:xfrm>
          <a:prstGeom prst="roundRect">
            <a:avLst>
              <a:gd name="adj" fmla="val 8000"/>
            </a:avLst>
          </a:prstGeom>
          <a:solidFill>
            <a:srgbClr val="E9EFF7"/>
          </a:solidFill>
          <a:ln>
            <a:noFill/>
          </a:ln>
        </p:spPr>
        <p:txBody>
          <a:bodyPr wrap="square" tIns="18288" bIns="18288" rtlCol="0" anchor="ctr"/>
          <a:lstStyle/>
          <a:p>
            <a:pPr algn="ctr"/>
            <a:r>
              <a:rPr sz="2000" b="1" i="0">
                <a:solidFill>
                  <a:srgbClr val="1B4F9C"/>
                </a:solidFill>
                <a:latin typeface="Calibri"/>
              </a:rPr>
              <a:t>In the long run, one model is both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 —  our picture of </a:t>
            </a:r>
            <a:r>
              <a:rPr lang="en-US" sz="2000" b="0" i="0">
                <a:solidFill>
                  <a:srgbClr val="333333"/>
                </a:solidFill>
                <a:latin typeface="Calibri"/>
              </a:rPr>
              <a:t>Multimodal 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AGI</a:t>
            </a:r>
            <a:endParaRPr sz="2000" b="0" i="0">
              <a:solidFill>
                <a:srgbClr val="333333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Long-Term Goal</a:t>
            </a:r>
            <a:endParaRPr lang="en-US" altLang="zh-CN"/>
          </a:p>
        </p:txBody>
      </p:sp>
      <p:sp>
        <p:nvSpPr>
          <p:cNvPr id="4" name="Trapezoid 3"/>
          <p:cNvSpPr/>
          <p:nvPr/>
        </p:nvSpPr>
        <p:spPr>
          <a:xfrm>
            <a:off x="1298448" y="1024128"/>
            <a:ext cx="9601200" cy="914400"/>
          </a:xfrm>
          <a:prstGeom prst="trapezoid">
            <a:avLst>
              <a:gd name="adj" fmla="val 45000"/>
            </a:avLst>
          </a:prstGeom>
          <a:solidFill>
            <a:srgbClr val="1B4F9C"/>
          </a:solidFill>
          <a:ln>
            <a:noFill/>
          </a:ln>
        </p:spPr>
        <p:txBody>
          <a:bodyPr wrap="square" tIns="18288" bIns="18288" rtlCol="0" anchor="ctr"/>
          <a:lstStyle/>
          <a:p>
            <a:pPr algn="ctr"/>
            <a:r>
              <a:rPr sz="2100" b="1" i="0">
                <a:solidFill>
                  <a:srgbClr val="FFFFFF"/>
                </a:solidFill>
                <a:latin typeface="Calibri"/>
              </a:rPr>
              <a:t>Interactive, long-horizon, real-time audio-visual models</a:t>
            </a:r>
            <a:endParaRPr sz="2100" b="1" i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sz="1400" b="0" i="0">
                <a:solidFill>
                  <a:srgbClr val="D6E2F3"/>
                </a:solidFill>
                <a:latin typeface="Calibri"/>
              </a:rPr>
              <a:t>for agents and for worlds</a:t>
            </a:r>
            <a:endParaRPr sz="1400" b="0" i="0">
              <a:solidFill>
                <a:srgbClr val="D6E2F3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618488" y="2057400"/>
            <a:ext cx="2103120" cy="21031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18488" y="2057400"/>
            <a:ext cx="2103120" cy="91440"/>
          </a:xfrm>
          <a:prstGeom prst="rect">
            <a:avLst/>
          </a:prstGeom>
          <a:solidFill>
            <a:srgbClr val="7C9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ular Callout 6"/>
          <p:cNvSpPr/>
          <p:nvPr/>
        </p:nvSpPr>
        <p:spPr>
          <a:xfrm>
            <a:off x="2212848" y="2304288"/>
            <a:ext cx="512064" cy="310896"/>
          </a:xfrm>
          <a:prstGeom prst="wedgeRoundRectCallout">
            <a:avLst>
              <a:gd name="adj1" fmla="val -28000"/>
              <a:gd name="adj2" fmla="val 78000"/>
              <a:gd name="adj3" fmla="val 16667"/>
            </a:avLst>
          </a:prstGeom>
          <a:solidFill>
            <a:srgbClr val="9AA5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ular Callout 7"/>
          <p:cNvSpPr/>
          <p:nvPr/>
        </p:nvSpPr>
        <p:spPr>
          <a:xfrm>
            <a:off x="2615184" y="2423160"/>
            <a:ext cx="512064" cy="310896"/>
          </a:xfrm>
          <a:prstGeom prst="wedgeRoundRectCallout">
            <a:avLst>
              <a:gd name="adj1" fmla="val 28000"/>
              <a:gd name="adj2" fmla="val 78000"/>
              <a:gd name="adj3" fmla="val 16667"/>
            </a:avLst>
          </a:prstGeom>
          <a:solidFill>
            <a:srgbClr val="1B4F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09928" y="2852928"/>
            <a:ext cx="1920240" cy="60350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800" b="1" i="0">
                <a:solidFill>
                  <a:srgbClr val="333333"/>
                </a:solidFill>
                <a:latin typeface="Calibri"/>
              </a:rPr>
              <a:t>Real-time interaction</a:t>
            </a:r>
            <a:endParaRPr sz="1800" b="1" i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09928" y="3474720"/>
            <a:ext cx="1920240" cy="45720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350" b="0" i="0">
                <a:solidFill>
                  <a:srgbClr val="777777"/>
                </a:solidFill>
                <a:latin typeface="Calibri"/>
              </a:rPr>
              <a:t>listen and talk at once</a:t>
            </a:r>
            <a:endParaRPr sz="1350" b="0" i="0">
              <a:solidFill>
                <a:srgbClr val="777777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904487" y="2057400"/>
            <a:ext cx="2103120" cy="21031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04487" y="2057400"/>
            <a:ext cx="2103120" cy="91440"/>
          </a:xfrm>
          <a:prstGeom prst="rect">
            <a:avLst/>
          </a:prstGeom>
          <a:solidFill>
            <a:srgbClr val="7C9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09160" y="2313432"/>
            <a:ext cx="493776" cy="49377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B4F9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33188" y="2386584"/>
            <a:ext cx="45720" cy="192024"/>
          </a:xfrm>
          <a:prstGeom prst="rect">
            <a:avLst/>
          </a:prstGeom>
          <a:solidFill>
            <a:srgbClr val="1B4F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33188" y="2537460"/>
            <a:ext cx="146304" cy="45720"/>
          </a:xfrm>
          <a:prstGeom prst="rect">
            <a:avLst/>
          </a:prstGeom>
          <a:solidFill>
            <a:srgbClr val="1B4F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95927" y="2852928"/>
            <a:ext cx="1920240" cy="60350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800" b="1" i="0">
                <a:solidFill>
                  <a:srgbClr val="333333"/>
                </a:solidFill>
                <a:latin typeface="Calibri"/>
              </a:rPr>
              <a:t>Long-horizon memory</a:t>
            </a:r>
            <a:endParaRPr sz="1800" b="1" i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995927" y="3474720"/>
            <a:ext cx="1920240" cy="45720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350" b="0" i="0">
                <a:solidFill>
                  <a:srgbClr val="777777"/>
                </a:solidFill>
                <a:latin typeface="Calibri"/>
              </a:rPr>
              <a:t>hours long, no drift</a:t>
            </a:r>
            <a:endParaRPr sz="1350" b="0" i="0">
              <a:solidFill>
                <a:srgbClr val="777777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90488" y="2057400"/>
            <a:ext cx="2103120" cy="21031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0488" y="2057400"/>
            <a:ext cx="2103120" cy="91440"/>
          </a:xfrm>
          <a:prstGeom prst="rect">
            <a:avLst/>
          </a:prstGeom>
          <a:solidFill>
            <a:srgbClr val="7C9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12280" y="2304288"/>
            <a:ext cx="502920" cy="502920"/>
          </a:xfrm>
          <a:prstGeom prst="ellipse">
            <a:avLst/>
          </a:prstGeom>
          <a:noFill/>
          <a:ln w="38100">
            <a:solidFill>
              <a:srgbClr val="9AA5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68896" y="2304288"/>
            <a:ext cx="502920" cy="502920"/>
          </a:xfrm>
          <a:prstGeom prst="ellipse">
            <a:avLst/>
          </a:prstGeom>
          <a:noFill/>
          <a:ln w="38100">
            <a:solidFill>
              <a:srgbClr val="1B4F9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82055" y="2868930"/>
            <a:ext cx="2019300" cy="57150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800" b="1" i="0">
                <a:solidFill>
                  <a:srgbClr val="333333"/>
                </a:solidFill>
                <a:latin typeface="Calibri"/>
              </a:rPr>
              <a:t>One audio-visual</a:t>
            </a:r>
            <a:r>
              <a:rPr lang="en-US" sz="1800" b="1" i="0">
                <a:solidFill>
                  <a:srgbClr val="333333"/>
                </a:solidFill>
                <a:latin typeface="Calibri"/>
              </a:rPr>
              <a:t>-action</a:t>
            </a:r>
            <a:r>
              <a:rPr sz="1800" b="1" i="0">
                <a:solidFill>
                  <a:srgbClr val="333333"/>
                </a:solidFill>
                <a:latin typeface="Calibri"/>
              </a:rPr>
              <a:t> space</a:t>
            </a:r>
            <a:endParaRPr sz="1800" b="1" i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281927" y="3474720"/>
            <a:ext cx="1920240" cy="45720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350" b="0" i="0">
                <a:solidFill>
                  <a:srgbClr val="777777"/>
                </a:solidFill>
                <a:latin typeface="Calibri"/>
              </a:rPr>
              <a:t>sight and sound together</a:t>
            </a:r>
            <a:endParaRPr sz="1350" b="0" i="0">
              <a:solidFill>
                <a:srgbClr val="777777"/>
              </a:solidFill>
              <a:latin typeface="Calibr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476488" y="2057400"/>
            <a:ext cx="2103120" cy="21031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76488" y="2057400"/>
            <a:ext cx="2103120" cy="91440"/>
          </a:xfrm>
          <a:prstGeom prst="rect">
            <a:avLst/>
          </a:prstGeom>
          <a:solidFill>
            <a:srgbClr val="7C9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Circular Arrow 25"/>
          <p:cNvSpPr/>
          <p:nvPr/>
        </p:nvSpPr>
        <p:spPr>
          <a:xfrm>
            <a:off x="9253728" y="2276856"/>
            <a:ext cx="548640" cy="548640"/>
          </a:xfrm>
          <a:prstGeom prst="circularArrow">
            <a:avLst>
              <a:gd name="adj1" fmla="val 15000"/>
              <a:gd name="adj2" fmla="val 1142319"/>
              <a:gd name="adj3" fmla="val 3600000"/>
              <a:gd name="adj4" fmla="val 7200000"/>
              <a:gd name="adj5" fmla="val 15000"/>
            </a:avLst>
          </a:prstGeom>
          <a:solidFill>
            <a:srgbClr val="1B4F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67928" y="2852928"/>
            <a:ext cx="1920240" cy="60350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800" b="1" i="0">
                <a:solidFill>
                  <a:srgbClr val="333333"/>
                </a:solidFill>
                <a:latin typeface="Calibri"/>
              </a:rPr>
              <a:t>Learning from interaction</a:t>
            </a:r>
            <a:endParaRPr sz="1800" b="1" i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567928" y="3474720"/>
            <a:ext cx="1920240" cy="45720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350" b="0" i="0">
                <a:solidFill>
                  <a:srgbClr val="777777"/>
                </a:solidFill>
                <a:latin typeface="Calibri"/>
              </a:rPr>
              <a:t>gets better with use</a:t>
            </a:r>
            <a:endParaRPr sz="1350" b="0" i="0">
              <a:solidFill>
                <a:srgbClr val="777777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298448" y="4261104"/>
            <a:ext cx="9601200" cy="566928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txBody>
          <a:bodyPr wrap="square" tIns="18288" bIns="18288" rtlCol="0" anchor="ctr"/>
          <a:lstStyle/>
          <a:p>
            <a:pPr algn="ctr"/>
            <a:r>
              <a:rPr sz="1350" b="1" i="0">
                <a:solidFill>
                  <a:srgbClr val="1B4F9C"/>
                </a:solidFill>
                <a:latin typeface="Calibri"/>
              </a:rPr>
              <a:t>Built on our work:  </a:t>
            </a:r>
            <a:r>
              <a:rPr sz="1350" b="0" i="0">
                <a:solidFill>
                  <a:srgbClr val="333333"/>
                </a:solidFill>
                <a:latin typeface="Calibri"/>
              </a:rPr>
              <a:t>SpeechGPT  ·  AnyGPT  ·  SpeechGPT2.0-preview  ·  VStyle  ·  OmniVAE  ·  SpeechMotionLM</a:t>
            </a:r>
            <a:endParaRPr sz="1350" b="0" i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30" name="Right Arrow 29"/>
          <p:cNvSpPr/>
          <p:nvPr/>
        </p:nvSpPr>
        <p:spPr>
          <a:xfrm>
            <a:off x="1298448" y="5138928"/>
            <a:ext cx="9601200" cy="822960"/>
          </a:xfrm>
          <a:prstGeom prst="rightArrow">
            <a:avLst>
              <a:gd name="adj1" fmla="val 78000"/>
              <a:gd name="adj2" fmla="val 55000"/>
            </a:avLst>
          </a:prstGeom>
          <a:solidFill>
            <a:srgbClr val="E9EF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63040" y="5175504"/>
            <a:ext cx="2926080" cy="74980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500" b="1" i="0">
                <a:solidFill>
                  <a:srgbClr val="1B4F9C"/>
                </a:solidFill>
                <a:latin typeface="Calibri"/>
              </a:rPr>
              <a:t>Now</a:t>
            </a:r>
            <a:endParaRPr sz="1500" b="1" i="0">
              <a:solidFill>
                <a:srgbClr val="1B4F9C"/>
              </a:solidFill>
              <a:latin typeface="Calibri"/>
            </a:endParaRPr>
          </a:p>
          <a:p>
            <a:pPr algn="ctr"/>
            <a:r>
              <a:rPr sz="1400" b="0" i="0">
                <a:solidFill>
                  <a:srgbClr val="333333"/>
                </a:solidFill>
                <a:latin typeface="Calibri"/>
              </a:rPr>
              <a:t>talking avatars</a:t>
            </a:r>
            <a:endParaRPr sz="1400" b="0" i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480560" y="5175504"/>
            <a:ext cx="2926080" cy="74980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500" b="1" i="0">
                <a:solidFill>
                  <a:srgbClr val="1B4F9C"/>
                </a:solidFill>
                <a:latin typeface="Calibri"/>
              </a:rPr>
              <a:t>Next</a:t>
            </a:r>
            <a:endParaRPr sz="1500" b="1" i="0">
              <a:solidFill>
                <a:srgbClr val="1B4F9C"/>
              </a:solidFill>
              <a:latin typeface="Calibri"/>
            </a:endParaRPr>
          </a:p>
          <a:p>
            <a:pPr algn="ctr"/>
            <a:r>
              <a:rPr sz="1400" b="0" i="0">
                <a:solidFill>
                  <a:srgbClr val="333333"/>
                </a:solidFill>
                <a:latin typeface="Calibri"/>
              </a:rPr>
              <a:t>always-on agents, playable worlds</a:t>
            </a:r>
            <a:endParaRPr sz="1400" b="0" i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498079" y="5175504"/>
            <a:ext cx="2926080" cy="74980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500" b="1" i="0">
                <a:solidFill>
                  <a:srgbClr val="1B4F9C"/>
                </a:solidFill>
                <a:latin typeface="Calibri"/>
              </a:rPr>
              <a:t>Further</a:t>
            </a:r>
            <a:endParaRPr sz="1500" b="1" i="0">
              <a:solidFill>
                <a:srgbClr val="1B4F9C"/>
              </a:solidFill>
              <a:latin typeface="Calibri"/>
            </a:endParaRPr>
          </a:p>
          <a:p>
            <a:pPr algn="ctr"/>
            <a:r>
              <a:rPr sz="1400" b="0" i="0">
                <a:solidFill>
                  <a:srgbClr val="333333"/>
                </a:solidFill>
                <a:latin typeface="Calibri"/>
              </a:rPr>
              <a:t>one model for both</a:t>
            </a:r>
            <a:endParaRPr sz="1400" b="0" i="0">
              <a:solidFill>
                <a:srgbClr val="333333"/>
              </a:solidFill>
              <a:latin typeface="Calibri"/>
            </a:endParaRPr>
          </a:p>
        </p:txBody>
      </p:sp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标题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sz="4000" dirty="0"/>
              <a:t>Thanks</a:t>
            </a:r>
            <a:endParaRPr dirty="0"/>
          </a:p>
        </p:txBody>
      </p:sp>
    </p:spTree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theme/theme1.xml><?xml version="1.0" encoding="utf-8"?>
<a:theme xmlns:a="http://schemas.openxmlformats.org/drawingml/2006/main" name="my-tutorial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质朴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>
    <a:spDef>
      <a:spPr/>
      <a:bodyPr wrap="none">
        <a:spAutoFit/>
      </a:bodyPr>
      <a:lstStyle>
        <a:defPPr>
          <a:defRPr sz="2400" dirty="0"/>
        </a:defPPr>
      </a:lstStyle>
    </a:spDef>
    <a:lnDef>
      <a:spPr>
        <a:ln w="25400">
          <a:solidFill>
            <a:srgbClr val="FF0000"/>
          </a:solidFill>
          <a:headEnd type="none" w="lg" len="med"/>
          <a:tailEnd type="none" w="lg" len="med"/>
        </a:ln>
      </a:spPr>
      <a:bodyPr/>
      <a:lstStyle/>
      <a:style>
        <a:lnRef idx="1">
          <a:schemeClr val="accent2"/>
        </a:lnRef>
        <a:fillRef idx="0">
          <a:schemeClr val="accent2"/>
        </a:fillRef>
        <a:effectRef idx="0">
          <a:schemeClr val="accent2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26865</Words>
  <Application>WPS 演示</Application>
  <PresentationFormat>宽屏</PresentationFormat>
  <Paragraphs>1929</Paragraphs>
  <Slides>65</Slides>
  <Notes>30</Notes>
  <HiddenSlides>1</HiddenSlides>
  <MMClips>27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65</vt:i4>
      </vt:variant>
    </vt:vector>
  </HeadingPairs>
  <TitlesOfParts>
    <vt:vector size="89" baseType="lpstr">
      <vt:lpstr>Arial</vt:lpstr>
      <vt:lpstr>宋体</vt:lpstr>
      <vt:lpstr>Wingdings</vt:lpstr>
      <vt:lpstr>Calibri</vt:lpstr>
      <vt:lpstr>Cambria</vt:lpstr>
      <vt:lpstr>Helvetica Neue</vt:lpstr>
      <vt:lpstr>Wingdings 3</vt:lpstr>
      <vt:lpstr>Wingdings 3</vt:lpstr>
      <vt:lpstr>华文楷体</vt:lpstr>
      <vt:lpstr>微软雅黑</vt:lpstr>
      <vt:lpstr>方正雅意黑 GB18030L2</vt:lpstr>
      <vt:lpstr>宋体</vt:lpstr>
      <vt:lpstr>Arial Unicode MS</vt:lpstr>
      <vt:lpstr>等线</vt:lpstr>
      <vt:lpstr>汉仪中等线KW</vt:lpstr>
      <vt:lpstr>黑体</vt:lpstr>
      <vt:lpstr>汉仪中黑KW</vt:lpstr>
      <vt:lpstr>Calibri</vt:lpstr>
      <vt:lpstr>苹方-简</vt:lpstr>
      <vt:lpstr>汉仪书宋二KW</vt:lpstr>
      <vt:lpstr>微软雅黑</vt:lpstr>
      <vt:lpstr>黑体</vt:lpstr>
      <vt:lpstr>宋体-简</vt:lpstr>
      <vt:lpstr>my-tutorial</vt:lpstr>
      <vt:lpstr>Toward Unified Multimodal LLMs</vt:lpstr>
      <vt:lpstr>PhD Works: 端到端的多模态交互模型</vt:lpstr>
      <vt:lpstr>Collaborations: 参与的高影响力项目</vt:lpstr>
      <vt:lpstr>SpeechGPT: Empowering Large Language Models with Intrinsic Cross‑Modal Conversational Abilities</vt:lpstr>
      <vt:lpstr>SpeechGPT Overview</vt:lpstr>
      <vt:lpstr>SpeechGPT: Self-supervised Representation HuBERT</vt:lpstr>
      <vt:lpstr>SpeechGPT Training</vt:lpstr>
      <vt:lpstr>SpeechGPT demo</vt:lpstr>
      <vt:lpstr>AnyGPT: Unified Multimodal LLM with  Discrete Sequence Modeling</vt:lpstr>
      <vt:lpstr>AnyGPT: Design</vt:lpstr>
      <vt:lpstr>AnyGPT: Overview</vt:lpstr>
      <vt:lpstr>Multimodal Alignment Pretraining</vt:lpstr>
      <vt:lpstr>Base Model Evaluation</vt:lpstr>
      <vt:lpstr>Instruction Tuning</vt:lpstr>
      <vt:lpstr>AnyInstruct: Any-to-any Instruction Dataset</vt:lpstr>
      <vt:lpstr>Any-to-Any Demo</vt:lpstr>
      <vt:lpstr>Any-to-Any Demo</vt:lpstr>
      <vt:lpstr>Any-to-Any Demo</vt:lpstr>
      <vt:lpstr>Any-to-Any Demo</vt:lpstr>
      <vt:lpstr>Any-to-Any Demo</vt:lpstr>
      <vt:lpstr>SpeechGPT2: End-to-End Human-Like Spoken Chatbot</vt:lpstr>
      <vt:lpstr>SpeechGPT2.0-preview Codec</vt:lpstr>
      <vt:lpstr>SpeechGPT2.0-preview Architecture</vt:lpstr>
      <vt:lpstr>SpeechGPT2.0-preview Ability</vt:lpstr>
      <vt:lpstr>Improved TTS</vt:lpstr>
      <vt:lpstr>VStyle: A Benchmark For Voice Style Adaptation With Spoken Instructions</vt:lpstr>
      <vt:lpstr>Motivation</vt:lpstr>
      <vt:lpstr>Overview</vt:lpstr>
      <vt:lpstr>Evaluation Pipeline</vt:lpstr>
      <vt:lpstr>Evaluation Results</vt:lpstr>
      <vt:lpstr>Evaluation Results</vt:lpstr>
      <vt:lpstr>Evaluation Consistency Analysis</vt:lpstr>
      <vt:lpstr>OmniVAE: An Audio-Video VAE with Cross-Modal Alignment for Joint Generation</vt:lpstr>
      <vt:lpstr>OmniVAE: Motivation</vt:lpstr>
      <vt:lpstr>OmniVAE: Motivation</vt:lpstr>
      <vt:lpstr>OmniVAE: Overview</vt:lpstr>
      <vt:lpstr>OmniVAE: Negative Sample Selection</vt:lpstr>
      <vt:lpstr>OmniVAE: Data Pipeline</vt:lpstr>
      <vt:lpstr>OmniVAE: Data Pipeline</vt:lpstr>
      <vt:lpstr>OmniVAE: Data Pipeline</vt:lpstr>
      <vt:lpstr>OmniVAE: Reconstruction</vt:lpstr>
      <vt:lpstr>OmniVAE: Audio-Video Desync</vt:lpstr>
      <vt:lpstr>OmniVAE: Text-to-Audio-Video</vt:lpstr>
      <vt:lpstr>SpeechMotionLM: A Full-Duplex Speech-Motion LLM</vt:lpstr>
      <vt:lpstr>End-to-end: one model listens, talks and moves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SpeechMotionLM: Architecture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Real-time Latency Budget: camera off</vt:lpstr>
      <vt:lpstr>Real-time Latency Budget: camera on</vt:lpstr>
      <vt:lpstr>Long-Term Vision</vt:lpstr>
      <vt:lpstr>Long-Term Goal</vt:lpstr>
      <vt:lpstr>Thanks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ChatGPT能力演化路线</dc:title>
  <dc:creator>Qiu Xipeng</dc:creator>
  <cp:lastModifiedBy>果壳</cp:lastModifiedBy>
  <cp:revision>310</cp:revision>
  <dcterms:created xsi:type="dcterms:W3CDTF">2026-10-26T22:29:20Z</dcterms:created>
  <dcterms:modified xsi:type="dcterms:W3CDTF">2026-10-26T22:29:20Z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8106BFD57F15F14A3DB7DF6A1C9B9154_43</vt:lpwstr>
  </property>
  <property fmtid="{D5CDD505-2E9C-101B-9397-08002B2CF9AE}" pid="3" name="KSOProductBuildVer">
    <vt:lpwstr>2052-12.1.26046.26046</vt:lpwstr>
  </property>
</Properties>
</file>